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00625" y="-1857375"/>
            <a:ext cx="5857875" cy="5857875"/>
          </a:xfrm>
          <a:prstGeom prst="rect">
            <a:avLst/>
          </a:prstGeom>
        </p:spPr>
      </p:pic>
      <p:sp>
        <p:nvSpPr>
          <p:cNvPr id="3" name="Text 0"/>
          <p:cNvSpPr/>
          <p:nvPr/>
        </p:nvSpPr>
        <p:spPr>
          <a:xfrm>
            <a:off x="5000625" y="-1857375"/>
            <a:ext cx="5857875" cy="5857875"/>
          </a:xfrm>
          <a:prstGeom prst="ellipse">
            <a:avLst/>
          </a:prstGeom>
          <a:solidFill>
            <a:srgbClr val="8363F9">
              <a:alpha val="10000"/>
            </a:srgbClr>
          </a:solidFill>
          <a:ln/>
        </p:spPr>
        <p:txBody>
          <a:bodyPr wrap="square" rtlCol="0" anchor="ctr"/>
          <a:lstStyle/>
          <a:p>
            <a:pPr indent="0" marL="0">
              <a:buNone/>
            </a:pPr>
            <a:endParaRPr lang="en-US" dirty="0"/>
          </a:p>
        </p:txBody>
      </p:sp>
      <p:sp>
        <p:nvSpPr>
          <p:cNvPr id="4" name="Text 1"/>
          <p:cNvSpPr/>
          <p:nvPr/>
        </p:nvSpPr>
        <p:spPr>
          <a:xfrm>
            <a:off x="5715000" y="2571750"/>
            <a:ext cx="3429000" cy="2571750"/>
          </a:xfrm>
          <a:prstGeom prst="rect">
            <a:avLst/>
          </a:prstGeom>
          <a:noFill/>
          <a:ln/>
        </p:spPr>
        <p:txBody>
          <a:bodyPr wrap="none" lIns="0" tIns="0" rIns="0" bIns="0" rtlCol="0" anchor="ctr"/>
          <a:lstStyle/>
          <a:p>
            <a:pPr algn="ctr" indent="0" marL="0">
              <a:buNone/>
            </a:pPr>
            <a:r>
              <a:rPr lang="en-US" sz="4800" dirty="0">
                <a:solidFill>
                  <a:srgbClr val="6EE7B7"/>
                </a:solidFill>
                <a:latin typeface="Segoe UI Symbol" pitchFamily="34" charset="0"/>
                <a:ea typeface="Segoe UI Symbol" pitchFamily="34" charset="-122"/>
                <a:cs typeface="Segoe UI Symbol" pitchFamily="34" charset="-120"/>
              </a:rPr>
              <a:t>✿</a:t>
            </a:r>
            <a:endParaRPr lang="en-US" sz="4800" dirty="0"/>
          </a:p>
        </p:txBody>
      </p:sp>
      <p:sp>
        <p:nvSpPr>
          <p:cNvPr id="5" name="Shape 2"/>
          <p:cNvSpPr/>
          <p:nvPr/>
        </p:nvSpPr>
        <p:spPr>
          <a:xfrm>
            <a:off x="400050" y="407194"/>
            <a:ext cx="128588" cy="0"/>
          </a:xfrm>
          <a:prstGeom prst="line">
            <a:avLst/>
          </a:prstGeom>
          <a:noFill/>
          <a:ln w="14288">
            <a:solidFill>
              <a:srgbClr val="8363F9"/>
            </a:solidFill>
            <a:prstDash val="solid"/>
          </a:ln>
        </p:spPr>
      </p:sp>
      <p:sp>
        <p:nvSpPr>
          <p:cNvPr id="6" name="Shape 3"/>
          <p:cNvSpPr/>
          <p:nvPr/>
        </p:nvSpPr>
        <p:spPr>
          <a:xfrm>
            <a:off x="407194" y="400050"/>
            <a:ext cx="0" cy="128588"/>
          </a:xfrm>
          <a:prstGeom prst="line">
            <a:avLst/>
          </a:prstGeom>
          <a:noFill/>
          <a:ln w="14288">
            <a:solidFill>
              <a:srgbClr val="8363F9"/>
            </a:solidFill>
            <a:prstDash val="solid"/>
          </a:ln>
        </p:spPr>
      </p:sp>
      <p:sp>
        <p:nvSpPr>
          <p:cNvPr id="7" name="Shape 4"/>
          <p:cNvSpPr/>
          <p:nvPr/>
        </p:nvSpPr>
        <p:spPr>
          <a:xfrm>
            <a:off x="8736806" y="4614863"/>
            <a:ext cx="0" cy="128588"/>
          </a:xfrm>
          <a:prstGeom prst="line">
            <a:avLst/>
          </a:prstGeom>
          <a:noFill/>
          <a:ln w="14288">
            <a:solidFill>
              <a:srgbClr val="8363F9"/>
            </a:solidFill>
            <a:prstDash val="solid"/>
          </a:ln>
        </p:spPr>
      </p:sp>
      <p:sp>
        <p:nvSpPr>
          <p:cNvPr id="8" name="Shape 5"/>
          <p:cNvSpPr/>
          <p:nvPr/>
        </p:nvSpPr>
        <p:spPr>
          <a:xfrm>
            <a:off x="8615363" y="4736306"/>
            <a:ext cx="128588" cy="0"/>
          </a:xfrm>
          <a:prstGeom prst="line">
            <a:avLst/>
          </a:prstGeom>
          <a:noFill/>
          <a:ln w="14288">
            <a:solidFill>
              <a:srgbClr val="8363F9"/>
            </a:solidFill>
            <a:prstDash val="solid"/>
          </a:ln>
        </p:spPr>
      </p:sp>
      <p:sp>
        <p:nvSpPr>
          <p:cNvPr id="9" name="Text 6"/>
          <p:cNvSpPr/>
          <p:nvPr/>
        </p:nvSpPr>
        <p:spPr>
          <a:xfrm>
            <a:off x="514350" y="492919"/>
            <a:ext cx="57150" cy="57150"/>
          </a:xfrm>
          <a:prstGeom prst="ellipse">
            <a:avLst/>
          </a:prstGeom>
          <a:solidFill>
            <a:srgbClr val="6EE7B7"/>
          </a:solidFill>
          <a:ln/>
          <a:effectLst>
            <a:outerShdw sx="100000" sy="100000" kx="0" ky="0" algn="bl" rotWithShape="0" blurRad="152400" dist="50800" dir="16200000">
              <a:srgbClr val="6EE7B7">
                <a:alpha val="70000"/>
              </a:srgbClr>
            </a:outerShdw>
          </a:effectLst>
        </p:spPr>
        <p:txBody>
          <a:bodyPr wrap="square" rtlCol="0" anchor="ctr"/>
          <a:lstStyle/>
          <a:p>
            <a:pPr indent="0" marL="0">
              <a:buNone/>
            </a:pPr>
            <a:endParaRPr lang="en-US" dirty="0"/>
          </a:p>
        </p:txBody>
      </p:sp>
      <p:sp>
        <p:nvSpPr>
          <p:cNvPr id="10" name="Text 7"/>
          <p:cNvSpPr/>
          <p:nvPr/>
        </p:nvSpPr>
        <p:spPr>
          <a:xfrm>
            <a:off x="657225" y="457200"/>
            <a:ext cx="7972425" cy="164592"/>
          </a:xfrm>
          <a:prstGeom prst="rect">
            <a:avLst/>
          </a:prstGeom>
          <a:noFill/>
          <a:ln/>
        </p:spPr>
        <p:txBody>
          <a:bodyPr wrap="none" lIns="0" tIns="0" rIns="0" bIns="0" rtlCol="0" anchor="t"/>
          <a:lstStyle/>
          <a:p>
            <a:pPr algn="l" indent="0" marL="0">
              <a:lnSpc>
                <a:spcPts val="1013"/>
              </a:lnSpc>
              <a:buNone/>
            </a:pPr>
            <a:r>
              <a:rPr lang="en-US" sz="800" b="1" spc="135" kern="0" dirty="0">
                <a:solidFill>
                  <a:srgbClr val="8363F9"/>
                </a:solidFill>
                <a:latin typeface="Liberation Sans Narrow" pitchFamily="34" charset="0"/>
                <a:ea typeface="Liberation Sans Narrow" pitchFamily="34" charset="-122"/>
                <a:cs typeface="Liberation Sans Narrow" pitchFamily="34" charset="-120"/>
              </a:rPr>
              <a:t>AUDIT UX · JULIO 2026</a:t>
            </a:r>
            <a:endParaRPr lang="en-US" sz="800" dirty="0"/>
          </a:p>
        </p:txBody>
      </p:sp>
      <p:sp>
        <p:nvSpPr>
          <p:cNvPr id="11" name="Text 8"/>
          <p:cNvSpPr/>
          <p:nvPr/>
        </p:nvSpPr>
        <p:spPr>
          <a:xfrm>
            <a:off x="514350" y="1653108"/>
            <a:ext cx="6443663" cy="950422"/>
          </a:xfrm>
          <a:prstGeom prst="rect">
            <a:avLst/>
          </a:prstGeom>
          <a:noFill/>
          <a:ln/>
        </p:spPr>
        <p:txBody>
          <a:bodyPr wrap="none" lIns="0" tIns="0" rIns="0" bIns="0" rtlCol="0" anchor="t"/>
          <a:lstStyle/>
          <a:p>
            <a:pPr algn="l" indent="0" marL="0">
              <a:lnSpc>
                <a:spcPts val="3465"/>
              </a:lnSpc>
              <a:buNone/>
            </a:pPr>
            <a:r>
              <a:rPr lang="en-US" sz="3150" b="1" spc="-63" kern="0" dirty="0">
                <a:solidFill>
                  <a:srgbClr val="F0EAFF"/>
                </a:solidFill>
                <a:latin typeface="Carlito" pitchFamily="34" charset="0"/>
                <a:ea typeface="Carlito" pitchFamily="34" charset="-122"/>
                <a:cs typeface="Carlito" pitchFamily="34" charset="-120"/>
              </a:rPr>
              <a:t>Koru — UX Audit</a:t>
            </a:r>
            <a:endParaRPr lang="en-US" sz="3150" dirty="0"/>
          </a:p>
          <a:p>
            <a:pPr algn="l" indent="0" marL="0">
              <a:lnSpc>
                <a:spcPts val="3465"/>
              </a:lnSpc>
              <a:buNone/>
            </a:pPr>
            <a:r>
              <a:rPr lang="en-US" sz="3150" b="1" spc="-63" kern="0" dirty="0">
                <a:solidFill>
                  <a:srgbClr val="F0EAFF"/>
                </a:solidFill>
                <a:latin typeface="Carlito" pitchFamily="34" charset="0"/>
                <a:ea typeface="Carlito" pitchFamily="34" charset="-122"/>
                <a:cs typeface="Carlito" pitchFamily="34" charset="-120"/>
              </a:rPr>
              <a:t>&amp; Mejoras</a:t>
            </a:r>
            <a:endParaRPr lang="en-US" sz="3150" dirty="0"/>
          </a:p>
        </p:txBody>
      </p:sp>
      <p:sp>
        <p:nvSpPr>
          <p:cNvPr id="12" name="Text 9"/>
          <p:cNvSpPr/>
          <p:nvPr/>
        </p:nvSpPr>
        <p:spPr>
          <a:xfrm>
            <a:off x="514350" y="2733154"/>
            <a:ext cx="457200" cy="28575"/>
          </a:xfrm>
          <a:prstGeom prst="roundRect">
            <a:avLst>
              <a:gd name="adj" fmla="val 66667"/>
            </a:avLst>
          </a:prstGeom>
          <a:solidFill>
            <a:srgbClr val="6EE7B7"/>
          </a:solidFill>
          <a:ln/>
        </p:spPr>
        <p:txBody>
          <a:bodyPr wrap="square" rtlCol="0" anchor="ctr"/>
          <a:lstStyle/>
          <a:p>
            <a:pPr indent="0" marL="0">
              <a:buNone/>
            </a:pPr>
            <a:endParaRPr lang="en-US" dirty="0"/>
          </a:p>
        </p:txBody>
      </p:sp>
      <p:sp>
        <p:nvSpPr>
          <p:cNvPr id="13" name="Text 10"/>
          <p:cNvSpPr/>
          <p:nvPr/>
        </p:nvSpPr>
        <p:spPr>
          <a:xfrm>
            <a:off x="514350" y="2961754"/>
            <a:ext cx="4286250" cy="462915"/>
          </a:xfrm>
          <a:prstGeom prst="rect">
            <a:avLst/>
          </a:prstGeom>
          <a:noFill/>
          <a:ln/>
        </p:spPr>
        <p:txBody>
          <a:bodyPr wrap="square" lIns="0" tIns="0" rIns="0" bIns="0" rtlCol="0" anchor="t"/>
          <a:lstStyle/>
          <a:p>
            <a:pPr algn="l" indent="0" marL="0">
              <a:lnSpc>
                <a:spcPts val="1688"/>
              </a:lnSpc>
              <a:buNone/>
            </a:pPr>
            <a:r>
              <a:rPr lang="en-US" sz="1125" dirty="0">
                <a:solidFill>
                  <a:srgbClr val="B8A8E0"/>
                </a:solidFill>
                <a:latin typeface="Carlito" pitchFamily="34" charset="0"/>
                <a:ea typeface="Carlito" pitchFamily="34" charset="-122"/>
                <a:cs typeface="Carlito" pitchFamily="34" charset="-120"/>
              </a:rPr>
              <a:t>Análisis exhaustivo de onboarding, navegación y flujos principales. Con capturas del estado actual y propuestas concretas.</a:t>
            </a:r>
            <a:endParaRPr lang="en-US" sz="1125" dirty="0"/>
          </a:p>
        </p:txBody>
      </p:sp>
      <p:sp>
        <p:nvSpPr>
          <p:cNvPr id="14" name="Text 11"/>
          <p:cNvSpPr/>
          <p:nvPr/>
        </p:nvSpPr>
        <p:spPr>
          <a:xfrm>
            <a:off x="514350" y="4546997"/>
            <a:ext cx="7872413" cy="164592"/>
          </a:xfrm>
          <a:prstGeom prst="rect">
            <a:avLst/>
          </a:prstGeom>
          <a:noFill/>
          <a:ln/>
        </p:spPr>
        <p:txBody>
          <a:bodyPr wrap="square" lIns="0" tIns="0" rIns="0" bIns="0" rtlCol="0" anchor="t"/>
          <a:lstStyle/>
          <a:p>
            <a:pPr algn="l" indent="0" marL="0">
              <a:lnSpc>
                <a:spcPts val="1097"/>
              </a:lnSpc>
              <a:buNone/>
            </a:pPr>
            <a:r>
              <a:rPr lang="en-US" sz="800" spc="29" kern="0" dirty="0">
                <a:solidFill>
                  <a:srgbClr val="7A6BA8"/>
                </a:solidFill>
                <a:latin typeface="Liberation Sans Narrow" pitchFamily="34" charset="0"/>
                <a:ea typeface="Liberation Sans Narrow" pitchFamily="34" charset="-122"/>
                <a:cs typeface="Liberation Sans Narrow" pitchFamily="34" charset="-120"/>
              </a:rPr>
              <a:t>Para: equipo producto · 14 slides</a:t>
            </a:r>
            <a:endParaRPr lang="en-US" sz="800" dirty="0"/>
          </a:p>
        </p:txBody>
      </p:sp>
      <p:sp>
        <p:nvSpPr>
          <p:cNvPr id="15" name="Text 12"/>
          <p:cNvSpPr/>
          <p:nvPr/>
        </p:nvSpPr>
        <p:spPr>
          <a:xfrm>
            <a:off x="8401050" y="4457700"/>
            <a:ext cx="228600" cy="228600"/>
          </a:xfrm>
          <a:prstGeom prst="rect">
            <a:avLst/>
          </a:prstGeom>
          <a:noFill/>
          <a:ln/>
        </p:spPr>
        <p:txBody>
          <a:bodyPr wrap="none" lIns="0" tIns="0" rIns="0" bIns="0" rtlCol="0" anchor="ctr"/>
          <a:lstStyle/>
          <a:p>
            <a:pPr algn="ctr" indent="0" marL="0">
              <a:buNone/>
            </a:pPr>
            <a:r>
              <a:rPr lang="en-US" sz="2250" dirty="0">
                <a:solidFill>
                  <a:srgbClr val="6EE7B7"/>
                </a:solidFill>
                <a:latin typeface="Segoe UI Symbol" pitchFamily="34" charset="0"/>
                <a:ea typeface="Segoe UI Symbol" pitchFamily="34" charset="-122"/>
                <a:cs typeface="Segoe UI Symbol" pitchFamily="34" charset="-120"/>
              </a:rPr>
              <a:t>✿</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6362395" y="3429000"/>
            <a:ext cx="2781605" cy="1714500"/>
          </a:xfrm>
          <a:prstGeom prst="rect">
            <a:avLst/>
          </a:prstGeom>
          <a:noFill/>
          <a:ln/>
        </p:spPr>
        <p:txBody>
          <a:bodyPr wrap="none" lIns="0" tIns="0" rIns="0" bIns="0" rtlCol="0" anchor="t"/>
          <a:lstStyle/>
          <a:p>
            <a:pPr algn="l" indent="0" marL="0">
              <a:lnSpc>
                <a:spcPts val="20250"/>
              </a:lnSpc>
              <a:buNone/>
            </a:pPr>
            <a:r>
              <a:rPr lang="en-US" sz="20250" b="1" dirty="0">
                <a:solidFill>
                  <a:srgbClr val="8363F9">
                    <a:alpha val="4000"/>
                  </a:srgbClr>
                </a:solidFill>
                <a:latin typeface="Liberation Sans Narrow" pitchFamily="34" charset="0"/>
                <a:ea typeface="Liberation Sans Narrow" pitchFamily="34" charset="-122"/>
                <a:cs typeface="Liberation Sans Narrow" pitchFamily="34" charset="-120"/>
              </a:rPr>
              <a:t>5</a:t>
            </a:r>
            <a:endParaRPr lang="en-US" sz="20250" dirty="0"/>
          </a:p>
        </p:txBody>
      </p:sp>
      <p:sp>
        <p:nvSpPr>
          <p:cNvPr id="3" name="Text 1"/>
          <p:cNvSpPr/>
          <p:nvPr/>
        </p:nvSpPr>
        <p:spPr>
          <a:xfrm>
            <a:off x="514350" y="371475"/>
            <a:ext cx="2901808" cy="271480"/>
          </a:xfrm>
          <a:prstGeom prst="rect">
            <a:avLst/>
          </a:prstGeom>
          <a:noFill/>
          <a:ln/>
        </p:spPr>
        <p:txBody>
          <a:bodyPr wrap="none" lIns="0" tIns="0" rIns="0" bIns="0" rtlCol="0" anchor="t"/>
          <a:lstStyle/>
          <a:p>
            <a:pPr algn="l" indent="0" marL="0">
              <a:lnSpc>
                <a:spcPts val="1980"/>
              </a:lnSpc>
              <a:buNone/>
            </a:pPr>
            <a:r>
              <a:rPr lang="en-US" sz="1800" b="1" spc="-18" kern="0" dirty="0">
                <a:solidFill>
                  <a:srgbClr val="F0EAFF"/>
                </a:solidFill>
                <a:latin typeface="Carlito" pitchFamily="34" charset="0"/>
                <a:ea typeface="Carlito" pitchFamily="34" charset="-122"/>
                <a:cs typeface="Carlito" pitchFamily="34" charset="-120"/>
              </a:rPr>
              <a:t>Resumen ejecutivo</a:t>
            </a:r>
            <a:endParaRPr lang="en-US" sz="1800" dirty="0"/>
          </a:p>
        </p:txBody>
      </p:sp>
      <p:sp>
        <p:nvSpPr>
          <p:cNvPr id="4" name="Text 2"/>
          <p:cNvSpPr/>
          <p:nvPr/>
        </p:nvSpPr>
        <p:spPr>
          <a:xfrm>
            <a:off x="514350" y="679996"/>
            <a:ext cx="2763627" cy="172749"/>
          </a:xfrm>
          <a:prstGeom prst="rect">
            <a:avLst/>
          </a:prstGeom>
          <a:noFill/>
          <a:ln/>
        </p:spPr>
        <p:txBody>
          <a:bodyPr wrap="square" lIns="0" tIns="0" rIns="0" bIns="0" rtlCol="0" anchor="t"/>
          <a:lstStyle/>
          <a:p>
            <a:pPr algn="l" indent="0" marL="0">
              <a:lnSpc>
                <a:spcPts val="1260"/>
              </a:lnSpc>
              <a:buNone/>
            </a:pPr>
            <a:r>
              <a:rPr lang="en-US" sz="900" dirty="0">
                <a:solidFill>
                  <a:srgbClr val="B8A8E0"/>
                </a:solidFill>
                <a:latin typeface="Carlito" pitchFamily="34" charset="0"/>
                <a:ea typeface="Carlito" pitchFamily="34" charset="-122"/>
                <a:cs typeface="Carlito" pitchFamily="34" charset="-120"/>
              </a:rPr>
              <a:t>5 hallazgos críticos que rompen el flujo de primera vez</a:t>
            </a:r>
            <a:endParaRPr lang="en-US" sz="900" dirty="0"/>
          </a:p>
        </p:txBody>
      </p:sp>
      <p:sp>
        <p:nvSpPr>
          <p:cNvPr id="5" name="Text 3"/>
          <p:cNvSpPr/>
          <p:nvPr/>
        </p:nvSpPr>
        <p:spPr>
          <a:xfrm>
            <a:off x="7624390" y="747080"/>
            <a:ext cx="57150" cy="57150"/>
          </a:xfrm>
          <a:prstGeom prst="ellipse">
            <a:avLst/>
          </a:prstGeom>
          <a:solidFill>
            <a:srgbClr val="FDA4AF"/>
          </a:solidFill>
          <a:ln/>
        </p:spPr>
        <p:txBody>
          <a:bodyPr wrap="square" rtlCol="0" anchor="ctr"/>
          <a:lstStyle/>
          <a:p>
            <a:pPr indent="0" marL="0">
              <a:buNone/>
            </a:pPr>
            <a:endParaRPr lang="en-US" dirty="0"/>
          </a:p>
        </p:txBody>
      </p:sp>
      <p:sp>
        <p:nvSpPr>
          <p:cNvPr id="6" name="Text 4"/>
          <p:cNvSpPr/>
          <p:nvPr/>
        </p:nvSpPr>
        <p:spPr>
          <a:xfrm>
            <a:off x="7658023" y="711361"/>
            <a:ext cx="534770"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Liberation Sans Narrow" pitchFamily="34" charset="0"/>
                <a:ea typeface="Liberation Sans Narrow" pitchFamily="34" charset="-122"/>
                <a:cs typeface="Liberation Sans Narrow" pitchFamily="34" charset="-120"/>
              </a:rPr>
              <a:t>2 críticos</a:t>
            </a:r>
            <a:endParaRPr lang="en-US" sz="675" dirty="0"/>
          </a:p>
        </p:txBody>
      </p:sp>
      <p:sp>
        <p:nvSpPr>
          <p:cNvPr id="7" name="Text 5"/>
          <p:cNvSpPr/>
          <p:nvPr/>
        </p:nvSpPr>
        <p:spPr>
          <a:xfrm>
            <a:off x="8181715" y="747080"/>
            <a:ext cx="57150" cy="57150"/>
          </a:xfrm>
          <a:prstGeom prst="ellipse">
            <a:avLst/>
          </a:prstGeom>
          <a:solidFill>
            <a:srgbClr val="FBBF24"/>
          </a:solidFill>
          <a:ln/>
        </p:spPr>
        <p:txBody>
          <a:bodyPr wrap="square" rtlCol="0" anchor="ctr"/>
          <a:lstStyle/>
          <a:p>
            <a:pPr indent="0" marL="0">
              <a:buNone/>
            </a:pPr>
            <a:endParaRPr lang="en-US" dirty="0"/>
          </a:p>
        </p:txBody>
      </p:sp>
      <p:sp>
        <p:nvSpPr>
          <p:cNvPr id="8" name="Text 6"/>
          <p:cNvSpPr/>
          <p:nvPr/>
        </p:nvSpPr>
        <p:spPr>
          <a:xfrm>
            <a:off x="8281727" y="711361"/>
            <a:ext cx="445341" cy="164592"/>
          </a:xfrm>
          <a:prstGeom prst="rect">
            <a:avLst/>
          </a:prstGeom>
          <a:noFill/>
          <a:ln/>
        </p:spPr>
        <p:txBody>
          <a:bodyPr wrap="none" lIns="0" tIns="0" rIns="0" bIns="0" rtlCol="0" anchor="t"/>
          <a:lstStyle/>
          <a:p>
            <a:pPr algn="l" indent="0" marL="0">
              <a:lnSpc>
                <a:spcPts val="1013"/>
              </a:lnSpc>
              <a:buNone/>
            </a:pPr>
            <a:r>
              <a:rPr lang="en-US" sz="675" dirty="0">
                <a:solidFill>
                  <a:srgbClr val="B8A8E0"/>
                </a:solidFill>
                <a:latin typeface="Liberation Sans Narrow" pitchFamily="34" charset="0"/>
                <a:ea typeface="Liberation Sans Narrow" pitchFamily="34" charset="-122"/>
                <a:cs typeface="Liberation Sans Narrow" pitchFamily="34" charset="-120"/>
              </a:rPr>
              <a:t>3 medios</a:t>
            </a:r>
            <a:endParaRPr lang="en-US" sz="675" dirty="0"/>
          </a:p>
        </p:txBody>
      </p:sp>
      <p:sp>
        <p:nvSpPr>
          <p:cNvPr id="9" name="Text 7"/>
          <p:cNvSpPr/>
          <p:nvPr/>
        </p:nvSpPr>
        <p:spPr>
          <a:xfrm>
            <a:off x="517922" y="1000683"/>
            <a:ext cx="8108156" cy="568933"/>
          </a:xfrm>
          <a:prstGeom prst="roundRect">
            <a:avLst>
              <a:gd name="adj" fmla="val 26787"/>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10" name="Text 8"/>
          <p:cNvSpPr/>
          <p:nvPr/>
        </p:nvSpPr>
        <p:spPr>
          <a:xfrm>
            <a:off x="678656" y="1156506"/>
            <a:ext cx="257175" cy="257175"/>
          </a:xfrm>
          <a:prstGeom prst="ellipse">
            <a:avLst/>
          </a:prstGeom>
          <a:solidFill>
            <a:srgbClr val="8363F9"/>
          </a:solidFill>
          <a:ln/>
          <a:effectLst>
            <a:outerShdw sx="100000" sy="100000" kx="0" ky="0" algn="bl" rotWithShape="0" blurRad="133350" dist="38100" dir="5400000">
              <a:srgbClr val="8363F9">
                <a:alpha val="35000"/>
              </a:srgbClr>
            </a:outerShdw>
          </a:effectLst>
        </p:spPr>
        <p:txBody>
          <a:bodyPr wrap="square" rtlCol="0" anchor="ctr"/>
          <a:lstStyle/>
          <a:p>
            <a:pPr indent="0" marL="0">
              <a:buNone/>
            </a:pPr>
            <a:endParaRPr lang="en-US" dirty="0"/>
          </a:p>
        </p:txBody>
      </p:sp>
      <p:sp>
        <p:nvSpPr>
          <p:cNvPr id="11" name="Text 9"/>
          <p:cNvSpPr/>
          <p:nvPr/>
        </p:nvSpPr>
        <p:spPr>
          <a:xfrm>
            <a:off x="678656" y="1156506"/>
            <a:ext cx="321469"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1</a:t>
            </a:r>
            <a:endParaRPr lang="en-US" sz="900" dirty="0"/>
          </a:p>
        </p:txBody>
      </p:sp>
      <p:sp>
        <p:nvSpPr>
          <p:cNvPr id="12" name="Text 10"/>
          <p:cNvSpPr/>
          <p:nvPr/>
        </p:nvSpPr>
        <p:spPr>
          <a:xfrm>
            <a:off x="1064419" y="1132842"/>
            <a:ext cx="7321169" cy="142567"/>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0EAFF"/>
                </a:solidFill>
                <a:latin typeface="Carlito" pitchFamily="34" charset="0"/>
                <a:ea typeface="Carlito" pitchFamily="34" charset="-122"/>
                <a:cs typeface="Carlito" pitchFamily="34" charset="-120"/>
              </a:rPr>
              <a:t>No hay onboarding de bienvenida</a:t>
            </a:r>
            <a:endParaRPr lang="en-US" sz="900" dirty="0"/>
          </a:p>
        </p:txBody>
      </p:sp>
      <p:sp>
        <p:nvSpPr>
          <p:cNvPr id="13" name="Text 11"/>
          <p:cNvSpPr/>
          <p:nvPr/>
        </p:nvSpPr>
        <p:spPr>
          <a:xfrm>
            <a:off x="1064419" y="1302841"/>
            <a:ext cx="6778861" cy="134615"/>
          </a:xfrm>
          <a:prstGeom prst="rect">
            <a:avLst/>
          </a:prstGeom>
          <a:noFill/>
          <a:ln/>
        </p:spPr>
        <p:txBody>
          <a:bodyPr wrap="square" lIns="0" tIns="0" rIns="0" bIns="0" rtlCol="0" anchor="t"/>
          <a:lstStyle/>
          <a:p>
            <a:pPr algn="l" indent="0" marL="0">
              <a:lnSpc>
                <a:spcPts val="1060"/>
              </a:lnSpc>
              <a:buNone/>
            </a:pPr>
            <a:r>
              <a:rPr lang="en-US" sz="800" dirty="0">
                <a:solidFill>
                  <a:srgbClr val="B8A8E0"/>
                </a:solidFill>
                <a:latin typeface="Carlito" pitchFamily="34" charset="0"/>
                <a:ea typeface="Carlito" pitchFamily="34" charset="-122"/>
                <a:cs typeface="Carlito" pitchFamily="34" charset="-120"/>
              </a:rPr>
              <a:t>Entra directo al chat sin contexto. El usuario no sabe qué puede hacer Koru.</a:t>
            </a:r>
            <a:endParaRPr lang="en-US" sz="800" dirty="0"/>
          </a:p>
        </p:txBody>
      </p:sp>
      <p:sp>
        <p:nvSpPr>
          <p:cNvPr id="14" name="Text 12"/>
          <p:cNvSpPr/>
          <p:nvPr/>
        </p:nvSpPr>
        <p:spPr>
          <a:xfrm>
            <a:off x="7952128" y="1187081"/>
            <a:ext cx="532955" cy="196025"/>
          </a:xfrm>
          <a:prstGeom prst="roundRect">
            <a:avLst>
              <a:gd name="adj" fmla="val 4854215"/>
            </a:avLst>
          </a:prstGeom>
          <a:solidFill>
            <a:srgbClr val="FDA4AF">
              <a:alpha val="15000"/>
            </a:srgbClr>
          </a:solidFill>
          <a:ln/>
        </p:spPr>
        <p:txBody>
          <a:bodyPr wrap="square" rtlCol="0" anchor="ctr"/>
          <a:lstStyle/>
          <a:p>
            <a:pPr indent="0" marL="0">
              <a:buNone/>
            </a:pPr>
            <a:endParaRPr lang="en-US" dirty="0"/>
          </a:p>
        </p:txBody>
      </p:sp>
      <p:sp>
        <p:nvSpPr>
          <p:cNvPr id="15" name="Text 13"/>
          <p:cNvSpPr/>
          <p:nvPr/>
        </p:nvSpPr>
        <p:spPr>
          <a:xfrm>
            <a:off x="7950859" y="1197583"/>
            <a:ext cx="535493"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DA4AF"/>
                </a:solidFill>
                <a:latin typeface="Carlito" pitchFamily="34" charset="0"/>
                <a:ea typeface="Carlito" pitchFamily="34" charset="-122"/>
                <a:cs typeface="Carlito" pitchFamily="34" charset="-120"/>
              </a:rPr>
              <a:t>CRÍTICO</a:t>
            </a:r>
            <a:endParaRPr lang="en-US" sz="800" dirty="0"/>
          </a:p>
        </p:txBody>
      </p:sp>
      <p:sp>
        <p:nvSpPr>
          <p:cNvPr id="16" name="Text 14"/>
          <p:cNvSpPr/>
          <p:nvPr/>
        </p:nvSpPr>
        <p:spPr>
          <a:xfrm>
            <a:off x="517922" y="1648197"/>
            <a:ext cx="8108156" cy="568933"/>
          </a:xfrm>
          <a:prstGeom prst="roundRect">
            <a:avLst>
              <a:gd name="adj" fmla="val 26787"/>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17" name="Text 15"/>
          <p:cNvSpPr/>
          <p:nvPr/>
        </p:nvSpPr>
        <p:spPr>
          <a:xfrm>
            <a:off x="678656" y="1804020"/>
            <a:ext cx="257175" cy="257175"/>
          </a:xfrm>
          <a:prstGeom prst="ellipse">
            <a:avLst/>
          </a:prstGeom>
          <a:solidFill>
            <a:srgbClr val="8363F9"/>
          </a:solidFill>
          <a:ln/>
          <a:effectLst>
            <a:outerShdw sx="100000" sy="100000" kx="0" ky="0" algn="bl" rotWithShape="0" blurRad="133350" dist="38100" dir="5400000">
              <a:srgbClr val="8363F9">
                <a:alpha val="35000"/>
              </a:srgbClr>
            </a:outerShdw>
          </a:effectLst>
        </p:spPr>
        <p:txBody>
          <a:bodyPr wrap="square" rtlCol="0" anchor="ctr"/>
          <a:lstStyle/>
          <a:p>
            <a:pPr indent="0" marL="0">
              <a:buNone/>
            </a:pPr>
            <a:endParaRPr lang="en-US" dirty="0"/>
          </a:p>
        </p:txBody>
      </p:sp>
      <p:sp>
        <p:nvSpPr>
          <p:cNvPr id="18" name="Text 16"/>
          <p:cNvSpPr/>
          <p:nvPr/>
        </p:nvSpPr>
        <p:spPr>
          <a:xfrm>
            <a:off x="678656" y="1804020"/>
            <a:ext cx="321469"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2</a:t>
            </a:r>
            <a:endParaRPr lang="en-US" sz="900" dirty="0"/>
          </a:p>
        </p:txBody>
      </p:sp>
      <p:sp>
        <p:nvSpPr>
          <p:cNvPr id="19" name="Text 17"/>
          <p:cNvSpPr/>
          <p:nvPr/>
        </p:nvSpPr>
        <p:spPr>
          <a:xfrm>
            <a:off x="1064419" y="1780356"/>
            <a:ext cx="7321169" cy="142567"/>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0EAFF"/>
                </a:solidFill>
                <a:latin typeface="Carlito" pitchFamily="34" charset="0"/>
                <a:ea typeface="Carlito" pitchFamily="34" charset="-122"/>
                <a:cs typeface="Carlito" pitchFamily="34" charset="-120"/>
              </a:rPr>
              <a:t>No hay botón Home desde el chat</a:t>
            </a:r>
            <a:endParaRPr lang="en-US" sz="900" dirty="0"/>
          </a:p>
        </p:txBody>
      </p:sp>
      <p:sp>
        <p:nvSpPr>
          <p:cNvPr id="20" name="Text 18"/>
          <p:cNvSpPr/>
          <p:nvPr/>
        </p:nvSpPr>
        <p:spPr>
          <a:xfrm>
            <a:off x="1064419" y="1950355"/>
            <a:ext cx="6778861" cy="134615"/>
          </a:xfrm>
          <a:prstGeom prst="rect">
            <a:avLst/>
          </a:prstGeom>
          <a:noFill/>
          <a:ln/>
        </p:spPr>
        <p:txBody>
          <a:bodyPr wrap="square" lIns="0" tIns="0" rIns="0" bIns="0" rtlCol="0" anchor="t"/>
          <a:lstStyle/>
          <a:p>
            <a:pPr algn="l" indent="0" marL="0">
              <a:lnSpc>
                <a:spcPts val="1060"/>
              </a:lnSpc>
              <a:buNone/>
            </a:pPr>
            <a:r>
              <a:rPr lang="en-US" sz="800" dirty="0">
                <a:solidFill>
                  <a:srgbClr val="B8A8E0"/>
                </a:solidFill>
                <a:latin typeface="Carlito" pitchFamily="34" charset="0"/>
                <a:ea typeface="Carlito" pitchFamily="34" charset="-122"/>
                <a:cs typeface="Carlito" pitchFamily="34" charset="-120"/>
              </a:rPr>
              <a:t>Solo back button. El usuario se siente atrapado en la conversación.</a:t>
            </a:r>
            <a:endParaRPr lang="en-US" sz="800" dirty="0"/>
          </a:p>
        </p:txBody>
      </p:sp>
      <p:sp>
        <p:nvSpPr>
          <p:cNvPr id="21" name="Text 19"/>
          <p:cNvSpPr/>
          <p:nvPr/>
        </p:nvSpPr>
        <p:spPr>
          <a:xfrm>
            <a:off x="7952128" y="1834595"/>
            <a:ext cx="532955" cy="196025"/>
          </a:xfrm>
          <a:prstGeom prst="roundRect">
            <a:avLst>
              <a:gd name="adj" fmla="val 4854215"/>
            </a:avLst>
          </a:prstGeom>
          <a:solidFill>
            <a:srgbClr val="FDA4AF">
              <a:alpha val="15000"/>
            </a:srgbClr>
          </a:solidFill>
          <a:ln/>
        </p:spPr>
        <p:txBody>
          <a:bodyPr wrap="square" rtlCol="0" anchor="ctr"/>
          <a:lstStyle/>
          <a:p>
            <a:pPr indent="0" marL="0">
              <a:buNone/>
            </a:pPr>
            <a:endParaRPr lang="en-US" dirty="0"/>
          </a:p>
        </p:txBody>
      </p:sp>
      <p:sp>
        <p:nvSpPr>
          <p:cNvPr id="22" name="Text 20"/>
          <p:cNvSpPr/>
          <p:nvPr/>
        </p:nvSpPr>
        <p:spPr>
          <a:xfrm>
            <a:off x="7950859" y="1845097"/>
            <a:ext cx="535493"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DA4AF"/>
                </a:solidFill>
                <a:latin typeface="Carlito" pitchFamily="34" charset="0"/>
                <a:ea typeface="Carlito" pitchFamily="34" charset="-122"/>
                <a:cs typeface="Carlito" pitchFamily="34" charset="-120"/>
              </a:rPr>
              <a:t>CRÍTICO</a:t>
            </a:r>
            <a:endParaRPr lang="en-US" sz="800" dirty="0"/>
          </a:p>
        </p:txBody>
      </p:sp>
      <p:sp>
        <p:nvSpPr>
          <p:cNvPr id="23" name="Text 21"/>
          <p:cNvSpPr/>
          <p:nvPr/>
        </p:nvSpPr>
        <p:spPr>
          <a:xfrm>
            <a:off x="517922" y="2295711"/>
            <a:ext cx="8108156" cy="568933"/>
          </a:xfrm>
          <a:prstGeom prst="roundRect">
            <a:avLst>
              <a:gd name="adj" fmla="val 26787"/>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4" name="Text 22"/>
          <p:cNvSpPr/>
          <p:nvPr/>
        </p:nvSpPr>
        <p:spPr>
          <a:xfrm>
            <a:off x="678656" y="2451534"/>
            <a:ext cx="257175" cy="257175"/>
          </a:xfrm>
          <a:prstGeom prst="ellipse">
            <a:avLst/>
          </a:prstGeom>
          <a:solidFill>
            <a:srgbClr val="8363F9"/>
          </a:solidFill>
          <a:ln/>
          <a:effectLst>
            <a:outerShdw sx="100000" sy="100000" kx="0" ky="0" algn="bl" rotWithShape="0" blurRad="133350" dist="38100" dir="5400000">
              <a:srgbClr val="8363F9">
                <a:alpha val="35000"/>
              </a:srgbClr>
            </a:outerShdw>
          </a:effectLst>
        </p:spPr>
        <p:txBody>
          <a:bodyPr wrap="square" rtlCol="0" anchor="ctr"/>
          <a:lstStyle/>
          <a:p>
            <a:pPr indent="0" marL="0">
              <a:buNone/>
            </a:pPr>
            <a:endParaRPr lang="en-US" dirty="0"/>
          </a:p>
        </p:txBody>
      </p:sp>
      <p:sp>
        <p:nvSpPr>
          <p:cNvPr id="25" name="Text 23"/>
          <p:cNvSpPr/>
          <p:nvPr/>
        </p:nvSpPr>
        <p:spPr>
          <a:xfrm>
            <a:off x="678656" y="2451534"/>
            <a:ext cx="321469"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3</a:t>
            </a:r>
            <a:endParaRPr lang="en-US" sz="900" dirty="0"/>
          </a:p>
        </p:txBody>
      </p:sp>
      <p:sp>
        <p:nvSpPr>
          <p:cNvPr id="26" name="Text 24"/>
          <p:cNvSpPr/>
          <p:nvPr/>
        </p:nvSpPr>
        <p:spPr>
          <a:xfrm>
            <a:off x="1064419" y="2427870"/>
            <a:ext cx="7400371" cy="142567"/>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0EAFF"/>
                </a:solidFill>
                <a:latin typeface="Carlito" pitchFamily="34" charset="0"/>
                <a:ea typeface="Carlito" pitchFamily="34" charset="-122"/>
                <a:cs typeface="Carlito" pitchFamily="34" charset="-120"/>
              </a:rPr>
              <a:t>Home screen con dual CTA confuso</a:t>
            </a:r>
            <a:endParaRPr lang="en-US" sz="900" dirty="0"/>
          </a:p>
        </p:txBody>
      </p:sp>
      <p:sp>
        <p:nvSpPr>
          <p:cNvPr id="27" name="Text 25"/>
          <p:cNvSpPr/>
          <p:nvPr/>
        </p:nvSpPr>
        <p:spPr>
          <a:xfrm>
            <a:off x="1064419" y="2597869"/>
            <a:ext cx="6852196" cy="134615"/>
          </a:xfrm>
          <a:prstGeom prst="rect">
            <a:avLst/>
          </a:prstGeom>
          <a:noFill/>
          <a:ln/>
        </p:spPr>
        <p:txBody>
          <a:bodyPr wrap="square" lIns="0" tIns="0" rIns="0" bIns="0" rtlCol="0" anchor="t"/>
          <a:lstStyle/>
          <a:p>
            <a:pPr algn="l" indent="0" marL="0">
              <a:lnSpc>
                <a:spcPts val="1060"/>
              </a:lnSpc>
              <a:buNone/>
            </a:pPr>
            <a:r>
              <a:rPr lang="en-US" sz="800" dirty="0">
                <a:solidFill>
                  <a:srgbClr val="B8A8E0"/>
                </a:solidFill>
                <a:latin typeface="Carlito" pitchFamily="34" charset="0"/>
                <a:ea typeface="Carlito" pitchFamily="34" charset="-122"/>
                <a:cs typeface="Carlito" pitchFamily="34" charset="-120"/>
              </a:rPr>
              <a:t>"Hablar con Koru" + "o escribir" compiten. No queda claro qué hace cada uno.</a:t>
            </a:r>
            <a:endParaRPr lang="en-US" sz="800" dirty="0"/>
          </a:p>
        </p:txBody>
      </p:sp>
      <p:sp>
        <p:nvSpPr>
          <p:cNvPr id="28" name="Text 26"/>
          <p:cNvSpPr/>
          <p:nvPr/>
        </p:nvSpPr>
        <p:spPr>
          <a:xfrm>
            <a:off x="8028396" y="2482109"/>
            <a:ext cx="453753"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29" name="Text 27"/>
          <p:cNvSpPr/>
          <p:nvPr/>
        </p:nvSpPr>
        <p:spPr>
          <a:xfrm>
            <a:off x="8045202" y="2492611"/>
            <a:ext cx="420142"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MEDIO</a:t>
            </a:r>
            <a:endParaRPr lang="en-US" sz="800" dirty="0"/>
          </a:p>
        </p:txBody>
      </p:sp>
      <p:sp>
        <p:nvSpPr>
          <p:cNvPr id="30" name="Text 28"/>
          <p:cNvSpPr/>
          <p:nvPr/>
        </p:nvSpPr>
        <p:spPr>
          <a:xfrm>
            <a:off x="517922" y="2943225"/>
            <a:ext cx="8108156" cy="568933"/>
          </a:xfrm>
          <a:prstGeom prst="roundRect">
            <a:avLst>
              <a:gd name="adj" fmla="val 26787"/>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31" name="Text 29"/>
          <p:cNvSpPr/>
          <p:nvPr/>
        </p:nvSpPr>
        <p:spPr>
          <a:xfrm>
            <a:off x="678656" y="3099048"/>
            <a:ext cx="257175" cy="257175"/>
          </a:xfrm>
          <a:prstGeom prst="ellipse">
            <a:avLst/>
          </a:prstGeom>
          <a:solidFill>
            <a:srgbClr val="8363F9"/>
          </a:solidFill>
          <a:ln/>
          <a:effectLst>
            <a:outerShdw sx="100000" sy="100000" kx="0" ky="0" algn="bl" rotWithShape="0" blurRad="133350" dist="38100" dir="5400000">
              <a:srgbClr val="8363F9">
                <a:alpha val="35000"/>
              </a:srgbClr>
            </a:outerShdw>
          </a:effectLst>
        </p:spPr>
        <p:txBody>
          <a:bodyPr wrap="square" rtlCol="0" anchor="ctr"/>
          <a:lstStyle/>
          <a:p>
            <a:pPr indent="0" marL="0">
              <a:buNone/>
            </a:pPr>
            <a:endParaRPr lang="en-US" dirty="0"/>
          </a:p>
        </p:txBody>
      </p:sp>
      <p:sp>
        <p:nvSpPr>
          <p:cNvPr id="32" name="Text 30"/>
          <p:cNvSpPr/>
          <p:nvPr/>
        </p:nvSpPr>
        <p:spPr>
          <a:xfrm>
            <a:off x="678656" y="3099048"/>
            <a:ext cx="321469"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4</a:t>
            </a:r>
            <a:endParaRPr lang="en-US" sz="900" dirty="0"/>
          </a:p>
        </p:txBody>
      </p:sp>
      <p:sp>
        <p:nvSpPr>
          <p:cNvPr id="33" name="Text 31"/>
          <p:cNvSpPr/>
          <p:nvPr/>
        </p:nvSpPr>
        <p:spPr>
          <a:xfrm>
            <a:off x="1064419" y="3075384"/>
            <a:ext cx="7400371" cy="142567"/>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0EAFF"/>
                </a:solidFill>
                <a:latin typeface="Carlito" pitchFamily="34" charset="0"/>
                <a:ea typeface="Carlito" pitchFamily="34" charset="-122"/>
                <a:cs typeface="Carlito" pitchFamily="34" charset="-120"/>
              </a:rPr>
              <a:t>Settings minimalista — solo modelo IA</a:t>
            </a:r>
            <a:endParaRPr lang="en-US" sz="900" dirty="0"/>
          </a:p>
        </p:txBody>
      </p:sp>
      <p:sp>
        <p:nvSpPr>
          <p:cNvPr id="34" name="Text 32"/>
          <p:cNvSpPr/>
          <p:nvPr/>
        </p:nvSpPr>
        <p:spPr>
          <a:xfrm>
            <a:off x="1064419" y="3245383"/>
            <a:ext cx="6852196" cy="134615"/>
          </a:xfrm>
          <a:prstGeom prst="rect">
            <a:avLst/>
          </a:prstGeom>
          <a:noFill/>
          <a:ln/>
        </p:spPr>
        <p:txBody>
          <a:bodyPr wrap="square" lIns="0" tIns="0" rIns="0" bIns="0" rtlCol="0" anchor="t"/>
          <a:lstStyle/>
          <a:p>
            <a:pPr algn="l" indent="0" marL="0">
              <a:lnSpc>
                <a:spcPts val="1060"/>
              </a:lnSpc>
              <a:buNone/>
            </a:pPr>
            <a:r>
              <a:rPr lang="en-US" sz="800" dirty="0">
                <a:solidFill>
                  <a:srgbClr val="B8A8E0"/>
                </a:solidFill>
                <a:latin typeface="Carlito" pitchFamily="34" charset="0"/>
                <a:ea typeface="Carlito" pitchFamily="34" charset="-122"/>
                <a:cs typeface="Carlito" pitchFamily="34" charset="-120"/>
              </a:rPr>
              <a:t>Falta: perfil, permisos, cuenta, datos, privacidad. Parece incompleto.</a:t>
            </a:r>
            <a:endParaRPr lang="en-US" sz="800" dirty="0"/>
          </a:p>
        </p:txBody>
      </p:sp>
      <p:sp>
        <p:nvSpPr>
          <p:cNvPr id="35" name="Text 33"/>
          <p:cNvSpPr/>
          <p:nvPr/>
        </p:nvSpPr>
        <p:spPr>
          <a:xfrm>
            <a:off x="8028396" y="3129623"/>
            <a:ext cx="453753"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36" name="Text 34"/>
          <p:cNvSpPr/>
          <p:nvPr/>
        </p:nvSpPr>
        <p:spPr>
          <a:xfrm>
            <a:off x="8045202" y="3140125"/>
            <a:ext cx="420142"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MEDIO</a:t>
            </a:r>
            <a:endParaRPr lang="en-US" sz="800" dirty="0"/>
          </a:p>
        </p:txBody>
      </p:sp>
      <p:sp>
        <p:nvSpPr>
          <p:cNvPr id="37" name="Text 35"/>
          <p:cNvSpPr/>
          <p:nvPr/>
        </p:nvSpPr>
        <p:spPr>
          <a:xfrm>
            <a:off x="517922" y="3590739"/>
            <a:ext cx="8108156" cy="568933"/>
          </a:xfrm>
          <a:prstGeom prst="roundRect">
            <a:avLst>
              <a:gd name="adj" fmla="val 26787"/>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38" name="Text 36"/>
          <p:cNvSpPr/>
          <p:nvPr/>
        </p:nvSpPr>
        <p:spPr>
          <a:xfrm>
            <a:off x="678656" y="3746562"/>
            <a:ext cx="257175" cy="257175"/>
          </a:xfrm>
          <a:prstGeom prst="ellipse">
            <a:avLst/>
          </a:prstGeom>
          <a:solidFill>
            <a:srgbClr val="8363F9"/>
          </a:solidFill>
          <a:ln/>
          <a:effectLst>
            <a:outerShdw sx="100000" sy="100000" kx="0" ky="0" algn="bl" rotWithShape="0" blurRad="133350" dist="38100" dir="5400000">
              <a:srgbClr val="8363F9">
                <a:alpha val="35000"/>
              </a:srgbClr>
            </a:outerShdw>
          </a:effectLst>
        </p:spPr>
        <p:txBody>
          <a:bodyPr wrap="square" rtlCol="0" anchor="ctr"/>
          <a:lstStyle/>
          <a:p>
            <a:pPr indent="0" marL="0">
              <a:buNone/>
            </a:pPr>
            <a:endParaRPr lang="en-US" dirty="0"/>
          </a:p>
        </p:txBody>
      </p:sp>
      <p:sp>
        <p:nvSpPr>
          <p:cNvPr id="39" name="Text 37"/>
          <p:cNvSpPr/>
          <p:nvPr/>
        </p:nvSpPr>
        <p:spPr>
          <a:xfrm>
            <a:off x="678656" y="3746562"/>
            <a:ext cx="321469" cy="25717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5</a:t>
            </a:r>
            <a:endParaRPr lang="en-US" sz="900" dirty="0"/>
          </a:p>
        </p:txBody>
      </p:sp>
      <p:sp>
        <p:nvSpPr>
          <p:cNvPr id="40" name="Text 38"/>
          <p:cNvSpPr/>
          <p:nvPr/>
        </p:nvSpPr>
        <p:spPr>
          <a:xfrm>
            <a:off x="1064419" y="3722898"/>
            <a:ext cx="7400371" cy="142567"/>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0EAFF"/>
                </a:solidFill>
                <a:latin typeface="Carlito" pitchFamily="34" charset="0"/>
                <a:ea typeface="Carlito" pitchFamily="34" charset="-122"/>
                <a:cs typeface="Carlito" pitchFamily="34" charset="-120"/>
              </a:rPr>
              <a:t>Chat sin indicador de historial</a:t>
            </a:r>
            <a:endParaRPr lang="en-US" sz="900" dirty="0"/>
          </a:p>
        </p:txBody>
      </p:sp>
      <p:sp>
        <p:nvSpPr>
          <p:cNvPr id="41" name="Text 39"/>
          <p:cNvSpPr/>
          <p:nvPr/>
        </p:nvSpPr>
        <p:spPr>
          <a:xfrm>
            <a:off x="1064419" y="3892897"/>
            <a:ext cx="6852196" cy="134615"/>
          </a:xfrm>
          <a:prstGeom prst="rect">
            <a:avLst/>
          </a:prstGeom>
          <a:noFill/>
          <a:ln/>
        </p:spPr>
        <p:txBody>
          <a:bodyPr wrap="square" lIns="0" tIns="0" rIns="0" bIns="0" rtlCol="0" anchor="t"/>
          <a:lstStyle/>
          <a:p>
            <a:pPr algn="l" indent="0" marL="0">
              <a:lnSpc>
                <a:spcPts val="1060"/>
              </a:lnSpc>
              <a:buNone/>
            </a:pPr>
            <a:r>
              <a:rPr lang="en-US" sz="800" dirty="0">
                <a:solidFill>
                  <a:srgbClr val="B8A8E0"/>
                </a:solidFill>
                <a:latin typeface="Carlito" pitchFamily="34" charset="0"/>
                <a:ea typeface="Carlito" pitchFamily="34" charset="-122"/>
                <a:cs typeface="Carlito" pitchFamily="34" charset="-120"/>
              </a:rPr>
              <a:t>Lo anterior desaparece sin aviso. El usuario pierde contexto de qué pasó.</a:t>
            </a:r>
            <a:endParaRPr lang="en-US" sz="800" dirty="0"/>
          </a:p>
        </p:txBody>
      </p:sp>
      <p:sp>
        <p:nvSpPr>
          <p:cNvPr id="42" name="Text 40"/>
          <p:cNvSpPr/>
          <p:nvPr/>
        </p:nvSpPr>
        <p:spPr>
          <a:xfrm>
            <a:off x="8028396" y="3777137"/>
            <a:ext cx="453753"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43" name="Text 41"/>
          <p:cNvSpPr/>
          <p:nvPr/>
        </p:nvSpPr>
        <p:spPr>
          <a:xfrm>
            <a:off x="8045202" y="3787639"/>
            <a:ext cx="420142"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MEDIO</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457200" y="371475"/>
            <a:ext cx="2430655" cy="266801"/>
          </a:xfrm>
          <a:prstGeom prst="rect">
            <a:avLst/>
          </a:prstGeom>
          <a:noFill/>
          <a:ln/>
        </p:spPr>
        <p:txBody>
          <a:bodyPr wrap="none" lIns="0" tIns="0" rIns="0" bIns="0" rtlCol="0" anchor="t">
            <a:normAutofit/>
          </a:bodyPr>
          <a:lstStyle/>
          <a:p>
            <a:pPr algn="l" indent="0" marL="0">
              <a:lnSpc>
                <a:spcPts val="1980"/>
              </a:lnSpc>
              <a:buNone/>
            </a:pPr>
            <a:r>
              <a:rPr lang="en-US" sz="1800" b="1" spc="-18" kern="0" dirty="0">
                <a:solidFill>
                  <a:srgbClr val="F0EAFF"/>
                </a:solidFill>
                <a:latin typeface="Carlito" pitchFamily="34" charset="0"/>
                <a:ea typeface="Carlito" pitchFamily="34" charset="-122"/>
                <a:cs typeface="Carlito" pitchFamily="34" charset="-120"/>
              </a:rPr>
              <a:t>Mapa actual de la app</a:t>
            </a:r>
            <a:endParaRPr lang="en-US" sz="1800" dirty="0"/>
          </a:p>
        </p:txBody>
      </p:sp>
      <p:sp>
        <p:nvSpPr>
          <p:cNvPr id="3" name="Text 1"/>
          <p:cNvSpPr/>
          <p:nvPr/>
        </p:nvSpPr>
        <p:spPr>
          <a:xfrm>
            <a:off x="457200" y="665708"/>
            <a:ext cx="2500103" cy="162020"/>
          </a:xfrm>
          <a:prstGeom prst="rect">
            <a:avLst/>
          </a:prstGeom>
          <a:noFill/>
          <a:ln/>
        </p:spPr>
        <p:txBody>
          <a:bodyPr wrap="square" lIns="0" tIns="0" rIns="0" bIns="0" rtlCol="0" anchor="t"/>
          <a:lstStyle/>
          <a:p>
            <a:pPr algn="l" indent="0" marL="0">
              <a:lnSpc>
                <a:spcPts val="1181"/>
              </a:lnSpc>
              <a:buNone/>
            </a:pPr>
            <a:r>
              <a:rPr lang="en-US" sz="844" dirty="0">
                <a:solidFill>
                  <a:srgbClr val="B8A8E0"/>
                </a:solidFill>
                <a:latin typeface="Carlito" pitchFamily="34" charset="0"/>
                <a:ea typeface="Carlito" pitchFamily="34" charset="-122"/>
                <a:cs typeface="Carlito" pitchFamily="34" charset="-120"/>
              </a:rPr>
              <a:t>5 pantallas, 1 flujo lineal, navegación limitada</a:t>
            </a:r>
            <a:endParaRPr lang="en-US" sz="844" dirty="0"/>
          </a:p>
        </p:txBody>
      </p:sp>
      <p:sp>
        <p:nvSpPr>
          <p:cNvPr id="4" name="Text 2"/>
          <p:cNvSpPr/>
          <p:nvPr/>
        </p:nvSpPr>
        <p:spPr>
          <a:xfrm>
            <a:off x="7986489" y="687139"/>
            <a:ext cx="128588" cy="128588"/>
          </a:xfrm>
          <a:prstGeom prst="rect">
            <a:avLst/>
          </a:prstGeom>
          <a:noFill/>
          <a:ln/>
        </p:spPr>
        <p:txBody>
          <a:bodyPr wrap="none" lIns="0" tIns="0" rIns="0" bIns="0" rtlCol="0" anchor="ctr"/>
          <a:lstStyle/>
          <a:p>
            <a:pPr algn="ctr" indent="0" marL="0">
              <a:buNone/>
            </a:pPr>
            <a:r>
              <a:rPr lang="en-US" sz="1266" dirty="0">
                <a:solidFill>
                  <a:srgbClr val="7A6BA8"/>
                </a:solidFill>
                <a:latin typeface="Segoe UI Symbol" pitchFamily="34" charset="0"/>
                <a:ea typeface="Segoe UI Symbol" pitchFamily="34" charset="-122"/>
                <a:cs typeface="Segoe UI Symbol" pitchFamily="34" charset="-120"/>
              </a:rPr>
              <a:t>✦</a:t>
            </a:r>
            <a:endParaRPr lang="en-US" sz="1266" dirty="0"/>
          </a:p>
        </p:txBody>
      </p:sp>
      <p:sp>
        <p:nvSpPr>
          <p:cNvPr id="5" name="Text 3"/>
          <p:cNvSpPr/>
          <p:nvPr/>
        </p:nvSpPr>
        <p:spPr>
          <a:xfrm>
            <a:off x="8108261" y="687139"/>
            <a:ext cx="731011" cy="164592"/>
          </a:xfrm>
          <a:prstGeom prst="rect">
            <a:avLst/>
          </a:prstGeom>
          <a:noFill/>
          <a:ln/>
        </p:spPr>
        <p:txBody>
          <a:bodyPr wrap="square" lIns="0" tIns="0" rIns="0" bIns="0" rtlCol="0" anchor="t"/>
          <a:lstStyle/>
          <a:p>
            <a:pPr algn="l" indent="0" marL="0">
              <a:lnSpc>
                <a:spcPts val="1013"/>
              </a:lnSpc>
              <a:buNone/>
            </a:pPr>
            <a:r>
              <a:rPr lang="en-US" sz="675" dirty="0">
                <a:solidFill>
                  <a:srgbClr val="7A6BA8"/>
                </a:solidFill>
                <a:latin typeface="Liberation Sans Narrow" pitchFamily="34" charset="0"/>
                <a:ea typeface="Liberation Sans Narrow" pitchFamily="34" charset="-122"/>
                <a:cs typeface="Liberation Sans Narrow" pitchFamily="34" charset="-120"/>
              </a:rPr>
              <a:t>Flujo: 1ra vez</a:t>
            </a:r>
            <a:endParaRPr lang="en-US" sz="675" dirty="0"/>
          </a:p>
        </p:txBody>
      </p:sp>
      <p:pic>
        <p:nvPicPr>
          <p:cNvPr id="6" name="Image 0" descr="preencoded.png">    </p:cNvPr>
          <p:cNvPicPr>
            <a:picLocks noChangeAspect="1"/>
          </p:cNvPicPr>
          <p:nvPr/>
        </p:nvPicPr>
        <p:blipFill>
          <a:blip r:embed="rId1"/>
          <a:stretch>
            <a:fillRect/>
          </a:stretch>
        </p:blipFill>
        <p:spPr>
          <a:xfrm>
            <a:off x="457200" y="2579563"/>
            <a:ext cx="8229600" cy="14288"/>
          </a:xfrm>
          <a:prstGeom prst="rect">
            <a:avLst/>
          </a:prstGeom>
        </p:spPr>
      </p:pic>
      <p:sp>
        <p:nvSpPr>
          <p:cNvPr id="7" name="Text 4"/>
          <p:cNvSpPr/>
          <p:nvPr/>
        </p:nvSpPr>
        <p:spPr>
          <a:xfrm>
            <a:off x="814388" y="1293688"/>
            <a:ext cx="1285875" cy="2571750"/>
          </a:xfrm>
          <a:prstGeom prst="roundRect">
            <a:avLst>
              <a:gd name="adj" fmla="val 23704"/>
            </a:avLst>
          </a:prstGeom>
          <a:solidFill>
            <a:srgbClr val="221C4A"/>
          </a:solidFill>
          <a:ln/>
          <a:effectLst>
            <a:outerShdw sx="100000" sy="100000" kx="0" ky="0" algn="bl" rotWithShape="0" blurRad="285750" dist="114300" dir="5400000">
              <a:srgbClr val="000000">
                <a:alpha val="35000"/>
              </a:srgbClr>
            </a:outerShdw>
          </a:effectLst>
        </p:spPr>
        <p:txBody>
          <a:bodyPr wrap="square" rtlCol="0" anchor="ctr"/>
          <a:lstStyle/>
          <a:p>
            <a:pPr indent="0" marL="0">
              <a:buNone/>
            </a:pPr>
            <a:endParaRPr lang="en-US" dirty="0"/>
          </a:p>
        </p:txBody>
      </p:sp>
      <p:sp>
        <p:nvSpPr>
          <p:cNvPr id="8" name="Text 5"/>
          <p:cNvSpPr/>
          <p:nvPr/>
        </p:nvSpPr>
        <p:spPr>
          <a:xfrm>
            <a:off x="1342321" y="1215822"/>
            <a:ext cx="230007" cy="120015"/>
          </a:xfrm>
          <a:prstGeom prst="rect">
            <a:avLst/>
          </a:prstGeom>
          <a:solidFill>
            <a:srgbClr val="14102A"/>
          </a:solidFill>
          <a:ln/>
        </p:spPr>
        <p:txBody>
          <a:bodyPr wrap="square" rtlCol="0" anchor="ctr"/>
          <a:lstStyle/>
          <a:p>
            <a:pPr indent="0" marL="0">
              <a:buNone/>
            </a:pPr>
            <a:endParaRPr lang="en-US" dirty="0"/>
          </a:p>
        </p:txBody>
      </p:sp>
      <p:sp>
        <p:nvSpPr>
          <p:cNvPr id="9" name="Text 6"/>
          <p:cNvSpPr/>
          <p:nvPr/>
        </p:nvSpPr>
        <p:spPr>
          <a:xfrm>
            <a:off x="1353294" y="1222251"/>
            <a:ext cx="208062" cy="164592"/>
          </a:xfrm>
          <a:prstGeom prst="rect">
            <a:avLst/>
          </a:prstGeom>
          <a:noFill/>
          <a:ln/>
        </p:spPr>
        <p:txBody>
          <a:bodyPr wrap="none" lIns="57150" tIns="0" rIns="57150" bIns="0" rtlCol="0" anchor="t"/>
          <a:lstStyle/>
          <a:p>
            <a:pPr algn="l" indent="0" marL="0">
              <a:lnSpc>
                <a:spcPts val="844"/>
              </a:lnSpc>
              <a:buNone/>
            </a:pPr>
            <a:r>
              <a:rPr lang="en-US" sz="800" b="1" spc="56" kern="0" dirty="0">
                <a:solidFill>
                  <a:srgbClr val="C9B8FF"/>
                </a:solidFill>
                <a:latin typeface="Liberation Sans Narrow" pitchFamily="34" charset="0"/>
                <a:ea typeface="Liberation Sans Narrow" pitchFamily="34" charset="-122"/>
                <a:cs typeface="Liberation Sans Narrow" pitchFamily="34" charset="-120"/>
              </a:rPr>
              <a:t>01</a:t>
            </a:r>
            <a:endParaRPr lang="en-US" sz="800" dirty="0"/>
          </a:p>
        </p:txBody>
      </p:sp>
      <p:sp>
        <p:nvSpPr>
          <p:cNvPr id="10" name="Text 7"/>
          <p:cNvSpPr/>
          <p:nvPr/>
        </p:nvSpPr>
        <p:spPr>
          <a:xfrm>
            <a:off x="1300163" y="1493713"/>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11" name="Text 8"/>
          <p:cNvSpPr/>
          <p:nvPr/>
        </p:nvSpPr>
        <p:spPr>
          <a:xfrm>
            <a:off x="1343025" y="1708026"/>
            <a:ext cx="228600" cy="228600"/>
          </a:xfrm>
          <a:prstGeom prst="rect">
            <a:avLst/>
          </a:prstGeom>
          <a:noFill/>
          <a:ln/>
        </p:spPr>
        <p:txBody>
          <a:bodyPr wrap="none" lIns="0" tIns="0" rIns="0" bIns="0" rtlCol="0" anchor="ctr"/>
          <a:lstStyle/>
          <a:p>
            <a:pPr algn="ctr" indent="0" marL="0">
              <a:buNone/>
            </a:pPr>
            <a:r>
              <a:rPr lang="en-US" sz="2250" dirty="0">
                <a:solidFill>
                  <a:srgbClr val="8363F9"/>
                </a:solidFill>
                <a:latin typeface="Segoe UI Symbol" pitchFamily="34" charset="0"/>
                <a:ea typeface="Segoe UI Symbol" pitchFamily="34" charset="-122"/>
                <a:cs typeface="Segoe UI Symbol" pitchFamily="34" charset="-120"/>
              </a:rPr>
              <a:t>☞</a:t>
            </a:r>
            <a:endParaRPr lang="en-US" sz="2250" dirty="0"/>
          </a:p>
        </p:txBody>
      </p:sp>
      <p:sp>
        <p:nvSpPr>
          <p:cNvPr id="12" name="Text 9"/>
          <p:cNvSpPr/>
          <p:nvPr/>
        </p:nvSpPr>
        <p:spPr>
          <a:xfrm>
            <a:off x="1174205" y="2036638"/>
            <a:ext cx="566128" cy="164592"/>
          </a:xfrm>
          <a:prstGeom prst="rect">
            <a:avLst/>
          </a:prstGeom>
          <a:noFill/>
          <a:ln/>
        </p:spPr>
        <p:txBody>
          <a:bodyPr wrap="none" lIns="0" tIns="0" rIns="0" bIns="0" rtlCol="0" anchor="t"/>
          <a:lstStyle/>
          <a:p>
            <a:pPr algn="ctr" indent="0" marL="0">
              <a:lnSpc>
                <a:spcPts val="1013"/>
              </a:lnSpc>
              <a:buNone/>
            </a:pPr>
            <a:r>
              <a:rPr lang="en-US" sz="675" spc="14" kern="0" dirty="0">
                <a:solidFill>
                  <a:srgbClr val="F0EAFF"/>
                </a:solidFill>
                <a:latin typeface="Carlito" pitchFamily="34" charset="0"/>
                <a:ea typeface="Carlito" pitchFamily="34" charset="-122"/>
                <a:cs typeface="Carlito" pitchFamily="34" charset="-120"/>
              </a:rPr>
              <a:t>Bienvenida</a:t>
            </a:r>
            <a:endParaRPr lang="en-US" sz="675" dirty="0"/>
          </a:p>
        </p:txBody>
      </p:sp>
      <p:sp>
        <p:nvSpPr>
          <p:cNvPr id="13" name="Text 10"/>
          <p:cNvSpPr/>
          <p:nvPr/>
        </p:nvSpPr>
        <p:spPr>
          <a:xfrm>
            <a:off x="1242008" y="2265238"/>
            <a:ext cx="430523" cy="318211"/>
          </a:xfrm>
          <a:prstGeom prst="rect">
            <a:avLst/>
          </a:prstGeom>
          <a:noFill/>
          <a:ln/>
        </p:spPr>
        <p:txBody>
          <a:bodyPr wrap="square" lIns="28575" tIns="0" rIns="28575" bIns="0" rtlCol="0" anchor="t"/>
          <a:lstStyle/>
          <a:p>
            <a:pPr algn="ctr" indent="0" marL="0">
              <a:lnSpc>
                <a:spcPts val="816"/>
              </a:lnSpc>
              <a:buNone/>
            </a:pPr>
            <a:r>
              <a:rPr lang="en-US" sz="800" dirty="0">
                <a:solidFill>
                  <a:srgbClr val="7A6BA8"/>
                </a:solidFill>
                <a:latin typeface="Carlito" pitchFamily="34" charset="0"/>
                <a:ea typeface="Carlito" pitchFamily="34" charset="-122"/>
                <a:cs typeface="Carlito" pitchFamily="34" charset="-120"/>
              </a:rPr>
              <a:t>Onboarding</a:t>
            </a:r>
            <a:endParaRPr lang="en-US" sz="800" dirty="0"/>
          </a:p>
          <a:p>
            <a:pPr algn="ctr" indent="0" marL="0">
              <a:lnSpc>
                <a:spcPts val="816"/>
              </a:lnSpc>
              <a:buNone/>
            </a:pPr>
            <a:r>
              <a:rPr lang="en-US" sz="800" dirty="0">
                <a:solidFill>
                  <a:srgbClr val="7A6BA8"/>
                </a:solidFill>
                <a:latin typeface="Liberation Sans Narrow" pitchFamily="34" charset="0"/>
                <a:ea typeface="Liberation Sans Narrow" pitchFamily="34" charset="-122"/>
                <a:cs typeface="Liberation Sans Narrow" pitchFamily="34" charset="-120"/>
              </a:rPr>
              <a:t>(1ra vez)</a:t>
            </a:r>
            <a:endParaRPr lang="en-US" sz="800" dirty="0"/>
          </a:p>
        </p:txBody>
      </p:sp>
      <p:sp>
        <p:nvSpPr>
          <p:cNvPr id="14" name="Text 11"/>
          <p:cNvSpPr/>
          <p:nvPr/>
        </p:nvSpPr>
        <p:spPr>
          <a:xfrm>
            <a:off x="2143125" y="2486695"/>
            <a:ext cx="185738" cy="185738"/>
          </a:xfrm>
          <a:prstGeom prst="rect">
            <a:avLst/>
          </a:prstGeom>
          <a:noFill/>
          <a:ln/>
        </p:spPr>
        <p:txBody>
          <a:bodyPr wrap="none" lIns="0" tIns="0" rIns="0" bIns="0" rtlCol="0" anchor="ctr"/>
          <a:lstStyle/>
          <a:p>
            <a:pPr algn="ctr" indent="0" marL="0">
              <a:buNone/>
            </a:pPr>
            <a:r>
              <a:rPr lang="en-US" sz="1828" dirty="0">
                <a:solidFill>
                  <a:srgbClr val="C9B8FF"/>
                </a:solidFill>
                <a:latin typeface="Segoe UI Symbol" pitchFamily="34" charset="0"/>
                <a:ea typeface="Segoe UI Symbol" pitchFamily="34" charset="-122"/>
                <a:cs typeface="Segoe UI Symbol" pitchFamily="34" charset="-120"/>
              </a:rPr>
              <a:t>→</a:t>
            </a:r>
            <a:endParaRPr lang="en-US" sz="1828" dirty="0"/>
          </a:p>
        </p:txBody>
      </p:sp>
      <p:sp>
        <p:nvSpPr>
          <p:cNvPr id="15" name="Text 12"/>
          <p:cNvSpPr/>
          <p:nvPr/>
        </p:nvSpPr>
        <p:spPr>
          <a:xfrm>
            <a:off x="2371725" y="1293688"/>
            <a:ext cx="1285875" cy="2571750"/>
          </a:xfrm>
          <a:prstGeom prst="roundRect">
            <a:avLst>
              <a:gd name="adj" fmla="val 23704"/>
            </a:avLst>
          </a:prstGeom>
          <a:solidFill>
            <a:srgbClr val="221C4A"/>
          </a:solidFill>
          <a:ln/>
          <a:effectLst>
            <a:outerShdw sx="100000" sy="100000" kx="0" ky="0" algn="bl" rotWithShape="0" blurRad="285750" dist="114300" dir="5400000">
              <a:srgbClr val="000000">
                <a:alpha val="35000"/>
              </a:srgbClr>
            </a:outerShdw>
          </a:effectLst>
        </p:spPr>
        <p:txBody>
          <a:bodyPr wrap="square" rtlCol="0" anchor="ctr"/>
          <a:lstStyle/>
          <a:p>
            <a:pPr indent="0" marL="0">
              <a:buNone/>
            </a:pPr>
            <a:endParaRPr lang="en-US" dirty="0"/>
          </a:p>
        </p:txBody>
      </p:sp>
      <p:sp>
        <p:nvSpPr>
          <p:cNvPr id="16" name="Text 13"/>
          <p:cNvSpPr/>
          <p:nvPr/>
        </p:nvSpPr>
        <p:spPr>
          <a:xfrm>
            <a:off x="2899659" y="1215822"/>
            <a:ext cx="230007" cy="120015"/>
          </a:xfrm>
          <a:prstGeom prst="rect">
            <a:avLst/>
          </a:prstGeom>
          <a:solidFill>
            <a:srgbClr val="14102A"/>
          </a:solidFill>
          <a:ln/>
        </p:spPr>
        <p:txBody>
          <a:bodyPr wrap="square" rtlCol="0" anchor="ctr"/>
          <a:lstStyle/>
          <a:p>
            <a:pPr indent="0" marL="0">
              <a:buNone/>
            </a:pPr>
            <a:endParaRPr lang="en-US" dirty="0"/>
          </a:p>
        </p:txBody>
      </p:sp>
      <p:sp>
        <p:nvSpPr>
          <p:cNvPr id="17" name="Text 14"/>
          <p:cNvSpPr/>
          <p:nvPr/>
        </p:nvSpPr>
        <p:spPr>
          <a:xfrm>
            <a:off x="2910632" y="1222251"/>
            <a:ext cx="208062" cy="164592"/>
          </a:xfrm>
          <a:prstGeom prst="rect">
            <a:avLst/>
          </a:prstGeom>
          <a:noFill/>
          <a:ln/>
        </p:spPr>
        <p:txBody>
          <a:bodyPr wrap="none" lIns="57150" tIns="0" rIns="57150" bIns="0" rtlCol="0" anchor="t"/>
          <a:lstStyle/>
          <a:p>
            <a:pPr algn="l" indent="0" marL="0">
              <a:lnSpc>
                <a:spcPts val="844"/>
              </a:lnSpc>
              <a:buNone/>
            </a:pPr>
            <a:r>
              <a:rPr lang="en-US" sz="800" b="1" spc="56" kern="0" dirty="0">
                <a:solidFill>
                  <a:srgbClr val="C9B8FF"/>
                </a:solidFill>
                <a:latin typeface="Liberation Sans Narrow" pitchFamily="34" charset="0"/>
                <a:ea typeface="Liberation Sans Narrow" pitchFamily="34" charset="-122"/>
                <a:cs typeface="Liberation Sans Narrow" pitchFamily="34" charset="-120"/>
              </a:rPr>
              <a:t>02</a:t>
            </a:r>
            <a:endParaRPr lang="en-US" sz="800" dirty="0"/>
          </a:p>
        </p:txBody>
      </p:sp>
      <p:sp>
        <p:nvSpPr>
          <p:cNvPr id="18" name="Text 15"/>
          <p:cNvSpPr/>
          <p:nvPr/>
        </p:nvSpPr>
        <p:spPr>
          <a:xfrm>
            <a:off x="2857500" y="1493713"/>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19" name="Text 16"/>
          <p:cNvSpPr/>
          <p:nvPr/>
        </p:nvSpPr>
        <p:spPr>
          <a:xfrm>
            <a:off x="2900363" y="1708026"/>
            <a:ext cx="228600" cy="228600"/>
          </a:xfrm>
          <a:prstGeom prst="rect">
            <a:avLst/>
          </a:prstGeom>
          <a:noFill/>
          <a:ln/>
        </p:spPr>
        <p:txBody>
          <a:bodyPr wrap="none" lIns="0" tIns="0" rIns="0" bIns="0" rtlCol="0" anchor="ctr"/>
          <a:lstStyle/>
          <a:p>
            <a:pPr algn="ctr" indent="0" marL="0">
              <a:buNone/>
            </a:pPr>
            <a:r>
              <a:rPr lang="en-US" sz="2250" dirty="0">
                <a:solidFill>
                  <a:srgbClr val="8363F9"/>
                </a:solidFill>
                <a:latin typeface="Segoe UI Symbol" pitchFamily="34" charset="0"/>
                <a:ea typeface="Segoe UI Symbol" pitchFamily="34" charset="-122"/>
                <a:cs typeface="Segoe UI Symbol" pitchFamily="34" charset="-120"/>
              </a:rPr>
              <a:t>◌</a:t>
            </a:r>
            <a:endParaRPr lang="en-US" sz="2250" dirty="0"/>
          </a:p>
        </p:txBody>
      </p:sp>
      <p:sp>
        <p:nvSpPr>
          <p:cNvPr id="20" name="Text 17"/>
          <p:cNvSpPr/>
          <p:nvPr/>
        </p:nvSpPr>
        <p:spPr>
          <a:xfrm>
            <a:off x="2858615" y="2036638"/>
            <a:ext cx="311983" cy="164592"/>
          </a:xfrm>
          <a:prstGeom prst="rect">
            <a:avLst/>
          </a:prstGeom>
          <a:noFill/>
          <a:ln/>
        </p:spPr>
        <p:txBody>
          <a:bodyPr wrap="none" lIns="0" tIns="0" rIns="0" bIns="0" rtlCol="0" anchor="t"/>
          <a:lstStyle/>
          <a:p>
            <a:pPr algn="ctr" indent="0" marL="0">
              <a:lnSpc>
                <a:spcPts val="1013"/>
              </a:lnSpc>
              <a:buNone/>
            </a:pPr>
            <a:r>
              <a:rPr lang="en-US" sz="800" spc="14" kern="0" dirty="0">
                <a:solidFill>
                  <a:srgbClr val="F0EAFF"/>
                </a:solidFill>
                <a:latin typeface="Carlito" pitchFamily="34" charset="0"/>
                <a:ea typeface="Carlito" pitchFamily="34" charset="-122"/>
                <a:cs typeface="Carlito" pitchFamily="34" charset="-120"/>
              </a:rPr>
              <a:t>Chat</a:t>
            </a:r>
            <a:endParaRPr lang="en-US" sz="800" dirty="0"/>
          </a:p>
        </p:txBody>
      </p:sp>
      <p:sp>
        <p:nvSpPr>
          <p:cNvPr id="21" name="Text 18"/>
          <p:cNvSpPr/>
          <p:nvPr/>
        </p:nvSpPr>
        <p:spPr>
          <a:xfrm>
            <a:off x="2713955" y="2265238"/>
            <a:ext cx="601303" cy="159106"/>
          </a:xfrm>
          <a:prstGeom prst="rect">
            <a:avLst/>
          </a:prstGeom>
          <a:noFill/>
          <a:ln/>
        </p:spPr>
        <p:txBody>
          <a:bodyPr wrap="square" lIns="28575" tIns="0" rIns="28575" bIns="0" rtlCol="0" anchor="t"/>
          <a:lstStyle/>
          <a:p>
            <a:pPr algn="ctr" indent="0" marL="0">
              <a:lnSpc>
                <a:spcPts val="816"/>
              </a:lnSpc>
              <a:buNone/>
            </a:pPr>
            <a:r>
              <a:rPr lang="en-US" sz="600" dirty="0">
                <a:solidFill>
                  <a:srgbClr val="7A6BA8"/>
                </a:solidFill>
                <a:latin typeface="Carlito" pitchFamily="34" charset="0"/>
                <a:ea typeface="Carlito" pitchFamily="34" charset="-122"/>
                <a:cs typeface="Carlito" pitchFamily="34" charset="-120"/>
              </a:rPr>
              <a:t>Pantalla principal</a:t>
            </a:r>
            <a:endParaRPr lang="en-US" sz="600" dirty="0"/>
          </a:p>
        </p:txBody>
      </p:sp>
      <p:sp>
        <p:nvSpPr>
          <p:cNvPr id="22" name="Text 19"/>
          <p:cNvSpPr/>
          <p:nvPr/>
        </p:nvSpPr>
        <p:spPr>
          <a:xfrm>
            <a:off x="3700463" y="2486695"/>
            <a:ext cx="185738" cy="185738"/>
          </a:xfrm>
          <a:prstGeom prst="rect">
            <a:avLst/>
          </a:prstGeom>
          <a:noFill/>
          <a:ln/>
        </p:spPr>
        <p:txBody>
          <a:bodyPr wrap="none" lIns="0" tIns="0" rIns="0" bIns="0" rtlCol="0" anchor="ctr"/>
          <a:lstStyle/>
          <a:p>
            <a:pPr algn="ctr" indent="0" marL="0">
              <a:buNone/>
            </a:pPr>
            <a:r>
              <a:rPr lang="en-US" sz="1828" dirty="0">
                <a:solidFill>
                  <a:srgbClr val="C9B8FF"/>
                </a:solidFill>
                <a:latin typeface="Segoe UI Symbol" pitchFamily="34" charset="0"/>
                <a:ea typeface="Segoe UI Symbol" pitchFamily="34" charset="-122"/>
                <a:cs typeface="Segoe UI Symbol" pitchFamily="34" charset="-120"/>
              </a:rPr>
              <a:t>→</a:t>
            </a:r>
            <a:endParaRPr lang="en-US" sz="1828" dirty="0"/>
          </a:p>
        </p:txBody>
      </p:sp>
      <p:sp>
        <p:nvSpPr>
          <p:cNvPr id="23" name="Text 20"/>
          <p:cNvSpPr/>
          <p:nvPr/>
        </p:nvSpPr>
        <p:spPr>
          <a:xfrm>
            <a:off x="3929063" y="1293688"/>
            <a:ext cx="1285875" cy="2571750"/>
          </a:xfrm>
          <a:prstGeom prst="roundRect">
            <a:avLst>
              <a:gd name="adj" fmla="val 23704"/>
            </a:avLst>
          </a:prstGeom>
          <a:solidFill>
            <a:srgbClr val="221C4A"/>
          </a:solidFill>
          <a:ln/>
          <a:effectLst>
            <a:outerShdw sx="100000" sy="100000" kx="0" ky="0" algn="bl" rotWithShape="0" blurRad="285750" dist="114300" dir="5400000">
              <a:srgbClr val="000000">
                <a:alpha val="35000"/>
              </a:srgbClr>
            </a:outerShdw>
          </a:effectLst>
        </p:spPr>
        <p:txBody>
          <a:bodyPr wrap="square" rtlCol="0" anchor="ctr"/>
          <a:lstStyle/>
          <a:p>
            <a:pPr indent="0" marL="0">
              <a:buNone/>
            </a:pPr>
            <a:endParaRPr lang="en-US" dirty="0"/>
          </a:p>
        </p:txBody>
      </p:sp>
      <p:sp>
        <p:nvSpPr>
          <p:cNvPr id="24" name="Text 21"/>
          <p:cNvSpPr/>
          <p:nvPr/>
        </p:nvSpPr>
        <p:spPr>
          <a:xfrm>
            <a:off x="4456996" y="1215822"/>
            <a:ext cx="230007" cy="120015"/>
          </a:xfrm>
          <a:prstGeom prst="rect">
            <a:avLst/>
          </a:prstGeom>
          <a:solidFill>
            <a:srgbClr val="14102A"/>
          </a:solidFill>
          <a:ln/>
        </p:spPr>
        <p:txBody>
          <a:bodyPr wrap="square" rtlCol="0" anchor="ctr"/>
          <a:lstStyle/>
          <a:p>
            <a:pPr indent="0" marL="0">
              <a:buNone/>
            </a:pPr>
            <a:endParaRPr lang="en-US" dirty="0"/>
          </a:p>
        </p:txBody>
      </p:sp>
      <p:sp>
        <p:nvSpPr>
          <p:cNvPr id="25" name="Text 22"/>
          <p:cNvSpPr/>
          <p:nvPr/>
        </p:nvSpPr>
        <p:spPr>
          <a:xfrm>
            <a:off x="4467969" y="1222251"/>
            <a:ext cx="208062" cy="164592"/>
          </a:xfrm>
          <a:prstGeom prst="rect">
            <a:avLst/>
          </a:prstGeom>
          <a:noFill/>
          <a:ln/>
        </p:spPr>
        <p:txBody>
          <a:bodyPr wrap="none" lIns="57150" tIns="0" rIns="57150" bIns="0" rtlCol="0" anchor="t"/>
          <a:lstStyle/>
          <a:p>
            <a:pPr algn="l" indent="0" marL="0">
              <a:lnSpc>
                <a:spcPts val="844"/>
              </a:lnSpc>
              <a:buNone/>
            </a:pPr>
            <a:r>
              <a:rPr lang="en-US" sz="800" b="1" spc="56" kern="0" dirty="0">
                <a:solidFill>
                  <a:srgbClr val="C9B8FF"/>
                </a:solidFill>
                <a:latin typeface="Liberation Sans Narrow" pitchFamily="34" charset="0"/>
                <a:ea typeface="Liberation Sans Narrow" pitchFamily="34" charset="-122"/>
                <a:cs typeface="Liberation Sans Narrow" pitchFamily="34" charset="-120"/>
              </a:rPr>
              <a:t>03</a:t>
            </a:r>
            <a:endParaRPr lang="en-US" sz="800" dirty="0"/>
          </a:p>
        </p:txBody>
      </p:sp>
      <p:sp>
        <p:nvSpPr>
          <p:cNvPr id="26" name="Text 23"/>
          <p:cNvSpPr/>
          <p:nvPr/>
        </p:nvSpPr>
        <p:spPr>
          <a:xfrm>
            <a:off x="4414838" y="1493713"/>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27" name="Text 24"/>
          <p:cNvSpPr/>
          <p:nvPr/>
        </p:nvSpPr>
        <p:spPr>
          <a:xfrm>
            <a:off x="4457700" y="1708026"/>
            <a:ext cx="228600" cy="228600"/>
          </a:xfrm>
          <a:prstGeom prst="rect">
            <a:avLst/>
          </a:prstGeom>
          <a:noFill/>
          <a:ln/>
        </p:spPr>
        <p:txBody>
          <a:bodyPr wrap="none" lIns="0" tIns="0" rIns="0" bIns="0" rtlCol="0" anchor="ctr"/>
          <a:lstStyle/>
          <a:p>
            <a:pPr algn="ctr" indent="0" marL="0">
              <a:buNone/>
            </a:pPr>
            <a:r>
              <a:rPr lang="en-US" sz="2250" dirty="0">
                <a:solidFill>
                  <a:srgbClr val="8363F9"/>
                </a:solidFill>
                <a:latin typeface="Segoe UI Symbol" pitchFamily="34" charset="0"/>
                <a:ea typeface="Segoe UI Symbol" pitchFamily="34" charset="-122"/>
                <a:cs typeface="Segoe UI Symbol" pitchFamily="34" charset="-120"/>
              </a:rPr>
              <a:t>⌂</a:t>
            </a:r>
            <a:endParaRPr lang="en-US" sz="2250" dirty="0"/>
          </a:p>
        </p:txBody>
      </p:sp>
      <p:sp>
        <p:nvSpPr>
          <p:cNvPr id="28" name="Text 25"/>
          <p:cNvSpPr/>
          <p:nvPr/>
        </p:nvSpPr>
        <p:spPr>
          <a:xfrm>
            <a:off x="4378355" y="2036638"/>
            <a:ext cx="387289" cy="164592"/>
          </a:xfrm>
          <a:prstGeom prst="rect">
            <a:avLst/>
          </a:prstGeom>
          <a:noFill/>
          <a:ln/>
        </p:spPr>
        <p:txBody>
          <a:bodyPr wrap="none" lIns="0" tIns="0" rIns="0" bIns="0" rtlCol="0" anchor="t"/>
          <a:lstStyle/>
          <a:p>
            <a:pPr algn="ctr" indent="0" marL="0">
              <a:lnSpc>
                <a:spcPts val="1013"/>
              </a:lnSpc>
              <a:buNone/>
            </a:pPr>
            <a:r>
              <a:rPr lang="en-US" sz="800" spc="14" kern="0" dirty="0">
                <a:solidFill>
                  <a:srgbClr val="F0EAFF"/>
                </a:solidFill>
                <a:latin typeface="Carlito" pitchFamily="34" charset="0"/>
                <a:ea typeface="Carlito" pitchFamily="34" charset="-122"/>
                <a:cs typeface="Carlito" pitchFamily="34" charset="-120"/>
              </a:rPr>
              <a:t>Home</a:t>
            </a:r>
            <a:endParaRPr lang="en-US" sz="800" dirty="0"/>
          </a:p>
        </p:txBody>
      </p:sp>
      <p:sp>
        <p:nvSpPr>
          <p:cNvPr id="29" name="Text 26"/>
          <p:cNvSpPr/>
          <p:nvPr/>
        </p:nvSpPr>
        <p:spPr>
          <a:xfrm>
            <a:off x="4242606" y="2265238"/>
            <a:ext cx="658788" cy="159106"/>
          </a:xfrm>
          <a:prstGeom prst="rect">
            <a:avLst/>
          </a:prstGeom>
          <a:noFill/>
          <a:ln/>
        </p:spPr>
        <p:txBody>
          <a:bodyPr wrap="none" lIns="28575" tIns="0" rIns="28575" bIns="0" rtlCol="0" anchor="t"/>
          <a:lstStyle/>
          <a:p>
            <a:pPr algn="ctr" indent="0" marL="0">
              <a:lnSpc>
                <a:spcPts val="816"/>
              </a:lnSpc>
              <a:buNone/>
            </a:pPr>
            <a:r>
              <a:rPr lang="en-US" sz="600" dirty="0">
                <a:solidFill>
                  <a:srgbClr val="7A6BA8"/>
                </a:solidFill>
                <a:latin typeface="Carlito" pitchFamily="34" charset="0"/>
                <a:ea typeface="Carlito" pitchFamily="34" charset="-122"/>
                <a:cs typeface="Carlito" pitchFamily="34" charset="-120"/>
              </a:rPr>
              <a:t>Widgets + accesos</a:t>
            </a:r>
            <a:endParaRPr lang="en-US" sz="600" dirty="0"/>
          </a:p>
        </p:txBody>
      </p:sp>
      <p:sp>
        <p:nvSpPr>
          <p:cNvPr id="30" name="Text 27"/>
          <p:cNvSpPr/>
          <p:nvPr/>
        </p:nvSpPr>
        <p:spPr>
          <a:xfrm>
            <a:off x="5257800" y="2486695"/>
            <a:ext cx="185738" cy="185738"/>
          </a:xfrm>
          <a:prstGeom prst="rect">
            <a:avLst/>
          </a:prstGeom>
          <a:noFill/>
          <a:ln/>
        </p:spPr>
        <p:txBody>
          <a:bodyPr wrap="none" lIns="0" tIns="0" rIns="0" bIns="0" rtlCol="0" anchor="ctr"/>
          <a:lstStyle/>
          <a:p>
            <a:pPr algn="ctr" indent="0" marL="0">
              <a:buNone/>
            </a:pPr>
            <a:r>
              <a:rPr lang="en-US" sz="1828" dirty="0">
                <a:solidFill>
                  <a:srgbClr val="C9B8FF"/>
                </a:solidFill>
                <a:latin typeface="Segoe UI Symbol" pitchFamily="34" charset="0"/>
                <a:ea typeface="Segoe UI Symbol" pitchFamily="34" charset="-122"/>
                <a:cs typeface="Segoe UI Symbol" pitchFamily="34" charset="-120"/>
              </a:rPr>
              <a:t>→</a:t>
            </a:r>
            <a:endParaRPr lang="en-US" sz="1828" dirty="0"/>
          </a:p>
        </p:txBody>
      </p:sp>
      <p:sp>
        <p:nvSpPr>
          <p:cNvPr id="31" name="Text 28"/>
          <p:cNvSpPr/>
          <p:nvPr/>
        </p:nvSpPr>
        <p:spPr>
          <a:xfrm>
            <a:off x="5486400" y="1293688"/>
            <a:ext cx="1285875" cy="2571750"/>
          </a:xfrm>
          <a:prstGeom prst="roundRect">
            <a:avLst>
              <a:gd name="adj" fmla="val 23704"/>
            </a:avLst>
          </a:prstGeom>
          <a:solidFill>
            <a:srgbClr val="221C4A"/>
          </a:solidFill>
          <a:ln/>
          <a:effectLst>
            <a:outerShdw sx="100000" sy="100000" kx="0" ky="0" algn="bl" rotWithShape="0" blurRad="285750" dist="114300" dir="5400000">
              <a:srgbClr val="000000">
                <a:alpha val="35000"/>
              </a:srgbClr>
            </a:outerShdw>
          </a:effectLst>
        </p:spPr>
        <p:txBody>
          <a:bodyPr wrap="square" rtlCol="0" anchor="ctr"/>
          <a:lstStyle/>
          <a:p>
            <a:pPr indent="0" marL="0">
              <a:buNone/>
            </a:pPr>
            <a:endParaRPr lang="en-US" dirty="0"/>
          </a:p>
        </p:txBody>
      </p:sp>
      <p:sp>
        <p:nvSpPr>
          <p:cNvPr id="32" name="Text 29"/>
          <p:cNvSpPr/>
          <p:nvPr/>
        </p:nvSpPr>
        <p:spPr>
          <a:xfrm>
            <a:off x="6014334" y="1215822"/>
            <a:ext cx="230007" cy="120015"/>
          </a:xfrm>
          <a:prstGeom prst="rect">
            <a:avLst/>
          </a:prstGeom>
          <a:solidFill>
            <a:srgbClr val="14102A"/>
          </a:solidFill>
          <a:ln/>
        </p:spPr>
        <p:txBody>
          <a:bodyPr wrap="square" rtlCol="0" anchor="ctr"/>
          <a:lstStyle/>
          <a:p>
            <a:pPr indent="0" marL="0">
              <a:buNone/>
            </a:pPr>
            <a:endParaRPr lang="en-US" dirty="0"/>
          </a:p>
        </p:txBody>
      </p:sp>
      <p:sp>
        <p:nvSpPr>
          <p:cNvPr id="33" name="Text 30"/>
          <p:cNvSpPr/>
          <p:nvPr/>
        </p:nvSpPr>
        <p:spPr>
          <a:xfrm>
            <a:off x="6025307" y="1222251"/>
            <a:ext cx="208062" cy="164592"/>
          </a:xfrm>
          <a:prstGeom prst="rect">
            <a:avLst/>
          </a:prstGeom>
          <a:noFill/>
          <a:ln/>
        </p:spPr>
        <p:txBody>
          <a:bodyPr wrap="none" lIns="57150" tIns="0" rIns="57150" bIns="0" rtlCol="0" anchor="t"/>
          <a:lstStyle/>
          <a:p>
            <a:pPr algn="l" indent="0" marL="0">
              <a:lnSpc>
                <a:spcPts val="844"/>
              </a:lnSpc>
              <a:buNone/>
            </a:pPr>
            <a:r>
              <a:rPr lang="en-US" sz="800" b="1" spc="56" kern="0" dirty="0">
                <a:solidFill>
                  <a:srgbClr val="C9B8FF"/>
                </a:solidFill>
                <a:latin typeface="Liberation Sans Narrow" pitchFamily="34" charset="0"/>
                <a:ea typeface="Liberation Sans Narrow" pitchFamily="34" charset="-122"/>
                <a:cs typeface="Liberation Sans Narrow" pitchFamily="34" charset="-120"/>
              </a:rPr>
              <a:t>04</a:t>
            </a:r>
            <a:endParaRPr lang="en-US" sz="800" dirty="0"/>
          </a:p>
        </p:txBody>
      </p:sp>
      <p:sp>
        <p:nvSpPr>
          <p:cNvPr id="34" name="Text 31"/>
          <p:cNvSpPr/>
          <p:nvPr/>
        </p:nvSpPr>
        <p:spPr>
          <a:xfrm>
            <a:off x="5972175" y="1493713"/>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35" name="Text 32"/>
          <p:cNvSpPr/>
          <p:nvPr/>
        </p:nvSpPr>
        <p:spPr>
          <a:xfrm>
            <a:off x="6015038" y="1708026"/>
            <a:ext cx="228600" cy="228600"/>
          </a:xfrm>
          <a:prstGeom prst="rect">
            <a:avLst/>
          </a:prstGeom>
          <a:noFill/>
          <a:ln/>
        </p:spPr>
        <p:txBody>
          <a:bodyPr wrap="none" lIns="0" tIns="0" rIns="0" bIns="0" rtlCol="0" anchor="ctr"/>
          <a:lstStyle/>
          <a:p>
            <a:pPr algn="ctr" indent="0" marL="0">
              <a:buNone/>
            </a:pPr>
            <a:r>
              <a:rPr lang="en-US" sz="2250" dirty="0">
                <a:solidFill>
                  <a:srgbClr val="8363F9"/>
                </a:solidFill>
                <a:latin typeface="Segoe UI Symbol" pitchFamily="34" charset="0"/>
                <a:ea typeface="Segoe UI Symbol" pitchFamily="34" charset="-122"/>
                <a:cs typeface="Segoe UI Symbol" pitchFamily="34" charset="-120"/>
              </a:rPr>
              <a:t>€</a:t>
            </a:r>
            <a:endParaRPr lang="en-US" sz="2250" dirty="0"/>
          </a:p>
        </p:txBody>
      </p:sp>
      <p:sp>
        <p:nvSpPr>
          <p:cNvPr id="36" name="Text 33"/>
          <p:cNvSpPr/>
          <p:nvPr/>
        </p:nvSpPr>
        <p:spPr>
          <a:xfrm>
            <a:off x="5887367" y="2036638"/>
            <a:ext cx="483941" cy="164592"/>
          </a:xfrm>
          <a:prstGeom prst="rect">
            <a:avLst/>
          </a:prstGeom>
          <a:noFill/>
          <a:ln/>
        </p:spPr>
        <p:txBody>
          <a:bodyPr wrap="none" lIns="0" tIns="0" rIns="0" bIns="0" rtlCol="0" anchor="t"/>
          <a:lstStyle/>
          <a:p>
            <a:pPr algn="ctr" indent="0" marL="0">
              <a:lnSpc>
                <a:spcPts val="1013"/>
              </a:lnSpc>
              <a:buNone/>
            </a:pPr>
            <a:r>
              <a:rPr lang="en-US" sz="800" spc="14" kern="0" dirty="0">
                <a:solidFill>
                  <a:srgbClr val="F0EAFF"/>
                </a:solidFill>
                <a:latin typeface="Carlito" pitchFamily="34" charset="0"/>
                <a:ea typeface="Carlito" pitchFamily="34" charset="-122"/>
                <a:cs typeface="Carlito" pitchFamily="34" charset="-120"/>
              </a:rPr>
              <a:t>Memoria</a:t>
            </a:r>
            <a:endParaRPr lang="en-US" sz="800" dirty="0"/>
          </a:p>
        </p:txBody>
      </p:sp>
      <p:sp>
        <p:nvSpPr>
          <p:cNvPr id="37" name="Text 34"/>
          <p:cNvSpPr/>
          <p:nvPr/>
        </p:nvSpPr>
        <p:spPr>
          <a:xfrm>
            <a:off x="5846601" y="2265238"/>
            <a:ext cx="565472" cy="159106"/>
          </a:xfrm>
          <a:prstGeom prst="rect">
            <a:avLst/>
          </a:prstGeom>
          <a:noFill/>
          <a:ln/>
        </p:spPr>
        <p:txBody>
          <a:bodyPr wrap="none" lIns="28575" tIns="0" rIns="28575" bIns="0" rtlCol="0" anchor="t"/>
          <a:lstStyle/>
          <a:p>
            <a:pPr algn="ctr" indent="0" marL="0">
              <a:lnSpc>
                <a:spcPts val="816"/>
              </a:lnSpc>
              <a:buNone/>
            </a:pPr>
            <a:r>
              <a:rPr lang="en-US" sz="600" dirty="0">
                <a:solidFill>
                  <a:srgbClr val="7A6BA8"/>
                </a:solidFill>
                <a:latin typeface="Carlito" pitchFamily="34" charset="0"/>
                <a:ea typeface="Carlito" pitchFamily="34" charset="-122"/>
                <a:cs typeface="Carlito" pitchFamily="34" charset="-120"/>
              </a:rPr>
              <a:t>Plantas y raíces</a:t>
            </a:r>
            <a:endParaRPr lang="en-US" sz="600" dirty="0"/>
          </a:p>
        </p:txBody>
      </p:sp>
      <p:sp>
        <p:nvSpPr>
          <p:cNvPr id="38" name="Text 35"/>
          <p:cNvSpPr/>
          <p:nvPr/>
        </p:nvSpPr>
        <p:spPr>
          <a:xfrm>
            <a:off x="6815138" y="2486695"/>
            <a:ext cx="185738" cy="185738"/>
          </a:xfrm>
          <a:prstGeom prst="rect">
            <a:avLst/>
          </a:prstGeom>
          <a:noFill/>
          <a:ln/>
        </p:spPr>
        <p:txBody>
          <a:bodyPr wrap="none" lIns="0" tIns="0" rIns="0" bIns="0" rtlCol="0" anchor="ctr"/>
          <a:lstStyle/>
          <a:p>
            <a:pPr algn="ctr" indent="0" marL="0">
              <a:buNone/>
            </a:pPr>
            <a:r>
              <a:rPr lang="en-US" sz="1828" dirty="0">
                <a:solidFill>
                  <a:srgbClr val="C9B8FF"/>
                </a:solidFill>
                <a:latin typeface="Segoe UI Symbol" pitchFamily="34" charset="0"/>
                <a:ea typeface="Segoe UI Symbol" pitchFamily="34" charset="-122"/>
                <a:cs typeface="Segoe UI Symbol" pitchFamily="34" charset="-120"/>
              </a:rPr>
              <a:t>→</a:t>
            </a:r>
            <a:endParaRPr lang="en-US" sz="1828" dirty="0"/>
          </a:p>
        </p:txBody>
      </p:sp>
      <p:sp>
        <p:nvSpPr>
          <p:cNvPr id="39" name="Text 36"/>
          <p:cNvSpPr/>
          <p:nvPr/>
        </p:nvSpPr>
        <p:spPr>
          <a:xfrm>
            <a:off x="7043738" y="1293688"/>
            <a:ext cx="1285875" cy="2571750"/>
          </a:xfrm>
          <a:prstGeom prst="roundRect">
            <a:avLst>
              <a:gd name="adj" fmla="val 23704"/>
            </a:avLst>
          </a:prstGeom>
          <a:solidFill>
            <a:srgbClr val="221C4A"/>
          </a:solidFill>
          <a:ln/>
          <a:effectLst>
            <a:outerShdw sx="100000" sy="100000" kx="0" ky="0" algn="bl" rotWithShape="0" blurRad="285750" dist="114300" dir="5400000">
              <a:srgbClr val="000000">
                <a:alpha val="35000"/>
              </a:srgbClr>
            </a:outerShdw>
          </a:effectLst>
        </p:spPr>
        <p:txBody>
          <a:bodyPr wrap="square" rtlCol="0" anchor="ctr"/>
          <a:lstStyle/>
          <a:p>
            <a:pPr indent="0" marL="0">
              <a:buNone/>
            </a:pPr>
            <a:endParaRPr lang="en-US" dirty="0"/>
          </a:p>
        </p:txBody>
      </p:sp>
      <p:sp>
        <p:nvSpPr>
          <p:cNvPr id="40" name="Text 37"/>
          <p:cNvSpPr/>
          <p:nvPr/>
        </p:nvSpPr>
        <p:spPr>
          <a:xfrm>
            <a:off x="7571671" y="1215822"/>
            <a:ext cx="230007" cy="120015"/>
          </a:xfrm>
          <a:prstGeom prst="rect">
            <a:avLst/>
          </a:prstGeom>
          <a:solidFill>
            <a:srgbClr val="14102A"/>
          </a:solidFill>
          <a:ln/>
        </p:spPr>
        <p:txBody>
          <a:bodyPr wrap="square" rtlCol="0" anchor="ctr"/>
          <a:lstStyle/>
          <a:p>
            <a:pPr indent="0" marL="0">
              <a:buNone/>
            </a:pPr>
            <a:endParaRPr lang="en-US" dirty="0"/>
          </a:p>
        </p:txBody>
      </p:sp>
      <p:sp>
        <p:nvSpPr>
          <p:cNvPr id="41" name="Text 38"/>
          <p:cNvSpPr/>
          <p:nvPr/>
        </p:nvSpPr>
        <p:spPr>
          <a:xfrm>
            <a:off x="7582644" y="1222251"/>
            <a:ext cx="208062" cy="164592"/>
          </a:xfrm>
          <a:prstGeom prst="rect">
            <a:avLst/>
          </a:prstGeom>
          <a:noFill/>
          <a:ln/>
        </p:spPr>
        <p:txBody>
          <a:bodyPr wrap="none" lIns="57150" tIns="0" rIns="57150" bIns="0" rtlCol="0" anchor="t"/>
          <a:lstStyle/>
          <a:p>
            <a:pPr algn="l" indent="0" marL="0">
              <a:lnSpc>
                <a:spcPts val="844"/>
              </a:lnSpc>
              <a:buNone/>
            </a:pPr>
            <a:r>
              <a:rPr lang="en-US" sz="800" b="1" spc="56" kern="0" dirty="0">
                <a:solidFill>
                  <a:srgbClr val="C9B8FF"/>
                </a:solidFill>
                <a:latin typeface="Liberation Sans Narrow" pitchFamily="34" charset="0"/>
                <a:ea typeface="Liberation Sans Narrow" pitchFamily="34" charset="-122"/>
                <a:cs typeface="Liberation Sans Narrow" pitchFamily="34" charset="-120"/>
              </a:rPr>
              <a:t>05</a:t>
            </a:r>
            <a:endParaRPr lang="en-US" sz="800" dirty="0"/>
          </a:p>
        </p:txBody>
      </p:sp>
      <p:sp>
        <p:nvSpPr>
          <p:cNvPr id="42" name="Text 39"/>
          <p:cNvSpPr/>
          <p:nvPr/>
        </p:nvSpPr>
        <p:spPr>
          <a:xfrm>
            <a:off x="7529513" y="1493713"/>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43" name="Text 40"/>
          <p:cNvSpPr/>
          <p:nvPr/>
        </p:nvSpPr>
        <p:spPr>
          <a:xfrm>
            <a:off x="7572375" y="1708026"/>
            <a:ext cx="228600" cy="228600"/>
          </a:xfrm>
          <a:prstGeom prst="rect">
            <a:avLst/>
          </a:prstGeom>
          <a:noFill/>
          <a:ln/>
        </p:spPr>
        <p:txBody>
          <a:bodyPr wrap="none" lIns="0" tIns="0" rIns="0" bIns="0" rtlCol="0" anchor="ctr"/>
          <a:lstStyle/>
          <a:p>
            <a:pPr algn="ctr" indent="0" marL="0">
              <a:buNone/>
            </a:pPr>
            <a:r>
              <a:rPr lang="en-US" sz="2250" dirty="0">
                <a:solidFill>
                  <a:srgbClr val="8363F9"/>
                </a:solidFill>
                <a:latin typeface="Segoe UI Symbol" pitchFamily="34" charset="0"/>
                <a:ea typeface="Segoe UI Symbol" pitchFamily="34" charset="-122"/>
                <a:cs typeface="Segoe UI Symbol" pitchFamily="34" charset="-120"/>
              </a:rPr>
              <a:t>⚙</a:t>
            </a:r>
            <a:endParaRPr lang="en-US" sz="2250" dirty="0"/>
          </a:p>
        </p:txBody>
      </p:sp>
      <p:sp>
        <p:nvSpPr>
          <p:cNvPr id="44" name="Text 41"/>
          <p:cNvSpPr/>
          <p:nvPr/>
        </p:nvSpPr>
        <p:spPr>
          <a:xfrm>
            <a:off x="7480792" y="2036638"/>
            <a:ext cx="411766" cy="164592"/>
          </a:xfrm>
          <a:prstGeom prst="rect">
            <a:avLst/>
          </a:prstGeom>
          <a:noFill/>
          <a:ln/>
        </p:spPr>
        <p:txBody>
          <a:bodyPr wrap="none" lIns="0" tIns="0" rIns="0" bIns="0" rtlCol="0" anchor="t"/>
          <a:lstStyle/>
          <a:p>
            <a:pPr algn="ctr" indent="0" marL="0">
              <a:lnSpc>
                <a:spcPts val="1013"/>
              </a:lnSpc>
              <a:buNone/>
            </a:pPr>
            <a:r>
              <a:rPr lang="en-US" sz="675" spc="14" kern="0" dirty="0">
                <a:solidFill>
                  <a:srgbClr val="F0EAFF"/>
                </a:solidFill>
                <a:latin typeface="Carlito" pitchFamily="34" charset="0"/>
                <a:ea typeface="Carlito" pitchFamily="34" charset="-122"/>
                <a:cs typeface="Carlito" pitchFamily="34" charset="-120"/>
              </a:rPr>
              <a:t>Ajustes</a:t>
            </a:r>
            <a:endParaRPr lang="en-US" sz="675" dirty="0"/>
          </a:p>
        </p:txBody>
      </p:sp>
      <p:sp>
        <p:nvSpPr>
          <p:cNvPr id="45" name="Text 42"/>
          <p:cNvSpPr/>
          <p:nvPr/>
        </p:nvSpPr>
        <p:spPr>
          <a:xfrm>
            <a:off x="7354082" y="2265238"/>
            <a:ext cx="665074" cy="159106"/>
          </a:xfrm>
          <a:prstGeom prst="rect">
            <a:avLst/>
          </a:prstGeom>
          <a:noFill/>
          <a:ln/>
        </p:spPr>
        <p:txBody>
          <a:bodyPr wrap="none" lIns="28575" tIns="0" rIns="28575" bIns="0" rtlCol="0" anchor="t"/>
          <a:lstStyle/>
          <a:p>
            <a:pPr algn="ctr" indent="0" marL="0">
              <a:lnSpc>
                <a:spcPts val="816"/>
              </a:lnSpc>
              <a:buNone/>
            </a:pPr>
            <a:r>
              <a:rPr lang="en-US" sz="600" dirty="0">
                <a:solidFill>
                  <a:srgbClr val="7A6BA8"/>
                </a:solidFill>
                <a:latin typeface="Carlito" pitchFamily="34" charset="0"/>
                <a:ea typeface="Carlito" pitchFamily="34" charset="-122"/>
                <a:cs typeface="Carlito" pitchFamily="34" charset="-120"/>
              </a:rPr>
              <a:t>Solo modelo IA</a:t>
            </a:r>
            <a:endParaRPr lang="en-US" sz="600" dirty="0"/>
          </a:p>
        </p:txBody>
      </p:sp>
      <p:sp>
        <p:nvSpPr>
          <p:cNvPr id="46" name="Text 43"/>
          <p:cNvSpPr/>
          <p:nvPr/>
        </p:nvSpPr>
        <p:spPr>
          <a:xfrm>
            <a:off x="460772" y="4346972"/>
            <a:ext cx="8222456" cy="421481"/>
          </a:xfrm>
          <a:prstGeom prst="roundRect">
            <a:avLst>
              <a:gd name="adj" fmla="val 36158"/>
            </a:avLst>
          </a:prstGeom>
          <a:solidFill>
            <a:srgbClr val="221C4A"/>
          </a:solidFill>
          <a:ln w="7144">
            <a:solidFill>
              <a:srgbClr val="FBBF24"/>
            </a:solidFill>
            <a:prstDash val="solid"/>
          </a:ln>
        </p:spPr>
        <p:txBody>
          <a:bodyPr wrap="square" rtlCol="0" anchor="ctr"/>
          <a:lstStyle/>
          <a:p>
            <a:pPr indent="0" marL="0">
              <a:buNone/>
            </a:pPr>
            <a:endParaRPr lang="en-US" dirty="0"/>
          </a:p>
        </p:txBody>
      </p:sp>
      <p:sp>
        <p:nvSpPr>
          <p:cNvPr id="47" name="Text 44"/>
          <p:cNvSpPr/>
          <p:nvPr/>
        </p:nvSpPr>
        <p:spPr>
          <a:xfrm>
            <a:off x="607219" y="4464844"/>
            <a:ext cx="185738" cy="185738"/>
          </a:xfrm>
          <a:prstGeom prst="rect">
            <a:avLst/>
          </a:prstGeom>
          <a:noFill/>
          <a:ln/>
        </p:spPr>
        <p:txBody>
          <a:bodyPr wrap="none" lIns="0" tIns="0" rIns="0" bIns="0" rtlCol="0" anchor="ctr"/>
          <a:lstStyle/>
          <a:p>
            <a:pPr algn="ctr" indent="0" marL="0">
              <a:buNone/>
            </a:pPr>
            <a:r>
              <a:rPr lang="en-US" sz="1828" dirty="0">
                <a:solidFill>
                  <a:srgbClr val="FBBF24"/>
                </a:solidFill>
                <a:latin typeface="Segoe UI Symbol" pitchFamily="34" charset="0"/>
                <a:ea typeface="Segoe UI Symbol" pitchFamily="34" charset="-122"/>
                <a:cs typeface="Segoe UI Symbol" pitchFamily="34" charset="-120"/>
              </a:rPr>
              <a:t>⚠</a:t>
            </a:r>
            <a:endParaRPr lang="en-US" sz="1828" dirty="0"/>
          </a:p>
        </p:txBody>
      </p:sp>
      <p:sp>
        <p:nvSpPr>
          <p:cNvPr id="48" name="Text 45"/>
          <p:cNvSpPr/>
          <p:nvPr/>
        </p:nvSpPr>
        <p:spPr>
          <a:xfrm>
            <a:off x="892969" y="4485159"/>
            <a:ext cx="7643813" cy="159081"/>
          </a:xfrm>
          <a:prstGeom prst="rect">
            <a:avLst/>
          </a:prstGeom>
          <a:noFill/>
          <a:ln/>
        </p:spPr>
        <p:txBody>
          <a:bodyPr wrap="square" lIns="0" tIns="0" rIns="0" bIns="0" rtlCol="0" anchor="t"/>
          <a:lstStyle/>
          <a:p>
            <a:pPr algn="l" indent="0" marL="0">
              <a:lnSpc>
                <a:spcPts val="1142"/>
              </a:lnSpc>
              <a:buNone/>
            </a:pPr>
            <a:r>
              <a:rPr lang="en-US" sz="800" dirty="0">
                <a:solidFill>
                  <a:srgbClr val="F0EAFF"/>
                </a:solidFill>
                <a:latin typeface="Carlito" pitchFamily="34" charset="0"/>
                <a:ea typeface="Carlito" pitchFamily="34" charset="-122"/>
                <a:cs typeface="Carlito" pitchFamily="34" charset="-120"/>
              </a:rPr>
              <a:t>Problema:</a:t>
            </a:r>
            <a:pPr algn="l" indent="0" marL="0">
              <a:lnSpc>
                <a:spcPts val="1142"/>
              </a:lnSpc>
              <a:buNone/>
            </a:pPr>
            <a:r>
              <a:rPr lang="en-US" sz="800" dirty="0">
                <a:solidFill>
                  <a:srgbClr val="B8A8E0"/>
                </a:solidFill>
                <a:latin typeface="Carlito" pitchFamily="34" charset="0"/>
                <a:ea typeface="Carlito" pitchFamily="34" charset="-122"/>
                <a:cs typeface="Carlito" pitchFamily="34" charset="-120"/>
              </a:rPr>
              <a:t> el chat NO tiene navegación de vuelta. Una vez adentro, solo back button.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0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285875" y="-1143000"/>
            <a:ext cx="3857625" cy="3857625"/>
          </a:xfrm>
          <a:prstGeom prst="rect">
            <a:avLst/>
          </a:prstGeom>
        </p:spPr>
      </p:pic>
      <p:sp>
        <p:nvSpPr>
          <p:cNvPr id="3" name="Text 0"/>
          <p:cNvSpPr/>
          <p:nvPr/>
        </p:nvSpPr>
        <p:spPr>
          <a:xfrm>
            <a:off x="-1285875" y="-1143000"/>
            <a:ext cx="3857625" cy="3857625"/>
          </a:xfrm>
          <a:prstGeom prst="ellipse">
            <a:avLst/>
          </a:prstGeom>
          <a:solidFill>
            <a:srgbClr val="FDA4AF">
              <a:alpha val="5000"/>
            </a:srgbClr>
          </a:solidFill>
          <a:ln/>
        </p:spPr>
        <p:txBody>
          <a:bodyPr wrap="square" rtlCol="0" anchor="ctr"/>
          <a:lstStyle/>
          <a:p>
            <a:pPr indent="0" marL="0">
              <a:buNone/>
            </a:pPr>
            <a:endParaRPr lang="en-US" dirty="0"/>
          </a:p>
        </p:txBody>
      </p:sp>
      <p:sp>
        <p:nvSpPr>
          <p:cNvPr id="4" name="Text 1"/>
          <p:cNvSpPr/>
          <p:nvPr/>
        </p:nvSpPr>
        <p:spPr>
          <a:xfrm>
            <a:off x="6553391" y="228600"/>
            <a:ext cx="2590610" cy="1543050"/>
          </a:xfrm>
          <a:prstGeom prst="rect">
            <a:avLst/>
          </a:prstGeom>
          <a:noFill/>
          <a:ln/>
        </p:spPr>
        <p:txBody>
          <a:bodyPr wrap="none" lIns="0" tIns="0" rIns="0" bIns="0" rtlCol="0" anchor="t"/>
          <a:lstStyle/>
          <a:p>
            <a:pPr algn="l" indent="0" marL="0">
              <a:lnSpc>
                <a:spcPts val="11250"/>
              </a:lnSpc>
              <a:buNone/>
            </a:pPr>
            <a:r>
              <a:rPr lang="en-US" sz="11250" b="1" dirty="0">
                <a:solidFill>
                  <a:srgbClr val="8363F9">
                    <a:alpha val="5000"/>
                  </a:srgbClr>
                </a:solidFill>
                <a:latin typeface="Liberation Sans Narrow" pitchFamily="34" charset="0"/>
                <a:ea typeface="Liberation Sans Narrow" pitchFamily="34" charset="-122"/>
                <a:cs typeface="Liberation Sans Narrow" pitchFamily="34" charset="-120"/>
              </a:rPr>
              <a:t>01</a:t>
            </a:r>
            <a:endParaRPr lang="en-US" sz="11250" dirty="0"/>
          </a:p>
        </p:txBody>
      </p:sp>
      <p:sp>
        <p:nvSpPr>
          <p:cNvPr id="5" name="Text 2"/>
          <p:cNvSpPr/>
          <p:nvPr/>
        </p:nvSpPr>
        <p:spPr>
          <a:xfrm>
            <a:off x="491490" y="1610125"/>
            <a:ext cx="777620" cy="196025"/>
          </a:xfrm>
          <a:prstGeom prst="roundRect">
            <a:avLst>
              <a:gd name="adj" fmla="val 4854215"/>
            </a:avLst>
          </a:prstGeom>
          <a:solidFill>
            <a:srgbClr val="FDA4AF">
              <a:alpha val="15000"/>
            </a:srgbClr>
          </a:solidFill>
          <a:ln/>
        </p:spPr>
        <p:txBody>
          <a:bodyPr wrap="square" rtlCol="0" anchor="ctr"/>
          <a:lstStyle/>
          <a:p>
            <a:pPr indent="0" marL="0">
              <a:buNone/>
            </a:pPr>
            <a:endParaRPr lang="en-US" dirty="0"/>
          </a:p>
        </p:txBody>
      </p:sp>
      <p:sp>
        <p:nvSpPr>
          <p:cNvPr id="6" name="Text 3"/>
          <p:cNvSpPr/>
          <p:nvPr/>
        </p:nvSpPr>
        <p:spPr>
          <a:xfrm>
            <a:off x="474083" y="1620627"/>
            <a:ext cx="812434"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DA4AF"/>
                </a:solidFill>
                <a:latin typeface="Liberation Sans Narrow" pitchFamily="34" charset="0"/>
                <a:ea typeface="Liberation Sans Narrow" pitchFamily="34" charset="-122"/>
                <a:cs typeface="Liberation Sans Narrow" pitchFamily="34" charset="-120"/>
              </a:rPr>
              <a:t>HALLAZGO 01</a:t>
            </a:r>
            <a:endParaRPr lang="en-US" sz="800" dirty="0"/>
          </a:p>
        </p:txBody>
      </p:sp>
      <p:sp>
        <p:nvSpPr>
          <p:cNvPr id="7" name="Text 4"/>
          <p:cNvSpPr/>
          <p:nvPr/>
        </p:nvSpPr>
        <p:spPr>
          <a:xfrm>
            <a:off x="514350" y="1924236"/>
            <a:ext cx="6286500" cy="259184"/>
          </a:xfrm>
          <a:prstGeom prst="rect">
            <a:avLst/>
          </a:prstGeom>
          <a:noFill/>
          <a:ln/>
        </p:spPr>
        <p:txBody>
          <a:bodyPr wrap="square" lIns="0" tIns="0" rIns="0" bIns="0" rtlCol="0" anchor="t"/>
          <a:lstStyle/>
          <a:p>
            <a:pPr algn="l" indent="0" marL="0">
              <a:lnSpc>
                <a:spcPts val="1890"/>
              </a:lnSpc>
              <a:buNone/>
            </a:pPr>
            <a:r>
              <a:rPr lang="en-US" sz="1575" b="1" spc="-16" kern="0" dirty="0">
                <a:solidFill>
                  <a:srgbClr val="F0EAFF"/>
                </a:solidFill>
                <a:latin typeface="Carlito" pitchFamily="34" charset="0"/>
                <a:ea typeface="Carlito" pitchFamily="34" charset="-122"/>
                <a:cs typeface="Carlito" pitchFamily="34" charset="-120"/>
              </a:rPr>
              <a:t>No hay onboarding de bienvenida</a:t>
            </a:r>
            <a:endParaRPr lang="en-US" sz="1575" dirty="0"/>
          </a:p>
        </p:txBody>
      </p:sp>
      <p:sp>
        <p:nvSpPr>
          <p:cNvPr id="8" name="Text 5"/>
          <p:cNvSpPr/>
          <p:nvPr/>
        </p:nvSpPr>
        <p:spPr>
          <a:xfrm>
            <a:off x="514350" y="2292809"/>
            <a:ext cx="5715000" cy="526474"/>
          </a:xfrm>
          <a:prstGeom prst="rect">
            <a:avLst/>
          </a:prstGeom>
          <a:noFill/>
          <a:ln/>
        </p:spPr>
        <p:txBody>
          <a:bodyPr wrap="square" lIns="0" tIns="0" rIns="0" bIns="0" rtlCol="0" anchor="t"/>
          <a:lstStyle/>
          <a:p>
            <a:pPr algn="l" indent="0" marL="0">
              <a:lnSpc>
                <a:spcPts val="1260"/>
              </a:lnSpc>
              <a:buNone/>
            </a:pPr>
            <a:r>
              <a:rPr lang="en-US" sz="800" dirty="0">
                <a:solidFill>
                  <a:srgbClr val="B8A8E0"/>
                </a:solidFill>
                <a:latin typeface="Carlito" pitchFamily="34" charset="0"/>
                <a:ea typeface="Carlito" pitchFamily="34" charset="-122"/>
                <a:cs typeface="Carlito" pitchFamily="34" charset="-120"/>
              </a:rPr>
              <a:t>Cuando un usuario abre Koru por primera vez, ve una pantalla con la mascota y dos botones: "Hablar con Koru" y "o escribir". No hay explicación de qué hace Koru, qué puede hacer por vos, ni cómo funciona. El usuario tiene que adivinar el valor del producto.</a:t>
            </a:r>
            <a:endParaRPr lang="en-US" sz="800" dirty="0"/>
          </a:p>
        </p:txBody>
      </p:sp>
      <p:sp>
        <p:nvSpPr>
          <p:cNvPr id="9" name="Text 6"/>
          <p:cNvSpPr/>
          <p:nvPr/>
        </p:nvSpPr>
        <p:spPr>
          <a:xfrm>
            <a:off x="514350" y="2936974"/>
            <a:ext cx="142875" cy="142875"/>
          </a:xfrm>
          <a:prstGeom prst="rect">
            <a:avLst/>
          </a:prstGeom>
          <a:noFill/>
          <a:ln/>
        </p:spPr>
        <p:txBody>
          <a:bodyPr wrap="none" lIns="0" tIns="0" rIns="0" bIns="0" rtlCol="0" anchor="ctr"/>
          <a:lstStyle/>
          <a:p>
            <a:pPr algn="ctr" indent="0" marL="0">
              <a:buNone/>
            </a:pPr>
            <a:r>
              <a:rPr lang="en-US" sz="1406" dirty="0">
                <a:solidFill>
                  <a:srgbClr val="FDA4AF"/>
                </a:solidFill>
                <a:latin typeface="Segoe UI Symbol" pitchFamily="34" charset="0"/>
                <a:ea typeface="Segoe UI Symbol" pitchFamily="34" charset="-122"/>
                <a:cs typeface="Segoe UI Symbol" pitchFamily="34" charset="-120"/>
              </a:rPr>
              <a:t>✕</a:t>
            </a:r>
            <a:endParaRPr lang="en-US" sz="1406" dirty="0"/>
          </a:p>
        </p:txBody>
      </p:sp>
      <p:sp>
        <p:nvSpPr>
          <p:cNvPr id="10" name="Text 7"/>
          <p:cNvSpPr/>
          <p:nvPr/>
        </p:nvSpPr>
        <p:spPr>
          <a:xfrm>
            <a:off x="742950" y="2929830"/>
            <a:ext cx="5486400" cy="164592"/>
          </a:xfrm>
          <a:prstGeom prst="rect">
            <a:avLst/>
          </a:prstGeom>
          <a:noFill/>
          <a:ln/>
        </p:spPr>
        <p:txBody>
          <a:bodyPr wrap="square" lIns="0" tIns="0" rIns="0" bIns="0" rtlCol="0" anchor="t"/>
          <a:lstStyle/>
          <a:p>
            <a:pPr algn="l" indent="0" marL="0">
              <a:lnSpc>
                <a:spcPts val="1181"/>
              </a:lnSpc>
              <a:buNone/>
            </a:pPr>
            <a:r>
              <a:rPr lang="en-US" sz="800" dirty="0">
                <a:solidFill>
                  <a:srgbClr val="B8A8E0"/>
                </a:solidFill>
                <a:latin typeface="Carlito" pitchFamily="34" charset="0"/>
                <a:ea typeface="Carlito" pitchFamily="34" charset="-122"/>
                <a:cs typeface="Carlito" pitchFamily="34" charset="-120"/>
              </a:rPr>
              <a:t>No explica qué es Koru (asistente, chatbot, agenda)</a:t>
            </a:r>
            <a:endParaRPr lang="en-US" sz="800" dirty="0"/>
          </a:p>
        </p:txBody>
      </p:sp>
      <p:sp>
        <p:nvSpPr>
          <p:cNvPr id="11" name="Text 8"/>
          <p:cNvSpPr/>
          <p:nvPr/>
        </p:nvSpPr>
        <p:spPr>
          <a:xfrm>
            <a:off x="514350" y="3158430"/>
            <a:ext cx="142875" cy="142875"/>
          </a:xfrm>
          <a:prstGeom prst="rect">
            <a:avLst/>
          </a:prstGeom>
          <a:noFill/>
          <a:ln/>
        </p:spPr>
        <p:txBody>
          <a:bodyPr wrap="none" lIns="0" tIns="0" rIns="0" bIns="0" rtlCol="0" anchor="ctr"/>
          <a:lstStyle/>
          <a:p>
            <a:pPr algn="ctr" indent="0" marL="0">
              <a:buNone/>
            </a:pPr>
            <a:r>
              <a:rPr lang="en-US" sz="1406" dirty="0">
                <a:solidFill>
                  <a:srgbClr val="FDA4AF"/>
                </a:solidFill>
                <a:latin typeface="Segoe UI Symbol" pitchFamily="34" charset="0"/>
                <a:ea typeface="Segoe UI Symbol" pitchFamily="34" charset="-122"/>
                <a:cs typeface="Segoe UI Symbol" pitchFamily="34" charset="-120"/>
              </a:rPr>
              <a:t>✕</a:t>
            </a:r>
            <a:endParaRPr lang="en-US" sz="1406" dirty="0"/>
          </a:p>
        </p:txBody>
      </p:sp>
      <p:sp>
        <p:nvSpPr>
          <p:cNvPr id="12" name="Text 9"/>
          <p:cNvSpPr/>
          <p:nvPr/>
        </p:nvSpPr>
        <p:spPr>
          <a:xfrm>
            <a:off x="742950" y="3151287"/>
            <a:ext cx="5486400" cy="164592"/>
          </a:xfrm>
          <a:prstGeom prst="rect">
            <a:avLst/>
          </a:prstGeom>
          <a:noFill/>
          <a:ln/>
        </p:spPr>
        <p:txBody>
          <a:bodyPr wrap="square" lIns="0" tIns="0" rIns="0" bIns="0" rtlCol="0" anchor="t"/>
          <a:lstStyle/>
          <a:p>
            <a:pPr algn="l" indent="0" marL="0">
              <a:lnSpc>
                <a:spcPts val="1181"/>
              </a:lnSpc>
              <a:buNone/>
            </a:pPr>
            <a:r>
              <a:rPr lang="en-US" sz="800" dirty="0">
                <a:solidFill>
                  <a:srgbClr val="B8A8E0"/>
                </a:solidFill>
                <a:latin typeface="Carlito" pitchFamily="34" charset="0"/>
                <a:ea typeface="Carlito" pitchFamily="34" charset="-122"/>
                <a:cs typeface="Carlito" pitchFamily="34" charset="-120"/>
              </a:rPr>
              <a:t>No muestra ejemplos de qué podés pedirle</a:t>
            </a:r>
            <a:endParaRPr lang="en-US" sz="800" dirty="0"/>
          </a:p>
        </p:txBody>
      </p:sp>
      <p:sp>
        <p:nvSpPr>
          <p:cNvPr id="13" name="Text 10"/>
          <p:cNvSpPr/>
          <p:nvPr/>
        </p:nvSpPr>
        <p:spPr>
          <a:xfrm>
            <a:off x="514350" y="3379887"/>
            <a:ext cx="142875" cy="142875"/>
          </a:xfrm>
          <a:prstGeom prst="rect">
            <a:avLst/>
          </a:prstGeom>
          <a:noFill/>
          <a:ln/>
        </p:spPr>
        <p:txBody>
          <a:bodyPr wrap="none" lIns="0" tIns="0" rIns="0" bIns="0" rtlCol="0" anchor="ctr"/>
          <a:lstStyle/>
          <a:p>
            <a:pPr algn="ctr" indent="0" marL="0">
              <a:buNone/>
            </a:pPr>
            <a:r>
              <a:rPr lang="en-US" sz="1406" dirty="0">
                <a:solidFill>
                  <a:srgbClr val="FDA4AF"/>
                </a:solidFill>
                <a:latin typeface="Segoe UI Symbol" pitchFamily="34" charset="0"/>
                <a:ea typeface="Segoe UI Symbol" pitchFamily="34" charset="-122"/>
                <a:cs typeface="Segoe UI Symbol" pitchFamily="34" charset="-120"/>
              </a:rPr>
              <a:t>✕</a:t>
            </a:r>
            <a:endParaRPr lang="en-US" sz="1406" dirty="0"/>
          </a:p>
        </p:txBody>
      </p:sp>
      <p:sp>
        <p:nvSpPr>
          <p:cNvPr id="14" name="Text 11"/>
          <p:cNvSpPr/>
          <p:nvPr/>
        </p:nvSpPr>
        <p:spPr>
          <a:xfrm>
            <a:off x="742950" y="3372743"/>
            <a:ext cx="5486400" cy="164592"/>
          </a:xfrm>
          <a:prstGeom prst="rect">
            <a:avLst/>
          </a:prstGeom>
          <a:noFill/>
          <a:ln/>
        </p:spPr>
        <p:txBody>
          <a:bodyPr wrap="square" lIns="0" tIns="0" rIns="0" bIns="0" rtlCol="0" anchor="t"/>
          <a:lstStyle/>
          <a:p>
            <a:pPr algn="l" indent="0" marL="0">
              <a:lnSpc>
                <a:spcPts val="1181"/>
              </a:lnSpc>
              <a:buNone/>
            </a:pPr>
            <a:r>
              <a:rPr lang="en-US" sz="800" dirty="0">
                <a:solidFill>
                  <a:srgbClr val="B8A8E0"/>
                </a:solidFill>
                <a:latin typeface="Carlito" pitchFamily="34" charset="0"/>
                <a:ea typeface="Carlito" pitchFamily="34" charset="-122"/>
                <a:cs typeface="Carlito" pitchFamily="34" charset="-120"/>
              </a:rPr>
              <a:t>El botón "o escribir" es ambiguo — ¿escribir qué?</a:t>
            </a:r>
            <a:endParaRPr lang="en-US" sz="800" dirty="0"/>
          </a:p>
        </p:txBody>
      </p:sp>
      <p:sp>
        <p:nvSpPr>
          <p:cNvPr id="15" name="Text 12"/>
          <p:cNvSpPr/>
          <p:nvPr/>
        </p:nvSpPr>
        <p:spPr>
          <a:xfrm>
            <a:off x="6629400" y="533995"/>
            <a:ext cx="2000250" cy="3857625"/>
          </a:xfrm>
          <a:prstGeom prst="roundRect">
            <a:avLst>
              <a:gd name="adj" fmla="val 17143"/>
            </a:avLst>
          </a:prstGeom>
          <a:solidFill>
            <a:srgbClr val="453F6A"/>
          </a:solidFill>
          <a:ln/>
          <a:effectLst>
            <a:outerShdw sx="100000" sy="100000" kx="0" ky="0" algn="bl" rotWithShape="0" blurRad="571500" dist="228600" dir="5400000">
              <a:srgbClr val="000000">
                <a:alpha val="55000"/>
              </a:srgbClr>
            </a:outerShdw>
          </a:effectLst>
        </p:spPr>
        <p:txBody>
          <a:bodyPr wrap="square" rtlCol="0" anchor="ctr"/>
          <a:lstStyle/>
          <a:p>
            <a:pPr indent="0" marL="0">
              <a:buNone/>
            </a:pPr>
            <a:endParaRPr lang="en-US" dirty="0"/>
          </a:p>
        </p:txBody>
      </p:sp>
      <p:pic>
        <p:nvPicPr>
          <p:cNvPr id="16" name="Image 1" descr="/tmp/h2p-fit-1783825565285-a4xx7g.png">    </p:cNvPr>
          <p:cNvPicPr>
            <a:picLocks noChangeAspect="1"/>
          </p:cNvPicPr>
          <p:nvPr/>
        </p:nvPicPr>
        <p:blipFill>
          <a:blip r:embed="rId2"/>
          <a:stretch>
            <a:fillRect/>
          </a:stretch>
        </p:blipFill>
        <p:spPr>
          <a:xfrm>
            <a:off x="6629400" y="533995"/>
            <a:ext cx="2000250" cy="3857625"/>
          </a:xfrm>
          <a:prstGeom prst="rect">
            <a:avLst/>
          </a:prstGeom>
        </p:spPr>
      </p:pic>
      <p:sp>
        <p:nvSpPr>
          <p:cNvPr id="17" name="Text 13"/>
          <p:cNvSpPr/>
          <p:nvPr/>
        </p:nvSpPr>
        <p:spPr>
          <a:xfrm>
            <a:off x="6905256" y="4491633"/>
            <a:ext cx="1448538" cy="164592"/>
          </a:xfrm>
          <a:prstGeom prst="rect">
            <a:avLst/>
          </a:prstGeom>
          <a:noFill/>
          <a:ln/>
        </p:spPr>
        <p:txBody>
          <a:bodyPr wrap="square" lIns="0" tIns="0" rIns="0" bIns="0" rtlCol="0" anchor="t"/>
          <a:lstStyle/>
          <a:p>
            <a:pPr algn="ctr" indent="0" marL="0">
              <a:lnSpc>
                <a:spcPts val="928"/>
              </a:lnSpc>
              <a:buNone/>
            </a:pPr>
            <a:r>
              <a:rPr lang="en-US" sz="619" dirty="0">
                <a:solidFill>
                  <a:srgbClr val="7A6BA8"/>
                </a:solidFill>
                <a:latin typeface="Carlito" pitchFamily="34" charset="0"/>
                <a:ea typeface="Carlito" pitchFamily="34" charset="-122"/>
                <a:cs typeface="Carlito" pitchFamily="34" charset="-120"/>
              </a:rPr>
              <a:t>Estado actual: bienvenida sin contexto</a:t>
            </a:r>
            <a:endParaRPr lang="en-US" sz="61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400050" y="303824"/>
            <a:ext cx="661467" cy="196025"/>
          </a:xfrm>
          <a:prstGeom prst="roundRect">
            <a:avLst>
              <a:gd name="adj" fmla="val 4854215"/>
            </a:avLst>
          </a:prstGeom>
          <a:solidFill>
            <a:srgbClr val="6EE7B7">
              <a:alpha val="15000"/>
            </a:srgbClr>
          </a:solidFill>
          <a:ln/>
        </p:spPr>
        <p:txBody>
          <a:bodyPr wrap="square" rtlCol="0" anchor="ctr"/>
          <a:lstStyle/>
          <a:p>
            <a:pPr indent="0" marL="0">
              <a:buNone/>
            </a:pPr>
            <a:endParaRPr lang="en-US" dirty="0"/>
          </a:p>
        </p:txBody>
      </p:sp>
      <p:sp>
        <p:nvSpPr>
          <p:cNvPr id="3" name="Text 1"/>
          <p:cNvSpPr/>
          <p:nvPr/>
        </p:nvSpPr>
        <p:spPr>
          <a:xfrm>
            <a:off x="378516" y="314325"/>
            <a:ext cx="704535"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6EE7B7"/>
                </a:solidFill>
                <a:latin typeface="Carlito" pitchFamily="34" charset="0"/>
                <a:ea typeface="Carlito" pitchFamily="34" charset="-122"/>
                <a:cs typeface="Carlito" pitchFamily="34" charset="-120"/>
              </a:rPr>
              <a:t>PROPUESTA</a:t>
            </a:r>
            <a:endParaRPr lang="en-US" sz="800" dirty="0"/>
          </a:p>
        </p:txBody>
      </p:sp>
      <p:sp>
        <p:nvSpPr>
          <p:cNvPr id="4" name="Text 2"/>
          <p:cNvSpPr/>
          <p:nvPr/>
        </p:nvSpPr>
        <p:spPr>
          <a:xfrm>
            <a:off x="1132954" y="337542"/>
            <a:ext cx="2526320" cy="164592"/>
          </a:xfrm>
          <a:prstGeom prst="rect">
            <a:avLst/>
          </a:prstGeom>
          <a:noFill/>
          <a:ln/>
        </p:spPr>
        <p:txBody>
          <a:bodyPr wrap="square" lIns="0" tIns="0" rIns="0" bIns="0" rtlCol="0" anchor="t"/>
          <a:lstStyle/>
          <a:p>
            <a:pPr algn="l" indent="0" marL="0">
              <a:lnSpc>
                <a:spcPts val="1013"/>
              </a:lnSpc>
              <a:buNone/>
            </a:pPr>
            <a:r>
              <a:rPr lang="en-US" sz="800" dirty="0">
                <a:solidFill>
                  <a:srgbClr val="7A6BA8"/>
                </a:solidFill>
                <a:latin typeface="Liberation Sans Narrow" pitchFamily="34" charset="0"/>
                <a:ea typeface="Liberation Sans Narrow" pitchFamily="34" charset="-122"/>
                <a:cs typeface="Liberation Sans Narrow" pitchFamily="34" charset="-120"/>
              </a:rPr>
              <a:t>3 pasos · onboarding</a:t>
            </a:r>
            <a:endParaRPr lang="en-US" sz="800" dirty="0"/>
          </a:p>
        </p:txBody>
      </p:sp>
      <p:sp>
        <p:nvSpPr>
          <p:cNvPr id="5" name="Text 3"/>
          <p:cNvSpPr/>
          <p:nvPr/>
        </p:nvSpPr>
        <p:spPr>
          <a:xfrm>
            <a:off x="400050" y="546497"/>
            <a:ext cx="3585147" cy="245370"/>
          </a:xfrm>
          <a:prstGeom prst="rect">
            <a:avLst/>
          </a:prstGeom>
          <a:noFill/>
          <a:ln/>
        </p:spPr>
        <p:txBody>
          <a:bodyPr wrap="square" lIns="0" tIns="0" rIns="0" bIns="0" rtlCol="0" anchor="t">
            <a:normAutofit/>
          </a:bodyPr>
          <a:lstStyle/>
          <a:p>
            <a:pPr algn="l" indent="0" marL="0">
              <a:lnSpc>
                <a:spcPts val="1811"/>
              </a:lnSpc>
              <a:buNone/>
            </a:pPr>
            <a:r>
              <a:rPr lang="en-US" sz="1575" b="1" spc="-16" kern="0" dirty="0">
                <a:solidFill>
                  <a:srgbClr val="F0EAFF"/>
                </a:solidFill>
                <a:latin typeface="Liberation Sans Narrow" pitchFamily="34" charset="0"/>
                <a:ea typeface="Liberation Sans Narrow" pitchFamily="34" charset="-122"/>
                <a:cs typeface="Liberation Sans Narrow" pitchFamily="34" charset="-120"/>
              </a:rPr>
              <a:t>Propuesta: Onboarding de 3 pasos</a:t>
            </a:r>
            <a:endParaRPr lang="en-US" sz="1575" dirty="0"/>
          </a:p>
        </p:txBody>
      </p:sp>
      <p:sp>
        <p:nvSpPr>
          <p:cNvPr id="6" name="Text 4"/>
          <p:cNvSpPr/>
          <p:nvPr/>
        </p:nvSpPr>
        <p:spPr>
          <a:xfrm>
            <a:off x="400050" y="819299"/>
            <a:ext cx="3519962" cy="153570"/>
          </a:xfrm>
          <a:prstGeom prst="rect">
            <a:avLst/>
          </a:prstGeom>
          <a:noFill/>
          <a:ln/>
        </p:spPr>
        <p:txBody>
          <a:bodyPr wrap="square" lIns="0" tIns="0" rIns="0" bIns="0" rtlCol="0" anchor="t"/>
          <a:lstStyle/>
          <a:p>
            <a:pPr algn="l" indent="0" marL="0">
              <a:lnSpc>
                <a:spcPts val="1103"/>
              </a:lnSpc>
              <a:buNone/>
            </a:pPr>
            <a:r>
              <a:rPr lang="en-US" sz="800" dirty="0">
                <a:solidFill>
                  <a:srgbClr val="B8A8E0"/>
                </a:solidFill>
                <a:latin typeface="Carlito" pitchFamily="34" charset="0"/>
                <a:ea typeface="Carlito" pitchFamily="34" charset="-122"/>
                <a:cs typeface="Carlito" pitchFamily="34" charset="-120"/>
              </a:rPr>
              <a:t>Mostrar valor antes de pedir compromiso</a:t>
            </a:r>
            <a:endParaRPr lang="en-US" sz="800" dirty="0"/>
          </a:p>
        </p:txBody>
      </p:sp>
      <p:sp>
        <p:nvSpPr>
          <p:cNvPr id="7" name="Text 5"/>
          <p:cNvSpPr/>
          <p:nvPr/>
        </p:nvSpPr>
        <p:spPr>
          <a:xfrm>
            <a:off x="1971675" y="1187872"/>
            <a:ext cx="1571625" cy="3143250"/>
          </a:xfrm>
          <a:prstGeom prst="roundRect">
            <a:avLst>
              <a:gd name="adj" fmla="val 19394"/>
            </a:avLst>
          </a:prstGeom>
          <a:solidFill>
            <a:srgbClr val="221C4A"/>
          </a:solidFill>
          <a:ln/>
          <a:effectLst>
            <a:outerShdw sx="100000" sy="100000" kx="0" ky="0" algn="bl" rotWithShape="0" blurRad="304800" dist="133350" dir="5400000">
              <a:srgbClr val="000000">
                <a:alpha val="40000"/>
              </a:srgbClr>
            </a:outerShdw>
          </a:effectLst>
        </p:spPr>
        <p:txBody>
          <a:bodyPr wrap="square" rtlCol="0" anchor="ctr"/>
          <a:lstStyle/>
          <a:p>
            <a:pPr indent="0" marL="0">
              <a:buNone/>
            </a:pPr>
            <a:endParaRPr lang="en-US" dirty="0"/>
          </a:p>
        </p:txBody>
      </p:sp>
      <p:sp>
        <p:nvSpPr>
          <p:cNvPr id="8" name="Text 6"/>
          <p:cNvSpPr/>
          <p:nvPr/>
        </p:nvSpPr>
        <p:spPr>
          <a:xfrm>
            <a:off x="2495169" y="1095717"/>
            <a:ext cx="524637" cy="120015"/>
          </a:xfrm>
          <a:prstGeom prst="rect">
            <a:avLst/>
          </a:prstGeom>
          <a:solidFill>
            <a:srgbClr val="14102A"/>
          </a:solidFill>
          <a:ln/>
        </p:spPr>
        <p:txBody>
          <a:bodyPr wrap="square" rtlCol="0" anchor="ctr"/>
          <a:lstStyle/>
          <a:p>
            <a:pPr indent="0" marL="0">
              <a:buNone/>
            </a:pPr>
            <a:endParaRPr lang="en-US" dirty="0"/>
          </a:p>
        </p:txBody>
      </p:sp>
      <p:sp>
        <p:nvSpPr>
          <p:cNvPr id="9" name="Text 7"/>
          <p:cNvSpPr/>
          <p:nvPr/>
        </p:nvSpPr>
        <p:spPr>
          <a:xfrm>
            <a:off x="2499932" y="1102147"/>
            <a:ext cx="515112" cy="164592"/>
          </a:xfrm>
          <a:prstGeom prst="rect">
            <a:avLst/>
          </a:prstGeom>
          <a:noFill/>
          <a:ln/>
        </p:spPr>
        <p:txBody>
          <a:bodyPr wrap="none" lIns="57150" tIns="0" rIns="57150" bIns="0" rtlCol="0" anchor="t"/>
          <a:lstStyle/>
          <a:p>
            <a:pPr algn="l" indent="0" marL="0">
              <a:lnSpc>
                <a:spcPts val="844"/>
              </a:lnSpc>
              <a:buNone/>
            </a:pPr>
            <a:r>
              <a:rPr lang="en-US" sz="800" b="1" spc="84" kern="0" dirty="0">
                <a:solidFill>
                  <a:srgbClr val="6EE7B7"/>
                </a:solidFill>
                <a:latin typeface="Liberation Sans Narrow" pitchFamily="34" charset="0"/>
                <a:ea typeface="Liberation Sans Narrow" pitchFamily="34" charset="-122"/>
                <a:cs typeface="Liberation Sans Narrow" pitchFamily="34" charset="-120"/>
              </a:rPr>
              <a:t>PASO 01</a:t>
            </a:r>
            <a:endParaRPr lang="en-US" sz="800" dirty="0"/>
          </a:p>
        </p:txBody>
      </p:sp>
      <p:sp>
        <p:nvSpPr>
          <p:cNvPr id="10" name="Text 8"/>
          <p:cNvSpPr/>
          <p:nvPr/>
        </p:nvSpPr>
        <p:spPr>
          <a:xfrm>
            <a:off x="2600325" y="1387897"/>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11" name="Text 9"/>
          <p:cNvSpPr/>
          <p:nvPr/>
        </p:nvSpPr>
        <p:spPr>
          <a:xfrm>
            <a:off x="2586038" y="1545059"/>
            <a:ext cx="342900" cy="342900"/>
          </a:xfrm>
          <a:prstGeom prst="rect">
            <a:avLst/>
          </a:prstGeom>
          <a:noFill/>
          <a:ln/>
        </p:spPr>
        <p:txBody>
          <a:bodyPr wrap="none" lIns="0" tIns="0" rIns="0" bIns="0" rtlCol="0" anchor="ctr"/>
          <a:lstStyle/>
          <a:p>
            <a:pPr algn="ctr" indent="0" marL="0">
              <a:buNone/>
            </a:pPr>
            <a:r>
              <a:rPr lang="en-US" sz="3375" dirty="0">
                <a:solidFill>
                  <a:srgbClr val="6EE7B7"/>
                </a:solidFill>
                <a:latin typeface="Segoe UI Symbol" pitchFamily="34" charset="0"/>
                <a:ea typeface="Segoe UI Symbol" pitchFamily="34" charset="-122"/>
                <a:cs typeface="Segoe UI Symbol" pitchFamily="34" charset="-120"/>
              </a:rPr>
              <a:t>✿</a:t>
            </a:r>
            <a:endParaRPr lang="en-US" sz="3375" dirty="0"/>
          </a:p>
        </p:txBody>
      </p:sp>
      <p:sp>
        <p:nvSpPr>
          <p:cNvPr id="12" name="Text 10"/>
          <p:cNvSpPr/>
          <p:nvPr/>
        </p:nvSpPr>
        <p:spPr>
          <a:xfrm>
            <a:off x="2209229" y="1987972"/>
            <a:ext cx="1096517" cy="166601"/>
          </a:xfrm>
          <a:prstGeom prst="rect">
            <a:avLst/>
          </a:prstGeom>
          <a:noFill/>
          <a:ln/>
        </p:spPr>
        <p:txBody>
          <a:bodyPr wrap="none" lIns="0" tIns="0" rIns="0" bIns="0" rtlCol="0" anchor="t"/>
          <a:lstStyle/>
          <a:p>
            <a:pPr algn="ctr" indent="0" marL="0">
              <a:lnSpc>
                <a:spcPts val="1215"/>
              </a:lnSpc>
              <a:buNone/>
            </a:pPr>
            <a:r>
              <a:rPr lang="en-US" sz="1013" b="1" dirty="0">
                <a:solidFill>
                  <a:srgbClr val="F0EAFF"/>
                </a:solidFill>
                <a:latin typeface="Carlito" pitchFamily="34" charset="0"/>
                <a:ea typeface="Carlito" pitchFamily="34" charset="-122"/>
                <a:cs typeface="Carlito" pitchFamily="34" charset="-120"/>
              </a:rPr>
              <a:t>Hola, soy Koru</a:t>
            </a:r>
            <a:endParaRPr lang="en-US" sz="1013" dirty="0"/>
          </a:p>
        </p:txBody>
      </p:sp>
      <p:sp>
        <p:nvSpPr>
          <p:cNvPr id="13" name="Text 11"/>
          <p:cNvSpPr/>
          <p:nvPr/>
        </p:nvSpPr>
        <p:spPr>
          <a:xfrm>
            <a:off x="2113836" y="2242245"/>
            <a:ext cx="1287304" cy="493776"/>
          </a:xfrm>
          <a:prstGeom prst="rect">
            <a:avLst/>
          </a:prstGeom>
          <a:noFill/>
          <a:ln/>
        </p:spPr>
        <p:txBody>
          <a:bodyPr wrap="square" lIns="0" tIns="0" rIns="0" bIns="0" rtlCol="0" anchor="t"/>
          <a:lstStyle/>
          <a:p>
            <a:pPr algn="ctr" indent="0" marL="0">
              <a:lnSpc>
                <a:spcPts val="1013"/>
              </a:lnSpc>
              <a:buNone/>
            </a:pPr>
            <a:r>
              <a:rPr lang="en-US" sz="800" dirty="0">
                <a:solidFill>
                  <a:srgbClr val="B8A8E0"/>
                </a:solidFill>
                <a:latin typeface="Carlito" pitchFamily="34" charset="0"/>
                <a:ea typeface="Carlito" pitchFamily="34" charset="-122"/>
                <a:cs typeface="Carlito" pitchFamily="34" charset="-120"/>
              </a:rPr>
              <a:t>Tu asistente personal. Escucho, ordeno y recuerdo — con tu permiso.</a:t>
            </a:r>
            <a:endParaRPr lang="en-US" sz="800" dirty="0"/>
          </a:p>
        </p:txBody>
      </p:sp>
      <p:sp>
        <p:nvSpPr>
          <p:cNvPr id="14" name="Text 12"/>
          <p:cNvSpPr/>
          <p:nvPr/>
        </p:nvSpPr>
        <p:spPr>
          <a:xfrm>
            <a:off x="3571875" y="2666628"/>
            <a:ext cx="185738" cy="185738"/>
          </a:xfrm>
          <a:prstGeom prst="rect">
            <a:avLst/>
          </a:prstGeom>
          <a:noFill/>
          <a:ln/>
        </p:spPr>
        <p:txBody>
          <a:bodyPr wrap="none" lIns="0" tIns="0" rIns="0" bIns="0" rtlCol="0" anchor="ctr"/>
          <a:lstStyle/>
          <a:p>
            <a:pPr algn="ctr" indent="0" marL="0">
              <a:buNone/>
            </a:pPr>
            <a:r>
              <a:rPr lang="en-US" sz="1828" dirty="0">
                <a:solidFill>
                  <a:srgbClr val="C9B8FF"/>
                </a:solidFill>
                <a:latin typeface="Segoe UI Symbol" pitchFamily="34" charset="0"/>
                <a:ea typeface="Segoe UI Symbol" pitchFamily="34" charset="-122"/>
                <a:cs typeface="Segoe UI Symbol" pitchFamily="34" charset="-120"/>
              </a:rPr>
              <a:t>→</a:t>
            </a:r>
            <a:endParaRPr lang="en-US" sz="1828" dirty="0"/>
          </a:p>
        </p:txBody>
      </p:sp>
      <p:sp>
        <p:nvSpPr>
          <p:cNvPr id="15" name="Text 13"/>
          <p:cNvSpPr/>
          <p:nvPr/>
        </p:nvSpPr>
        <p:spPr>
          <a:xfrm>
            <a:off x="3786188" y="1187872"/>
            <a:ext cx="1571625" cy="3143250"/>
          </a:xfrm>
          <a:prstGeom prst="roundRect">
            <a:avLst>
              <a:gd name="adj" fmla="val 19394"/>
            </a:avLst>
          </a:prstGeom>
          <a:solidFill>
            <a:srgbClr val="221C4A"/>
          </a:solidFill>
          <a:ln/>
          <a:effectLst>
            <a:outerShdw sx="100000" sy="100000" kx="0" ky="0" algn="bl" rotWithShape="0" blurRad="304800" dist="133350" dir="5400000">
              <a:srgbClr val="000000">
                <a:alpha val="40000"/>
              </a:srgbClr>
            </a:outerShdw>
          </a:effectLst>
        </p:spPr>
        <p:txBody>
          <a:bodyPr wrap="square" rtlCol="0" anchor="ctr"/>
          <a:lstStyle/>
          <a:p>
            <a:pPr indent="0" marL="0">
              <a:buNone/>
            </a:pPr>
            <a:endParaRPr lang="en-US" dirty="0"/>
          </a:p>
        </p:txBody>
      </p:sp>
      <p:sp>
        <p:nvSpPr>
          <p:cNvPr id="16" name="Text 14"/>
          <p:cNvSpPr/>
          <p:nvPr/>
        </p:nvSpPr>
        <p:spPr>
          <a:xfrm>
            <a:off x="4309682" y="1095717"/>
            <a:ext cx="524637" cy="120015"/>
          </a:xfrm>
          <a:prstGeom prst="rect">
            <a:avLst/>
          </a:prstGeom>
          <a:solidFill>
            <a:srgbClr val="14102A"/>
          </a:solidFill>
          <a:ln/>
        </p:spPr>
        <p:txBody>
          <a:bodyPr wrap="square" rtlCol="0" anchor="ctr"/>
          <a:lstStyle/>
          <a:p>
            <a:pPr indent="0" marL="0">
              <a:buNone/>
            </a:pPr>
            <a:endParaRPr lang="en-US" dirty="0"/>
          </a:p>
        </p:txBody>
      </p:sp>
      <p:sp>
        <p:nvSpPr>
          <p:cNvPr id="17" name="Text 15"/>
          <p:cNvSpPr/>
          <p:nvPr/>
        </p:nvSpPr>
        <p:spPr>
          <a:xfrm>
            <a:off x="4314444" y="1102147"/>
            <a:ext cx="515112" cy="164592"/>
          </a:xfrm>
          <a:prstGeom prst="rect">
            <a:avLst/>
          </a:prstGeom>
          <a:noFill/>
          <a:ln/>
        </p:spPr>
        <p:txBody>
          <a:bodyPr wrap="none" lIns="57150" tIns="0" rIns="57150" bIns="0" rtlCol="0" anchor="t"/>
          <a:lstStyle/>
          <a:p>
            <a:pPr algn="l" indent="0" marL="0">
              <a:lnSpc>
                <a:spcPts val="844"/>
              </a:lnSpc>
              <a:buNone/>
            </a:pPr>
            <a:r>
              <a:rPr lang="en-US" sz="800" b="1" spc="84" kern="0" dirty="0">
                <a:solidFill>
                  <a:srgbClr val="6EE7B7"/>
                </a:solidFill>
                <a:latin typeface="Liberation Sans Narrow" pitchFamily="34" charset="0"/>
                <a:ea typeface="Liberation Sans Narrow" pitchFamily="34" charset="-122"/>
                <a:cs typeface="Liberation Sans Narrow" pitchFamily="34" charset="-120"/>
              </a:rPr>
              <a:t>PASO 02</a:t>
            </a:r>
            <a:endParaRPr lang="en-US" sz="800" dirty="0"/>
          </a:p>
        </p:txBody>
      </p:sp>
      <p:sp>
        <p:nvSpPr>
          <p:cNvPr id="18" name="Text 16"/>
          <p:cNvSpPr/>
          <p:nvPr/>
        </p:nvSpPr>
        <p:spPr>
          <a:xfrm>
            <a:off x="4414838" y="1387897"/>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19" name="Text 17"/>
          <p:cNvSpPr/>
          <p:nvPr/>
        </p:nvSpPr>
        <p:spPr>
          <a:xfrm>
            <a:off x="3914775" y="1545059"/>
            <a:ext cx="1314450" cy="308610"/>
          </a:xfrm>
          <a:prstGeom prst="rect">
            <a:avLst/>
          </a:prstGeom>
          <a:noFill/>
          <a:ln/>
        </p:spPr>
        <p:txBody>
          <a:bodyPr wrap="none" lIns="0" tIns="0" rIns="0" bIns="0" rtlCol="0" anchor="t"/>
          <a:lstStyle/>
          <a:p>
            <a:pPr algn="ctr" indent="0" marL="0">
              <a:lnSpc>
                <a:spcPts val="1125"/>
              </a:lnSpc>
              <a:buNone/>
            </a:pPr>
            <a:r>
              <a:rPr lang="en-US" sz="900" b="1" dirty="0">
                <a:solidFill>
                  <a:srgbClr val="F0EAFF"/>
                </a:solidFill>
                <a:latin typeface="Carlito" pitchFamily="34" charset="0"/>
                <a:ea typeface="Carlito" pitchFamily="34" charset="-122"/>
                <a:cs typeface="Carlito" pitchFamily="34" charset="-120"/>
              </a:rPr>
              <a:t>¿Qué puedo hacer por vos?</a:t>
            </a:r>
            <a:endParaRPr lang="en-US" sz="900" dirty="0"/>
          </a:p>
        </p:txBody>
      </p:sp>
      <p:sp>
        <p:nvSpPr>
          <p:cNvPr id="20" name="Text 18"/>
          <p:cNvSpPr/>
          <p:nvPr/>
        </p:nvSpPr>
        <p:spPr>
          <a:xfrm>
            <a:off x="3918347" y="1934394"/>
            <a:ext cx="1307306" cy="354285"/>
          </a:xfrm>
          <a:prstGeom prst="roundRect">
            <a:avLst>
              <a:gd name="adj" fmla="val 32262"/>
            </a:avLst>
          </a:prstGeom>
          <a:solidFill>
            <a:srgbClr val="8363F9">
              <a:alpha val="10000"/>
            </a:srgbClr>
          </a:solidFill>
          <a:ln w="7144">
            <a:solidFill>
              <a:srgbClr val="8363F9"/>
            </a:solidFill>
            <a:prstDash val="solid"/>
          </a:ln>
        </p:spPr>
        <p:txBody>
          <a:bodyPr wrap="square" rtlCol="0" anchor="ctr"/>
          <a:lstStyle/>
          <a:p>
            <a:pPr indent="0" marL="0">
              <a:buNone/>
            </a:pPr>
            <a:endParaRPr lang="en-US" dirty="0"/>
          </a:p>
        </p:txBody>
      </p:sp>
      <p:sp>
        <p:nvSpPr>
          <p:cNvPr id="21" name="Text 19"/>
          <p:cNvSpPr/>
          <p:nvPr/>
        </p:nvSpPr>
        <p:spPr>
          <a:xfrm>
            <a:off x="4007644" y="2047242"/>
            <a:ext cx="128588" cy="128588"/>
          </a:xfrm>
          <a:prstGeom prst="rect">
            <a:avLst/>
          </a:prstGeom>
          <a:noFill/>
          <a:ln/>
        </p:spPr>
        <p:txBody>
          <a:bodyPr wrap="none" lIns="0" tIns="0" rIns="0" bIns="0" rtlCol="0" anchor="ctr"/>
          <a:lstStyle/>
          <a:p>
            <a:pPr algn="ctr" indent="0" marL="0">
              <a:buNone/>
            </a:pPr>
            <a:r>
              <a:rPr lang="en-US" sz="1266" dirty="0">
                <a:solidFill>
                  <a:srgbClr val="6EE7B7"/>
                </a:solidFill>
                <a:latin typeface="Segoe UI Symbol" pitchFamily="34" charset="0"/>
                <a:ea typeface="Segoe UI Symbol" pitchFamily="34" charset="-122"/>
                <a:cs typeface="Segoe UI Symbol" pitchFamily="34" charset="-120"/>
              </a:rPr>
              <a:t>☁</a:t>
            </a:r>
            <a:endParaRPr lang="en-US" sz="1266" dirty="0"/>
          </a:p>
        </p:txBody>
      </p:sp>
      <p:sp>
        <p:nvSpPr>
          <p:cNvPr id="22" name="Text 20"/>
          <p:cNvSpPr/>
          <p:nvPr/>
        </p:nvSpPr>
        <p:spPr>
          <a:xfrm>
            <a:off x="4207669" y="2009403"/>
            <a:ext cx="928688" cy="204267"/>
          </a:xfrm>
          <a:prstGeom prst="rect">
            <a:avLst/>
          </a:prstGeom>
          <a:noFill/>
          <a:ln/>
        </p:spPr>
        <p:txBody>
          <a:bodyPr wrap="square" lIns="0" tIns="0" rIns="0" bIns="0" rtlCol="0" anchor="t"/>
          <a:lstStyle/>
          <a:p>
            <a:pPr algn="l" indent="0" marL="0">
              <a:lnSpc>
                <a:spcPts val="804"/>
              </a:lnSpc>
              <a:buNone/>
            </a:pPr>
            <a:r>
              <a:rPr lang="en-US" sz="800" dirty="0">
                <a:solidFill>
                  <a:srgbClr val="F0EAFF"/>
                </a:solidFill>
                <a:latin typeface="Carlito" pitchFamily="34" charset="0"/>
                <a:ea typeface="Carlito" pitchFamily="34" charset="-122"/>
                <a:cs typeface="Carlito" pitchFamily="34" charset="-120"/>
              </a:rPr>
              <a:t>Clima y noticias del mundo</a:t>
            </a:r>
            <a:endParaRPr lang="en-US" sz="800" dirty="0"/>
          </a:p>
        </p:txBody>
      </p:sp>
      <p:sp>
        <p:nvSpPr>
          <p:cNvPr id="23" name="Text 21"/>
          <p:cNvSpPr/>
          <p:nvPr/>
        </p:nvSpPr>
        <p:spPr>
          <a:xfrm>
            <a:off x="3918347" y="2352973"/>
            <a:ext cx="1307306" cy="354285"/>
          </a:xfrm>
          <a:prstGeom prst="roundRect">
            <a:avLst>
              <a:gd name="adj" fmla="val 32262"/>
            </a:avLst>
          </a:prstGeom>
          <a:solidFill>
            <a:srgbClr val="8363F9">
              <a:alpha val="10000"/>
            </a:srgbClr>
          </a:solidFill>
          <a:ln w="7144">
            <a:solidFill>
              <a:srgbClr val="8363F9"/>
            </a:solidFill>
            <a:prstDash val="solid"/>
          </a:ln>
        </p:spPr>
        <p:txBody>
          <a:bodyPr wrap="square" rtlCol="0" anchor="ctr"/>
          <a:lstStyle/>
          <a:p>
            <a:pPr indent="0" marL="0">
              <a:buNone/>
            </a:pPr>
            <a:endParaRPr lang="en-US" dirty="0"/>
          </a:p>
        </p:txBody>
      </p:sp>
      <p:sp>
        <p:nvSpPr>
          <p:cNvPr id="24" name="Text 22"/>
          <p:cNvSpPr/>
          <p:nvPr/>
        </p:nvSpPr>
        <p:spPr>
          <a:xfrm>
            <a:off x="4007644" y="2465822"/>
            <a:ext cx="128588" cy="128588"/>
          </a:xfrm>
          <a:prstGeom prst="rect">
            <a:avLst/>
          </a:prstGeom>
          <a:noFill/>
          <a:ln/>
        </p:spPr>
        <p:txBody>
          <a:bodyPr wrap="none" lIns="0" tIns="0" rIns="0" bIns="0" rtlCol="0" anchor="ctr"/>
          <a:lstStyle/>
          <a:p>
            <a:pPr algn="ctr" indent="0" marL="0">
              <a:buNone/>
            </a:pPr>
            <a:r>
              <a:rPr lang="en-US" sz="1266" dirty="0">
                <a:solidFill>
                  <a:srgbClr val="6EE7B7"/>
                </a:solidFill>
                <a:latin typeface="Segoe UI Symbol" pitchFamily="34" charset="0"/>
                <a:ea typeface="Segoe UI Symbol" pitchFamily="34" charset="-122"/>
                <a:cs typeface="Segoe UI Symbol" pitchFamily="34" charset="-120"/>
              </a:rPr>
              <a:t>◫</a:t>
            </a:r>
            <a:endParaRPr lang="en-US" sz="1266" dirty="0"/>
          </a:p>
        </p:txBody>
      </p:sp>
      <p:sp>
        <p:nvSpPr>
          <p:cNvPr id="25" name="Text 23"/>
          <p:cNvSpPr/>
          <p:nvPr/>
        </p:nvSpPr>
        <p:spPr>
          <a:xfrm>
            <a:off x="4207669" y="2427982"/>
            <a:ext cx="928688" cy="204267"/>
          </a:xfrm>
          <a:prstGeom prst="rect">
            <a:avLst/>
          </a:prstGeom>
          <a:noFill/>
          <a:ln/>
        </p:spPr>
        <p:txBody>
          <a:bodyPr wrap="square" lIns="0" tIns="0" rIns="0" bIns="0" rtlCol="0" anchor="t"/>
          <a:lstStyle/>
          <a:p>
            <a:pPr algn="l" indent="0" marL="0">
              <a:lnSpc>
                <a:spcPts val="804"/>
              </a:lnSpc>
              <a:buNone/>
            </a:pPr>
            <a:r>
              <a:rPr lang="en-US" sz="800" dirty="0">
                <a:solidFill>
                  <a:srgbClr val="F0EAFF"/>
                </a:solidFill>
                <a:latin typeface="Carlito" pitchFamily="34" charset="0"/>
                <a:ea typeface="Carlito" pitchFamily="34" charset="-122"/>
                <a:cs typeface="Carlito" pitchFamily="34" charset="-120"/>
              </a:rPr>
              <a:t>Anotar gastos y recordatorios</a:t>
            </a:r>
            <a:endParaRPr lang="en-US" sz="800" dirty="0"/>
          </a:p>
        </p:txBody>
      </p:sp>
      <p:sp>
        <p:nvSpPr>
          <p:cNvPr id="26" name="Text 24"/>
          <p:cNvSpPr/>
          <p:nvPr/>
        </p:nvSpPr>
        <p:spPr>
          <a:xfrm>
            <a:off x="3918347" y="2771552"/>
            <a:ext cx="1307306" cy="278606"/>
          </a:xfrm>
          <a:prstGeom prst="roundRect">
            <a:avLst>
              <a:gd name="adj" fmla="val 41026"/>
            </a:avLst>
          </a:prstGeom>
          <a:solidFill>
            <a:srgbClr val="8363F9">
              <a:alpha val="10000"/>
            </a:srgbClr>
          </a:solidFill>
          <a:ln w="7144">
            <a:solidFill>
              <a:srgbClr val="8363F9"/>
            </a:solidFill>
            <a:prstDash val="solid"/>
          </a:ln>
        </p:spPr>
        <p:txBody>
          <a:bodyPr wrap="square" rtlCol="0" anchor="ctr"/>
          <a:lstStyle/>
          <a:p>
            <a:pPr indent="0" marL="0">
              <a:buNone/>
            </a:pPr>
            <a:endParaRPr lang="en-US" dirty="0"/>
          </a:p>
        </p:txBody>
      </p:sp>
      <p:sp>
        <p:nvSpPr>
          <p:cNvPr id="27" name="Text 25"/>
          <p:cNvSpPr/>
          <p:nvPr/>
        </p:nvSpPr>
        <p:spPr>
          <a:xfrm>
            <a:off x="4007644" y="2846561"/>
            <a:ext cx="128588" cy="128588"/>
          </a:xfrm>
          <a:prstGeom prst="rect">
            <a:avLst/>
          </a:prstGeom>
          <a:noFill/>
          <a:ln/>
        </p:spPr>
        <p:txBody>
          <a:bodyPr wrap="none" lIns="0" tIns="0" rIns="0" bIns="0" rtlCol="0" anchor="ctr"/>
          <a:lstStyle/>
          <a:p>
            <a:pPr algn="ctr" indent="0" marL="0">
              <a:buNone/>
            </a:pPr>
            <a:r>
              <a:rPr lang="en-US" sz="1266" dirty="0">
                <a:solidFill>
                  <a:srgbClr val="6EE7B7"/>
                </a:solidFill>
                <a:latin typeface="Segoe UI Symbol" pitchFamily="34" charset="0"/>
                <a:ea typeface="Segoe UI Symbol" pitchFamily="34" charset="-122"/>
                <a:cs typeface="Segoe UI Symbol" pitchFamily="34" charset="-120"/>
              </a:rPr>
              <a:t>⌕</a:t>
            </a:r>
            <a:endParaRPr lang="en-US" sz="1266" dirty="0"/>
          </a:p>
        </p:txBody>
      </p:sp>
      <p:sp>
        <p:nvSpPr>
          <p:cNvPr id="28" name="Text 26"/>
          <p:cNvSpPr/>
          <p:nvPr/>
        </p:nvSpPr>
        <p:spPr>
          <a:xfrm>
            <a:off x="4207669" y="2859732"/>
            <a:ext cx="948252" cy="115416"/>
          </a:xfrm>
          <a:prstGeom prst="rect">
            <a:avLst/>
          </a:prstGeom>
          <a:noFill/>
          <a:ln/>
        </p:spPr>
        <p:txBody>
          <a:bodyPr wrap="square" lIns="0" tIns="0" rIns="0" bIns="0" rtlCol="0" anchor="t"/>
          <a:lstStyle/>
          <a:p>
            <a:pPr algn="l" indent="0" marL="0">
              <a:lnSpc>
                <a:spcPts val="804"/>
              </a:lnSpc>
              <a:buNone/>
            </a:pPr>
            <a:r>
              <a:rPr lang="en-US" sz="619" dirty="0">
                <a:solidFill>
                  <a:srgbClr val="F0EAFF"/>
                </a:solidFill>
                <a:latin typeface="Carlito" pitchFamily="34" charset="0"/>
                <a:ea typeface="Carlito" pitchFamily="34" charset="-122"/>
                <a:cs typeface="Carlito" pitchFamily="34" charset="-120"/>
              </a:rPr>
              <a:t>Investigar cualquier tema</a:t>
            </a:r>
            <a:endParaRPr lang="en-US" sz="619" dirty="0"/>
          </a:p>
        </p:txBody>
      </p:sp>
      <p:sp>
        <p:nvSpPr>
          <p:cNvPr id="29" name="Text 27"/>
          <p:cNvSpPr/>
          <p:nvPr/>
        </p:nvSpPr>
        <p:spPr>
          <a:xfrm>
            <a:off x="5386388" y="2666628"/>
            <a:ext cx="185738" cy="185738"/>
          </a:xfrm>
          <a:prstGeom prst="rect">
            <a:avLst/>
          </a:prstGeom>
          <a:noFill/>
          <a:ln/>
        </p:spPr>
        <p:txBody>
          <a:bodyPr wrap="none" lIns="0" tIns="0" rIns="0" bIns="0" rtlCol="0" anchor="ctr"/>
          <a:lstStyle/>
          <a:p>
            <a:pPr algn="ctr" indent="0" marL="0">
              <a:buNone/>
            </a:pPr>
            <a:r>
              <a:rPr lang="en-US" sz="1828" dirty="0">
                <a:solidFill>
                  <a:srgbClr val="C9B8FF"/>
                </a:solidFill>
                <a:latin typeface="Segoe UI Symbol" pitchFamily="34" charset="0"/>
                <a:ea typeface="Segoe UI Symbol" pitchFamily="34" charset="-122"/>
                <a:cs typeface="Segoe UI Symbol" pitchFamily="34" charset="-120"/>
              </a:rPr>
              <a:t>→</a:t>
            </a:r>
            <a:endParaRPr lang="en-US" sz="1828" dirty="0"/>
          </a:p>
        </p:txBody>
      </p:sp>
      <p:sp>
        <p:nvSpPr>
          <p:cNvPr id="30" name="Text 28"/>
          <p:cNvSpPr/>
          <p:nvPr/>
        </p:nvSpPr>
        <p:spPr>
          <a:xfrm>
            <a:off x="5600700" y="1187872"/>
            <a:ext cx="1571625" cy="3143250"/>
          </a:xfrm>
          <a:prstGeom prst="roundRect">
            <a:avLst>
              <a:gd name="adj" fmla="val 19394"/>
            </a:avLst>
          </a:prstGeom>
          <a:solidFill>
            <a:srgbClr val="221C4A"/>
          </a:solidFill>
          <a:ln/>
          <a:effectLst>
            <a:outerShdw sx="100000" sy="100000" kx="0" ky="0" algn="bl" rotWithShape="0" blurRad="304800" dist="133350" dir="5400000">
              <a:srgbClr val="000000">
                <a:alpha val="40000"/>
              </a:srgbClr>
            </a:outerShdw>
          </a:effectLst>
        </p:spPr>
        <p:txBody>
          <a:bodyPr wrap="square" rtlCol="0" anchor="ctr"/>
          <a:lstStyle/>
          <a:p>
            <a:pPr indent="0" marL="0">
              <a:buNone/>
            </a:pPr>
            <a:endParaRPr lang="en-US" dirty="0"/>
          </a:p>
        </p:txBody>
      </p:sp>
      <p:sp>
        <p:nvSpPr>
          <p:cNvPr id="31" name="Text 29"/>
          <p:cNvSpPr/>
          <p:nvPr/>
        </p:nvSpPr>
        <p:spPr>
          <a:xfrm>
            <a:off x="6124194" y="1095717"/>
            <a:ext cx="524637" cy="120015"/>
          </a:xfrm>
          <a:prstGeom prst="rect">
            <a:avLst/>
          </a:prstGeom>
          <a:solidFill>
            <a:srgbClr val="14102A"/>
          </a:solidFill>
          <a:ln/>
        </p:spPr>
        <p:txBody>
          <a:bodyPr wrap="square" rtlCol="0" anchor="ctr"/>
          <a:lstStyle/>
          <a:p>
            <a:pPr indent="0" marL="0">
              <a:buNone/>
            </a:pPr>
            <a:endParaRPr lang="en-US" dirty="0"/>
          </a:p>
        </p:txBody>
      </p:sp>
      <p:sp>
        <p:nvSpPr>
          <p:cNvPr id="32" name="Text 30"/>
          <p:cNvSpPr/>
          <p:nvPr/>
        </p:nvSpPr>
        <p:spPr>
          <a:xfrm>
            <a:off x="6128957" y="1102147"/>
            <a:ext cx="515112" cy="164592"/>
          </a:xfrm>
          <a:prstGeom prst="rect">
            <a:avLst/>
          </a:prstGeom>
          <a:noFill/>
          <a:ln/>
        </p:spPr>
        <p:txBody>
          <a:bodyPr wrap="none" lIns="57150" tIns="0" rIns="57150" bIns="0" rtlCol="0" anchor="t"/>
          <a:lstStyle/>
          <a:p>
            <a:pPr algn="l" indent="0" marL="0">
              <a:lnSpc>
                <a:spcPts val="844"/>
              </a:lnSpc>
              <a:buNone/>
            </a:pPr>
            <a:r>
              <a:rPr lang="en-US" sz="800" b="1" spc="84" kern="0" dirty="0">
                <a:solidFill>
                  <a:srgbClr val="6EE7B7"/>
                </a:solidFill>
                <a:latin typeface="Liberation Sans Narrow" pitchFamily="34" charset="0"/>
                <a:ea typeface="Liberation Sans Narrow" pitchFamily="34" charset="-122"/>
                <a:cs typeface="Liberation Sans Narrow" pitchFamily="34" charset="-120"/>
              </a:rPr>
              <a:t>PASO 03</a:t>
            </a:r>
            <a:endParaRPr lang="en-US" sz="800" dirty="0"/>
          </a:p>
        </p:txBody>
      </p:sp>
      <p:sp>
        <p:nvSpPr>
          <p:cNvPr id="33" name="Text 31"/>
          <p:cNvSpPr/>
          <p:nvPr/>
        </p:nvSpPr>
        <p:spPr>
          <a:xfrm>
            <a:off x="6229350" y="1387897"/>
            <a:ext cx="314325" cy="28575"/>
          </a:xfrm>
          <a:prstGeom prst="roundRect">
            <a:avLst>
              <a:gd name="adj" fmla="val 66667"/>
            </a:avLst>
          </a:prstGeom>
          <a:solidFill>
            <a:srgbClr val="8363F9">
              <a:alpha val="35000"/>
            </a:srgbClr>
          </a:solidFill>
          <a:ln/>
        </p:spPr>
        <p:txBody>
          <a:bodyPr wrap="square" rtlCol="0" anchor="ctr"/>
          <a:lstStyle/>
          <a:p>
            <a:pPr indent="0" marL="0">
              <a:buNone/>
            </a:pPr>
            <a:endParaRPr lang="en-US" dirty="0"/>
          </a:p>
        </p:txBody>
      </p:sp>
      <p:sp>
        <p:nvSpPr>
          <p:cNvPr id="34" name="Text 32"/>
          <p:cNvSpPr/>
          <p:nvPr/>
        </p:nvSpPr>
        <p:spPr>
          <a:xfrm>
            <a:off x="5729288" y="1545059"/>
            <a:ext cx="1314450" cy="154305"/>
          </a:xfrm>
          <a:prstGeom prst="rect">
            <a:avLst/>
          </a:prstGeom>
          <a:noFill/>
          <a:ln/>
        </p:spPr>
        <p:txBody>
          <a:bodyPr wrap="none" lIns="0" tIns="0" rIns="0" bIns="0" rtlCol="0" anchor="t"/>
          <a:lstStyle/>
          <a:p>
            <a:pPr algn="ctr" indent="0" marL="0">
              <a:lnSpc>
                <a:spcPts val="1125"/>
              </a:lnSpc>
              <a:buNone/>
            </a:pPr>
            <a:r>
              <a:rPr lang="en-US" sz="900" b="1" dirty="0">
                <a:solidFill>
                  <a:srgbClr val="F0EAFF"/>
                </a:solidFill>
                <a:latin typeface="Carlito" pitchFamily="34" charset="0"/>
                <a:ea typeface="Carlito" pitchFamily="34" charset="-122"/>
                <a:cs typeface="Carlito" pitchFamily="34" charset="-120"/>
              </a:rPr>
              <a:t>¿Cómo te llamo?</a:t>
            </a:r>
            <a:endParaRPr lang="en-US" sz="900" dirty="0"/>
          </a:p>
        </p:txBody>
      </p:sp>
      <p:sp>
        <p:nvSpPr>
          <p:cNvPr id="35" name="Text 33"/>
          <p:cNvSpPr/>
          <p:nvPr/>
        </p:nvSpPr>
        <p:spPr>
          <a:xfrm>
            <a:off x="5706428" y="1775145"/>
            <a:ext cx="1360170" cy="339928"/>
          </a:xfrm>
          <a:prstGeom prst="roundRect">
            <a:avLst>
              <a:gd name="adj" fmla="val 33625"/>
            </a:avLst>
          </a:prstGeom>
          <a:solidFill>
            <a:srgbClr val="14102A"/>
          </a:solidFill>
          <a:ln w="7144">
            <a:solidFill>
              <a:srgbClr val="8363F9"/>
            </a:solidFill>
            <a:prstDash val="solid"/>
          </a:ln>
          <a:effectLst>
            <a:outerShdw sx="100000" sy="100000" kx="0" ky="0" algn="bl" rotWithShape="0" blurRad="101600" dist="50800" dir="16200000">
              <a:srgbClr val="8363F9">
                <a:alpha val="8000"/>
              </a:srgbClr>
            </a:outerShdw>
          </a:effectLst>
        </p:spPr>
        <p:txBody>
          <a:bodyPr wrap="square" rtlCol="0" anchor="ctr"/>
          <a:lstStyle/>
          <a:p>
            <a:pPr indent="0" marL="0">
              <a:buNone/>
            </a:pPr>
            <a:endParaRPr lang="en-US" dirty="0"/>
          </a:p>
        </p:txBody>
      </p:sp>
      <p:sp>
        <p:nvSpPr>
          <p:cNvPr id="36" name="Text 34"/>
          <p:cNvSpPr/>
          <p:nvPr/>
        </p:nvSpPr>
        <p:spPr>
          <a:xfrm>
            <a:off x="5729288" y="1787947"/>
            <a:ext cx="1314450" cy="314325"/>
          </a:xfrm>
          <a:prstGeom prst="rect">
            <a:avLst/>
          </a:prstGeom>
          <a:noFill/>
          <a:ln/>
        </p:spPr>
        <p:txBody>
          <a:bodyPr wrap="none" lIns="0" tIns="0" rIns="0" bIns="0" rtlCol="0" anchor="ctr"/>
          <a:lstStyle/>
          <a:p>
            <a:pPr algn="ctr" indent="0" marL="0">
              <a:lnSpc>
                <a:spcPts val="1097"/>
              </a:lnSpc>
              <a:buNone/>
            </a:pPr>
            <a:r>
              <a:rPr lang="en-US" sz="800" dirty="0">
                <a:solidFill>
                  <a:srgbClr val="7A6BA8"/>
                </a:solidFill>
                <a:latin typeface="Carlito" pitchFamily="34" charset="0"/>
                <a:ea typeface="Carlito" pitchFamily="34" charset="-122"/>
                <a:cs typeface="Carlito" pitchFamily="34" charset="-120"/>
              </a:rPr>
              <a:t>Tu nombre</a:t>
            </a:r>
            <a:endParaRPr lang="en-US" sz="800" dirty="0"/>
          </a:p>
        </p:txBody>
      </p:sp>
      <p:sp>
        <p:nvSpPr>
          <p:cNvPr id="37" name="Text 35"/>
          <p:cNvSpPr/>
          <p:nvPr/>
        </p:nvSpPr>
        <p:spPr>
          <a:xfrm>
            <a:off x="5729288" y="2202284"/>
            <a:ext cx="1393317" cy="329184"/>
          </a:xfrm>
          <a:prstGeom prst="rect">
            <a:avLst/>
          </a:prstGeom>
          <a:noFill/>
          <a:ln/>
        </p:spPr>
        <p:txBody>
          <a:bodyPr wrap="square" lIns="0" tIns="0" rIns="0" bIns="0" rtlCol="0" anchor="t"/>
          <a:lstStyle/>
          <a:p>
            <a:pPr algn="l" indent="0" marL="0">
              <a:lnSpc>
                <a:spcPts val="928"/>
              </a:lnSpc>
              <a:buNone/>
            </a:pPr>
            <a:r>
              <a:rPr lang="en-US" sz="800" dirty="0">
                <a:solidFill>
                  <a:srgbClr val="B8A8E0"/>
                </a:solidFill>
                <a:latin typeface="Carlito" pitchFamily="34" charset="0"/>
                <a:ea typeface="Carlito" pitchFamily="34" charset="-122"/>
                <a:cs typeface="Carlito" pitchFamily="34" charset="-120"/>
              </a:rPr>
              <a:t>Solo lo que quieras compartir. Sin esto no puedo personalizar.</a:t>
            </a:r>
            <a:endParaRPr lang="en-US" sz="800" dirty="0"/>
          </a:p>
        </p:txBody>
      </p:sp>
      <p:sp>
        <p:nvSpPr>
          <p:cNvPr id="38" name="Text 36"/>
          <p:cNvSpPr/>
          <p:nvPr/>
        </p:nvSpPr>
        <p:spPr>
          <a:xfrm>
            <a:off x="403622" y="4563294"/>
            <a:ext cx="8336756" cy="378619"/>
          </a:xfrm>
          <a:prstGeom prst="roundRect">
            <a:avLst>
              <a:gd name="adj" fmla="val 35220"/>
            </a:avLst>
          </a:prstGeom>
          <a:solidFill>
            <a:srgbClr val="221C4A"/>
          </a:solidFill>
          <a:ln w="7144">
            <a:solidFill>
              <a:srgbClr val="6EE7B7"/>
            </a:solidFill>
            <a:prstDash val="solid"/>
          </a:ln>
        </p:spPr>
        <p:txBody>
          <a:bodyPr wrap="square" rtlCol="0" anchor="ctr"/>
          <a:lstStyle/>
          <a:p>
            <a:pPr indent="0" marL="0">
              <a:buNone/>
            </a:pPr>
            <a:endParaRPr lang="en-US" dirty="0"/>
          </a:p>
        </p:txBody>
      </p:sp>
      <p:sp>
        <p:nvSpPr>
          <p:cNvPr id="39" name="Text 37"/>
          <p:cNvSpPr/>
          <p:nvPr/>
        </p:nvSpPr>
        <p:spPr>
          <a:xfrm>
            <a:off x="550069" y="4666878"/>
            <a:ext cx="171450" cy="171450"/>
          </a:xfrm>
          <a:prstGeom prst="rect">
            <a:avLst/>
          </a:prstGeom>
          <a:noFill/>
          <a:ln/>
        </p:spPr>
        <p:txBody>
          <a:bodyPr wrap="none" lIns="0" tIns="0" rIns="0" bIns="0" rtlCol="0" anchor="ctr"/>
          <a:lstStyle/>
          <a:p>
            <a:pPr algn="ctr" indent="0" marL="0">
              <a:buNone/>
            </a:pPr>
            <a:r>
              <a:rPr lang="en-US" sz="1688" dirty="0">
                <a:solidFill>
                  <a:srgbClr val="6EE7B7"/>
                </a:solidFill>
                <a:latin typeface="Segoe UI Symbol" pitchFamily="34" charset="0"/>
                <a:ea typeface="Segoe UI Symbol" pitchFamily="34" charset="-122"/>
                <a:cs typeface="Segoe UI Symbol" pitchFamily="34" charset="-120"/>
              </a:rPr>
              <a:t>✓</a:t>
            </a:r>
            <a:endParaRPr lang="en-US" sz="1688" dirty="0"/>
          </a:p>
        </p:txBody>
      </p:sp>
      <p:sp>
        <p:nvSpPr>
          <p:cNvPr id="40" name="Text 38"/>
          <p:cNvSpPr/>
          <p:nvPr/>
        </p:nvSpPr>
        <p:spPr>
          <a:xfrm>
            <a:off x="892969" y="4677594"/>
            <a:ext cx="91440" cy="150019"/>
          </a:xfrm>
          <a:prstGeom prst="rect">
            <a:avLst/>
          </a:prstGeom>
          <a:noFill/>
          <a:ln/>
        </p:spPr>
        <p:txBody>
          <a:bodyPr wrap="none" lIns="0" tIns="0" rIns="0" bIns="0" rtlCol="0" anchor="ctr"/>
          <a:lstStyle/>
          <a:p>
            <a:pPr algn="ctr" indent="0" marL="0">
              <a:buNone/>
            </a:pPr>
            <a:r>
              <a:rPr lang="en-US" sz="800" b="1" dirty="0">
                <a:solidFill>
                  <a:srgbClr val="6EE7B7"/>
                </a:solidFill>
                <a:latin typeface="Segoe UI Symbol" pitchFamily="34" charset="0"/>
                <a:ea typeface="Segoe UI Symbol" pitchFamily="34" charset="-122"/>
                <a:cs typeface="Segoe UI Symbol" pitchFamily="34" charset="-120"/>
              </a:rPr>
              <a:t>✓</a:t>
            </a:r>
            <a:endParaRPr lang="en-US" sz="800" dirty="0"/>
          </a:p>
        </p:txBody>
      </p:sp>
      <p:sp>
        <p:nvSpPr>
          <p:cNvPr id="41" name="Text 39"/>
          <p:cNvSpPr/>
          <p:nvPr/>
        </p:nvSpPr>
        <p:spPr>
          <a:xfrm>
            <a:off x="1035844" y="4682951"/>
            <a:ext cx="1393085" cy="155377"/>
          </a:xfrm>
          <a:prstGeom prst="rect">
            <a:avLst/>
          </a:prstGeom>
          <a:noFill/>
          <a:ln/>
        </p:spPr>
        <p:txBody>
          <a:bodyPr wrap="square" lIns="0" tIns="0" rIns="0" bIns="0" rtlCol="0" anchor="t"/>
          <a:lstStyle/>
          <a:p>
            <a:pPr algn="l" indent="0" marL="0">
              <a:lnSpc>
                <a:spcPts val="1097"/>
              </a:lnSpc>
              <a:buNone/>
            </a:pPr>
            <a:r>
              <a:rPr lang="en-US" sz="731" dirty="0">
                <a:solidFill>
                  <a:srgbClr val="F0EAFF"/>
                </a:solidFill>
                <a:latin typeface="Liberation Sans Narrow" pitchFamily="34" charset="0"/>
                <a:ea typeface="Liberation Sans Narrow" pitchFamily="34" charset="-122"/>
                <a:cs typeface="Liberation Sans Narrow" pitchFamily="34" charset="-120"/>
              </a:rPr>
              <a:t>Tiempo objetivo: &lt;45 segundos</a:t>
            </a:r>
            <a:endParaRPr lang="en-US" sz="731" dirty="0"/>
          </a:p>
        </p:txBody>
      </p:sp>
      <p:sp>
        <p:nvSpPr>
          <p:cNvPr id="42" name="Text 40"/>
          <p:cNvSpPr/>
          <p:nvPr/>
        </p:nvSpPr>
        <p:spPr>
          <a:xfrm>
            <a:off x="2525762" y="4688309"/>
            <a:ext cx="7144" cy="128588"/>
          </a:xfrm>
          <a:prstGeom prst="rect">
            <a:avLst/>
          </a:prstGeom>
          <a:solidFill>
            <a:srgbClr val="8363F9">
              <a:alpha val="25000"/>
            </a:srgbClr>
          </a:solidFill>
          <a:ln/>
        </p:spPr>
        <p:txBody>
          <a:bodyPr wrap="square" rtlCol="0" anchor="ctr"/>
          <a:lstStyle/>
          <a:p>
            <a:pPr indent="0" marL="0">
              <a:buNone/>
            </a:pPr>
            <a:endParaRPr lang="en-US" dirty="0"/>
          </a:p>
        </p:txBody>
      </p:sp>
      <p:sp>
        <p:nvSpPr>
          <p:cNvPr id="43" name="Text 41"/>
          <p:cNvSpPr/>
          <p:nvPr/>
        </p:nvSpPr>
        <p:spPr>
          <a:xfrm>
            <a:off x="2732931" y="4677594"/>
            <a:ext cx="91440" cy="150019"/>
          </a:xfrm>
          <a:prstGeom prst="rect">
            <a:avLst/>
          </a:prstGeom>
          <a:noFill/>
          <a:ln/>
        </p:spPr>
        <p:txBody>
          <a:bodyPr wrap="none" lIns="0" tIns="0" rIns="0" bIns="0" rtlCol="0" anchor="ctr"/>
          <a:lstStyle/>
          <a:p>
            <a:pPr algn="ctr" indent="0" marL="0">
              <a:buNone/>
            </a:pPr>
            <a:r>
              <a:rPr lang="en-US" sz="800" b="1" dirty="0">
                <a:solidFill>
                  <a:srgbClr val="6EE7B7"/>
                </a:solidFill>
                <a:latin typeface="Segoe UI Symbol" pitchFamily="34" charset="0"/>
                <a:ea typeface="Segoe UI Symbol" pitchFamily="34" charset="-122"/>
                <a:cs typeface="Segoe UI Symbol" pitchFamily="34" charset="-120"/>
              </a:rPr>
              <a:t>✓</a:t>
            </a:r>
            <a:endParaRPr lang="en-US" sz="800" dirty="0"/>
          </a:p>
        </p:txBody>
      </p:sp>
      <p:sp>
        <p:nvSpPr>
          <p:cNvPr id="44" name="Text 42"/>
          <p:cNvSpPr/>
          <p:nvPr/>
        </p:nvSpPr>
        <p:spPr>
          <a:xfrm>
            <a:off x="2875806" y="4682951"/>
            <a:ext cx="1416351" cy="155377"/>
          </a:xfrm>
          <a:prstGeom prst="rect">
            <a:avLst/>
          </a:prstGeom>
          <a:noFill/>
          <a:ln/>
        </p:spPr>
        <p:txBody>
          <a:bodyPr wrap="square" lIns="0" tIns="0" rIns="0" bIns="0" rtlCol="0" anchor="t"/>
          <a:lstStyle/>
          <a:p>
            <a:pPr algn="l" indent="0" marL="0">
              <a:lnSpc>
                <a:spcPts val="1097"/>
              </a:lnSpc>
              <a:buNone/>
            </a:pPr>
            <a:r>
              <a:rPr lang="en-US" sz="731" dirty="0">
                <a:solidFill>
                  <a:srgbClr val="F0EAFF"/>
                </a:solidFill>
                <a:latin typeface="Carlito" pitchFamily="34" charset="0"/>
                <a:ea typeface="Carlito" pitchFamily="34" charset="-122"/>
                <a:cs typeface="Carlito" pitchFamily="34" charset="-120"/>
              </a:rPr>
              <a:t>Skip opcional en cualquier paso</a:t>
            </a:r>
            <a:endParaRPr lang="en-US" sz="73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7429500" y="-857250"/>
            <a:ext cx="2571750" cy="2571750"/>
          </a:xfrm>
          <a:prstGeom prst="ellipse">
            <a:avLst/>
          </a:prstGeom>
          <a:solidFill>
            <a:srgbClr val="8363F9">
              <a:alpha val="22000"/>
            </a:srgbClr>
          </a:solidFill>
          <a:ln/>
        </p:spPr>
        <p:txBody>
          <a:bodyPr wrap="square" rtlCol="0" anchor="ctr"/>
          <a:lstStyle/>
          <a:p>
            <a:pPr indent="0" marL="0">
              <a:buNone/>
            </a:pPr>
            <a:endParaRPr lang="en-US" dirty="0"/>
          </a:p>
        </p:txBody>
      </p:sp>
      <p:sp>
        <p:nvSpPr>
          <p:cNvPr id="3" name="Text 1"/>
          <p:cNvSpPr/>
          <p:nvPr/>
        </p:nvSpPr>
        <p:spPr>
          <a:xfrm>
            <a:off x="2743200" y="4000500"/>
            <a:ext cx="2000250" cy="2000250"/>
          </a:xfrm>
          <a:prstGeom prst="ellipse">
            <a:avLst/>
          </a:prstGeom>
          <a:solidFill>
            <a:srgbClr val="6EE7B7">
              <a:alpha val="10000"/>
            </a:srgbClr>
          </a:solidFill>
          <a:ln/>
        </p:spPr>
        <p:txBody>
          <a:bodyPr wrap="square" rtlCol="0" anchor="ctr"/>
          <a:lstStyle/>
          <a:p>
            <a:pPr indent="0" marL="0">
              <a:buNone/>
            </a:pPr>
            <a:endParaRPr lang="en-US" dirty="0"/>
          </a:p>
        </p:txBody>
      </p:sp>
      <p:sp>
        <p:nvSpPr>
          <p:cNvPr id="4" name="Text 2"/>
          <p:cNvSpPr/>
          <p:nvPr/>
        </p:nvSpPr>
        <p:spPr>
          <a:xfrm>
            <a:off x="130270" y="171450"/>
            <a:ext cx="2849670" cy="1697355"/>
          </a:xfrm>
          <a:prstGeom prst="rect">
            <a:avLst/>
          </a:prstGeom>
          <a:noFill/>
          <a:ln/>
        </p:spPr>
        <p:txBody>
          <a:bodyPr wrap="none" lIns="0" tIns="0" rIns="0" bIns="0" rtlCol="0" anchor="t"/>
          <a:lstStyle/>
          <a:p>
            <a:pPr algn="l" indent="0" marL="0">
              <a:lnSpc>
                <a:spcPts val="12375"/>
              </a:lnSpc>
              <a:buNone/>
            </a:pPr>
            <a:r>
              <a:rPr lang="en-US" sz="12375" b="1" spc="-495" kern="0" dirty="0">
                <a:solidFill>
                  <a:srgbClr val="8363F9">
                    <a:alpha val="6000"/>
                  </a:srgbClr>
                </a:solidFill>
                <a:latin typeface="Liberation Sans Narrow" pitchFamily="34" charset="0"/>
                <a:ea typeface="Liberation Sans Narrow" pitchFamily="34" charset="-122"/>
                <a:cs typeface="Liberation Sans Narrow" pitchFamily="34" charset="-120"/>
              </a:rPr>
              <a:t>02</a:t>
            </a:r>
            <a:endParaRPr lang="en-US" sz="12375" dirty="0"/>
          </a:p>
        </p:txBody>
      </p:sp>
      <p:sp>
        <p:nvSpPr>
          <p:cNvPr id="5" name="Text 3"/>
          <p:cNvSpPr/>
          <p:nvPr/>
        </p:nvSpPr>
        <p:spPr>
          <a:xfrm>
            <a:off x="457200" y="1368131"/>
            <a:ext cx="860487" cy="196025"/>
          </a:xfrm>
          <a:prstGeom prst="roundRect">
            <a:avLst>
              <a:gd name="adj" fmla="val 4854215"/>
            </a:avLst>
          </a:prstGeom>
          <a:solidFill>
            <a:srgbClr val="FDA4AF">
              <a:alpha val="15000"/>
            </a:srgbClr>
          </a:solidFill>
          <a:ln/>
        </p:spPr>
        <p:txBody>
          <a:bodyPr wrap="square" rtlCol="0" anchor="ctr"/>
          <a:lstStyle/>
          <a:p>
            <a:pPr indent="0" marL="0">
              <a:buNone/>
            </a:pPr>
            <a:endParaRPr lang="en-US" dirty="0"/>
          </a:p>
        </p:txBody>
      </p:sp>
      <p:sp>
        <p:nvSpPr>
          <p:cNvPr id="6" name="Text 4"/>
          <p:cNvSpPr/>
          <p:nvPr/>
        </p:nvSpPr>
        <p:spPr>
          <a:xfrm>
            <a:off x="657225" y="1421495"/>
            <a:ext cx="696181" cy="119703"/>
          </a:xfrm>
          <a:prstGeom prst="rect">
            <a:avLst/>
          </a:prstGeom>
          <a:noFill/>
          <a:ln/>
        </p:spPr>
        <p:txBody>
          <a:bodyPr wrap="none" lIns="0" tIns="0" rIns="0" bIns="0" rtlCol="0" anchor="t"/>
          <a:lstStyle/>
          <a:p>
            <a:pPr algn="l" indent="0" marL="0">
              <a:lnSpc>
                <a:spcPts val="928"/>
              </a:lnSpc>
              <a:buNone/>
            </a:pPr>
            <a:r>
              <a:rPr lang="en-US" sz="619" b="1" spc="31" kern="0" dirty="0">
                <a:solidFill>
                  <a:srgbClr val="FDA4AF"/>
                </a:solidFill>
                <a:latin typeface="Liberation Sans Narrow" pitchFamily="34" charset="0"/>
                <a:ea typeface="Liberation Sans Narrow" pitchFamily="34" charset="-122"/>
                <a:cs typeface="Liberation Sans Narrow" pitchFamily="34" charset="-120"/>
              </a:rPr>
              <a:t>HALLAZGO 02</a:t>
            </a:r>
            <a:endParaRPr lang="en-US" sz="619" dirty="0"/>
          </a:p>
        </p:txBody>
      </p:sp>
      <p:sp>
        <p:nvSpPr>
          <p:cNvPr id="7" name="Text 5"/>
          <p:cNvSpPr/>
          <p:nvPr/>
        </p:nvSpPr>
        <p:spPr>
          <a:xfrm>
            <a:off x="528638" y="1416137"/>
            <a:ext cx="100013" cy="100013"/>
          </a:xfrm>
          <a:prstGeom prst="rect">
            <a:avLst/>
          </a:prstGeom>
          <a:noFill/>
          <a:ln/>
        </p:spPr>
        <p:txBody>
          <a:bodyPr wrap="none" lIns="0" tIns="0" rIns="0" bIns="0" rtlCol="0" anchor="ctr"/>
          <a:lstStyle/>
          <a:p>
            <a:pPr algn="ctr" indent="0" marL="0">
              <a:buNone/>
            </a:pPr>
            <a:r>
              <a:rPr lang="en-US" sz="984" dirty="0">
                <a:solidFill>
                  <a:srgbClr val="FDA4AF"/>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1389125" y="1407207"/>
            <a:ext cx="29257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A6BA8"/>
                </a:solidFill>
                <a:latin typeface="Carlito" pitchFamily="34" charset="0"/>
                <a:ea typeface="Carlito" pitchFamily="34" charset="-122"/>
                <a:cs typeface="Carlito" pitchFamily="34" charset="-120"/>
              </a:rPr>
              <a:t>PROBLEMA DE NAVEGACIÓN</a:t>
            </a:r>
            <a:endParaRPr lang="en-US" sz="800" dirty="0"/>
          </a:p>
        </p:txBody>
      </p:sp>
      <p:sp>
        <p:nvSpPr>
          <p:cNvPr id="9" name="Text 7"/>
          <p:cNvSpPr/>
          <p:nvPr/>
        </p:nvSpPr>
        <p:spPr>
          <a:xfrm>
            <a:off x="457200" y="1682242"/>
            <a:ext cx="4243388" cy="254844"/>
          </a:xfrm>
          <a:prstGeom prst="rect">
            <a:avLst/>
          </a:prstGeom>
          <a:noFill/>
          <a:ln/>
        </p:spPr>
        <p:txBody>
          <a:bodyPr wrap="square" lIns="0" tIns="0" rIns="0" bIns="0" rtlCol="0" anchor="t"/>
          <a:lstStyle/>
          <a:p>
            <a:pPr algn="l" indent="0" marL="0">
              <a:lnSpc>
                <a:spcPts val="1859"/>
              </a:lnSpc>
              <a:buNone/>
            </a:pPr>
            <a:r>
              <a:rPr lang="en-US" sz="1575" b="1" spc="-16" kern="0" dirty="0">
                <a:solidFill>
                  <a:srgbClr val="F0EAFF"/>
                </a:solidFill>
                <a:latin typeface="Carlito" pitchFamily="34" charset="0"/>
                <a:ea typeface="Carlito" pitchFamily="34" charset="-122"/>
                <a:cs typeface="Carlito" pitchFamily="34" charset="-120"/>
              </a:rPr>
              <a:t>No hay botón Home desde el chat</a:t>
            </a:r>
            <a:endParaRPr lang="en-US" sz="1575" dirty="0"/>
          </a:p>
        </p:txBody>
      </p:sp>
      <p:sp>
        <p:nvSpPr>
          <p:cNvPr id="10" name="Text 8"/>
          <p:cNvSpPr/>
          <p:nvPr/>
        </p:nvSpPr>
        <p:spPr>
          <a:xfrm>
            <a:off x="457200" y="2046796"/>
            <a:ext cx="3714750" cy="701965"/>
          </a:xfrm>
          <a:prstGeom prst="rect">
            <a:avLst/>
          </a:prstGeom>
          <a:noFill/>
          <a:ln/>
        </p:spPr>
        <p:txBody>
          <a:bodyPr wrap="square" lIns="0" tIns="0" rIns="0" bIns="0" rtlCol="0" anchor="t"/>
          <a:lstStyle/>
          <a:p>
            <a:pPr algn="l" indent="0" marL="0">
              <a:lnSpc>
                <a:spcPts val="1260"/>
              </a:lnSpc>
              <a:buNone/>
            </a:pPr>
            <a:r>
              <a:rPr lang="en-US" sz="800" dirty="0">
                <a:solidFill>
                  <a:srgbClr val="B8A8E0"/>
                </a:solidFill>
                <a:latin typeface="Carlito" pitchFamily="34" charset="0"/>
                <a:ea typeface="Carlito" pitchFamily="34" charset="-122"/>
                <a:cs typeface="Carlito" pitchFamily="34" charset="-120"/>
              </a:rPr>
              <a:t>Una vez que el usuario entra al chat (TalkOverlay), la única forma de salir es el back button (←) arriba a la izquierda. No hay navegación a Home, Memoria, Historial o Ajustes. El usuario se siente atrapado: si quiere ver sus guardados o cambiar de modelo, tiene que salir del chat completo.</a:t>
            </a:r>
            <a:endParaRPr lang="en-US" sz="800" dirty="0"/>
          </a:p>
        </p:txBody>
      </p:sp>
      <p:sp>
        <p:nvSpPr>
          <p:cNvPr id="11" name="Text 9"/>
          <p:cNvSpPr/>
          <p:nvPr/>
        </p:nvSpPr>
        <p:spPr>
          <a:xfrm>
            <a:off x="457200" y="2858058"/>
            <a:ext cx="3857625" cy="724999"/>
          </a:xfrm>
          <a:prstGeom prst="rect">
            <a:avLst/>
          </a:prstGeom>
          <a:noFill/>
          <a:ln/>
        </p:spPr>
        <p:txBody>
          <a:bodyPr wrap="square" lIns="0" tIns="0" rIns="0" bIns="0" rtlCol="0" anchor="t"/>
          <a:lstStyle/>
          <a:p>
            <a:pPr algn="l" marL="342900" indent="-342900">
              <a:lnSpc>
                <a:spcPts val="1350"/>
              </a:lnSpc>
              <a:spcAft>
                <a:spcPts val="675"/>
              </a:spcAft>
              <a:buSzPct val="100000"/>
              <a:buChar char="•"/>
            </a:pPr>
            <a:r>
              <a:rPr lang="en-US" sz="900" dirty="0">
                <a:solidFill>
                  <a:srgbClr val="F0EAFF"/>
                </a:solidFill>
                <a:latin typeface="Carlito" pitchFamily="34" charset="0"/>
                <a:ea typeface="Carlito" pitchFamily="34" charset="-122"/>
                <a:cs typeface="Carlito" pitchFamily="34" charset="-120"/>
              </a:rPr>
              <a:t>✕ Solo hay back button — no tabs ni FAB</a:t>
            </a:r>
            <a:endParaRPr lang="en-US" sz="900" dirty="0"/>
          </a:p>
          <a:p>
            <a:pPr algn="l" marL="342900" indent="-342900">
              <a:lnSpc>
                <a:spcPts val="1350"/>
              </a:lnSpc>
              <a:spcAft>
                <a:spcPts val="675"/>
              </a:spcAft>
              <a:buSzPct val="100000"/>
              <a:buChar char="•"/>
            </a:pPr>
            <a:r>
              <a:rPr lang="en-US" sz="900" dirty="0">
                <a:solidFill>
                  <a:srgbClr val="F0EAFF"/>
                </a:solidFill>
                <a:latin typeface="Carlito" pitchFamily="34" charset="0"/>
                <a:ea typeface="Carlito" pitchFamily="34" charset="-122"/>
                <a:cs typeface="Carlito" pitchFamily="34" charset="-120"/>
              </a:rPr>
              <a:t>✕ No hay acceso a Memoria/Colecciones desde el chat</a:t>
            </a:r>
            <a:endParaRPr lang="en-US" sz="900" dirty="0"/>
          </a:p>
          <a:p>
            <a:pPr algn="l" marL="342900" indent="-342900">
              <a:lnSpc>
                <a:spcPts val="1350"/>
              </a:lnSpc>
              <a:spcAft>
                <a:spcPts val="675"/>
              </a:spcAft>
              <a:buSzPct val="100000"/>
              <a:buChar char="•"/>
            </a:pPr>
            <a:r>
              <a:rPr lang="en-US" sz="900" dirty="0">
                <a:solidFill>
                  <a:srgbClr val="F0EAFF"/>
                </a:solidFill>
                <a:latin typeface="Carlito" pitchFamily="34" charset="0"/>
                <a:ea typeface="Carlito" pitchFamily="34" charset="-122"/>
                <a:cs typeface="Carlito" pitchFamily="34" charset="-120"/>
              </a:rPr>
              <a:t>✕ Cambiar modelo requiere salir y ir a Ajustes</a:t>
            </a:r>
            <a:endParaRPr lang="en-US" sz="900" dirty="0"/>
          </a:p>
        </p:txBody>
      </p:sp>
      <p:sp>
        <p:nvSpPr>
          <p:cNvPr id="12" name="Text 10"/>
          <p:cNvSpPr/>
          <p:nvPr/>
        </p:nvSpPr>
        <p:spPr>
          <a:xfrm>
            <a:off x="457200" y="3655814"/>
            <a:ext cx="100013" cy="100013"/>
          </a:xfrm>
          <a:prstGeom prst="rect">
            <a:avLst/>
          </a:prstGeom>
          <a:noFill/>
          <a:ln/>
        </p:spPr>
        <p:txBody>
          <a:bodyPr wrap="none" lIns="0" tIns="0" rIns="0" bIns="0" rtlCol="0" anchor="ctr"/>
          <a:lstStyle/>
          <a:p>
            <a:pPr algn="ctr" indent="0" marL="0">
              <a:buNone/>
            </a:pPr>
            <a:r>
              <a:rPr lang="en-US" sz="984" dirty="0">
                <a:solidFill>
                  <a:srgbClr val="6EE7B7"/>
                </a:solidFill>
                <a:latin typeface="Segoe UI Symbol" pitchFamily="34" charset="0"/>
                <a:ea typeface="Segoe UI Symbol" pitchFamily="34" charset="-122"/>
                <a:cs typeface="Segoe UI Symbol" pitchFamily="34" charset="-120"/>
              </a:rPr>
              <a:t>→</a:t>
            </a:r>
            <a:endParaRPr lang="en-US" sz="984" dirty="0"/>
          </a:p>
        </p:txBody>
      </p:sp>
      <p:sp>
        <p:nvSpPr>
          <p:cNvPr id="13" name="Text 11"/>
          <p:cNvSpPr/>
          <p:nvPr/>
        </p:nvSpPr>
        <p:spPr>
          <a:xfrm>
            <a:off x="614363" y="3646884"/>
            <a:ext cx="3700463" cy="164592"/>
          </a:xfrm>
          <a:prstGeom prst="rect">
            <a:avLst/>
          </a:prstGeom>
          <a:noFill/>
          <a:ln/>
        </p:spPr>
        <p:txBody>
          <a:bodyPr wrap="square" lIns="0" tIns="0" rIns="0" bIns="0" rtlCol="0" anchor="t"/>
          <a:lstStyle/>
          <a:p>
            <a:pPr algn="l" indent="0" marL="0">
              <a:lnSpc>
                <a:spcPts val="928"/>
              </a:lnSpc>
              <a:buNone/>
            </a:pPr>
            <a:r>
              <a:rPr lang="en-US" sz="800" dirty="0">
                <a:solidFill>
                  <a:srgbClr val="7A6BA8"/>
                </a:solidFill>
                <a:latin typeface="Carlito" pitchFamily="34" charset="0"/>
                <a:ea typeface="Carlito" pitchFamily="34" charset="-122"/>
                <a:cs typeface="Carlito" pitchFamily="34" charset="-120"/>
              </a:rPr>
              <a:t>Propuesta en la próxima slide: bottom nav persistente</a:t>
            </a:r>
            <a:endParaRPr lang="en-US" sz="800" dirty="0"/>
          </a:p>
        </p:txBody>
      </p:sp>
      <p:sp>
        <p:nvSpPr>
          <p:cNvPr id="14" name="Text 12"/>
          <p:cNvSpPr/>
          <p:nvPr/>
        </p:nvSpPr>
        <p:spPr>
          <a:xfrm>
            <a:off x="5757863" y="533995"/>
            <a:ext cx="2000250" cy="3857625"/>
          </a:xfrm>
          <a:prstGeom prst="roundRect">
            <a:avLst>
              <a:gd name="adj" fmla="val 15238"/>
            </a:avLst>
          </a:prstGeom>
          <a:solidFill>
            <a:srgbClr val="453F6A"/>
          </a:solidFill>
          <a:ln/>
          <a:effectLst>
            <a:outerShdw sx="100000" sy="100000" kx="0" ky="0" algn="bl" rotWithShape="0" blurRad="571500" dist="190500" dir="5400000">
              <a:srgbClr val="000000">
                <a:alpha val="50000"/>
              </a:srgbClr>
            </a:outerShdw>
          </a:effectLst>
        </p:spPr>
        <p:txBody>
          <a:bodyPr wrap="square" rtlCol="0" anchor="ctr"/>
          <a:lstStyle/>
          <a:p>
            <a:pPr indent="0" marL="0">
              <a:buNone/>
            </a:pPr>
            <a:endParaRPr lang="en-US" dirty="0"/>
          </a:p>
        </p:txBody>
      </p:sp>
      <p:pic>
        <p:nvPicPr>
          <p:cNvPr id="15" name="Image 0" descr="/tmp/h2p-fit-1783825566137-1ybbnz.png">    </p:cNvPr>
          <p:cNvPicPr>
            <a:picLocks noChangeAspect="1"/>
          </p:cNvPicPr>
          <p:nvPr/>
        </p:nvPicPr>
        <p:blipFill>
          <a:blip r:embed="rId1"/>
          <a:stretch>
            <a:fillRect/>
          </a:stretch>
        </p:blipFill>
        <p:spPr>
          <a:xfrm>
            <a:off x="5757863" y="533995"/>
            <a:ext cx="2000250" cy="3857625"/>
          </a:xfrm>
          <a:prstGeom prst="rect">
            <a:avLst/>
          </a:prstGeom>
        </p:spPr>
      </p:pic>
      <p:sp>
        <p:nvSpPr>
          <p:cNvPr id="16" name="Text 13"/>
          <p:cNvSpPr/>
          <p:nvPr/>
        </p:nvSpPr>
        <p:spPr>
          <a:xfrm>
            <a:off x="5913413" y="4491633"/>
            <a:ext cx="1689037" cy="164592"/>
          </a:xfrm>
          <a:prstGeom prst="rect">
            <a:avLst/>
          </a:prstGeom>
          <a:noFill/>
          <a:ln/>
        </p:spPr>
        <p:txBody>
          <a:bodyPr wrap="square" lIns="0" tIns="0" rIns="0" bIns="0" rtlCol="0" anchor="t"/>
          <a:lstStyle/>
          <a:p>
            <a:pPr algn="ctr" indent="0" marL="0">
              <a:lnSpc>
                <a:spcPts val="928"/>
              </a:lnSpc>
              <a:buNone/>
            </a:pPr>
            <a:r>
              <a:rPr lang="en-US" sz="619" dirty="0">
                <a:solidFill>
                  <a:srgbClr val="7A6BA8"/>
                </a:solidFill>
                <a:latin typeface="Carlito" pitchFamily="34" charset="0"/>
                <a:ea typeface="Carlito" pitchFamily="34" charset="-122"/>
                <a:cs typeface="Carlito" pitchFamily="34" charset="-120"/>
              </a:rPr>
              <a:t>Referencia: bottom nav en apps de consumo</a:t>
            </a:r>
            <a:endParaRPr lang="en-US" sz="61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714375" y="-857250"/>
            <a:ext cx="2286000" cy="2286000"/>
          </a:xfrm>
          <a:prstGeom prst="ellipse">
            <a:avLst/>
          </a:prstGeom>
          <a:solidFill>
            <a:srgbClr val="8363F9">
              <a:alpha val="18000"/>
            </a:srgbClr>
          </a:solidFill>
          <a:ln/>
        </p:spPr>
        <p:txBody>
          <a:bodyPr wrap="square" rtlCol="0" anchor="ctr"/>
          <a:lstStyle/>
          <a:p>
            <a:pPr indent="0" marL="0">
              <a:buNone/>
            </a:pPr>
            <a:endParaRPr lang="en-US" dirty="0"/>
          </a:p>
        </p:txBody>
      </p:sp>
      <p:sp>
        <p:nvSpPr>
          <p:cNvPr id="3" name="Text 1"/>
          <p:cNvSpPr/>
          <p:nvPr/>
        </p:nvSpPr>
        <p:spPr>
          <a:xfrm>
            <a:off x="5600700" y="4143375"/>
            <a:ext cx="1714500" cy="1714500"/>
          </a:xfrm>
          <a:prstGeom prst="ellipse">
            <a:avLst/>
          </a:prstGeom>
          <a:solidFill>
            <a:srgbClr val="6EE7B7">
              <a:alpha val="8000"/>
            </a:srgbClr>
          </a:solidFill>
          <a:ln/>
        </p:spPr>
        <p:txBody>
          <a:bodyPr wrap="square" rtlCol="0" anchor="ctr"/>
          <a:lstStyle/>
          <a:p>
            <a:pPr indent="0" marL="0">
              <a:buNone/>
            </a:pPr>
            <a:endParaRPr lang="en-US" dirty="0"/>
          </a:p>
        </p:txBody>
      </p:sp>
      <p:sp>
        <p:nvSpPr>
          <p:cNvPr id="4" name="Shape 2"/>
          <p:cNvSpPr/>
          <p:nvPr/>
        </p:nvSpPr>
        <p:spPr>
          <a:xfrm>
            <a:off x="1570174" y="1400510"/>
            <a:ext cx="2143125" cy="0"/>
          </a:xfrm>
          <a:prstGeom prst="line">
            <a:avLst/>
          </a:prstGeom>
          <a:noFill/>
          <a:ln w="7144">
            <a:solidFill>
              <a:srgbClr val="E6E3F5"/>
            </a:solidFill>
            <a:prstDash val="solid"/>
          </a:ln>
        </p:spPr>
      </p:sp>
      <p:sp>
        <p:nvSpPr>
          <p:cNvPr id="5" name="Shape 3"/>
          <p:cNvSpPr/>
          <p:nvPr/>
        </p:nvSpPr>
        <p:spPr>
          <a:xfrm>
            <a:off x="1570174" y="4479466"/>
            <a:ext cx="2143125" cy="0"/>
          </a:xfrm>
          <a:prstGeom prst="line">
            <a:avLst/>
          </a:prstGeom>
          <a:noFill/>
          <a:ln w="7144">
            <a:solidFill>
              <a:srgbClr val="E6E3F5"/>
            </a:solidFill>
            <a:prstDash val="solid"/>
          </a:ln>
        </p:spPr>
      </p:sp>
      <p:sp>
        <p:nvSpPr>
          <p:cNvPr id="6" name="Text 4"/>
          <p:cNvSpPr/>
          <p:nvPr/>
        </p:nvSpPr>
        <p:spPr>
          <a:xfrm>
            <a:off x="457200" y="332399"/>
            <a:ext cx="790054" cy="196025"/>
          </a:xfrm>
          <a:prstGeom prst="roundRect">
            <a:avLst>
              <a:gd name="adj" fmla="val 4854215"/>
            </a:avLst>
          </a:prstGeom>
          <a:solidFill>
            <a:srgbClr val="6EE7B7">
              <a:alpha val="15000"/>
            </a:srgbClr>
          </a:solidFill>
          <a:ln/>
        </p:spPr>
        <p:txBody>
          <a:bodyPr wrap="square" rtlCol="0" anchor="ctr"/>
          <a:lstStyle/>
          <a:p>
            <a:pPr indent="0" marL="0">
              <a:buNone/>
            </a:pPr>
            <a:endParaRPr lang="en-US" dirty="0"/>
          </a:p>
        </p:txBody>
      </p:sp>
      <p:sp>
        <p:nvSpPr>
          <p:cNvPr id="7" name="Text 5"/>
          <p:cNvSpPr/>
          <p:nvPr/>
        </p:nvSpPr>
        <p:spPr>
          <a:xfrm>
            <a:off x="657225" y="385763"/>
            <a:ext cx="625748" cy="119703"/>
          </a:xfrm>
          <a:prstGeom prst="rect">
            <a:avLst/>
          </a:prstGeom>
          <a:noFill/>
          <a:ln/>
        </p:spPr>
        <p:txBody>
          <a:bodyPr wrap="none" lIns="0" tIns="0" rIns="0" bIns="0" rtlCol="0" anchor="t"/>
          <a:lstStyle/>
          <a:p>
            <a:pPr algn="l" indent="0" marL="0">
              <a:lnSpc>
                <a:spcPts val="928"/>
              </a:lnSpc>
              <a:buNone/>
            </a:pPr>
            <a:r>
              <a:rPr lang="en-US" sz="619" b="1" spc="31" kern="0" dirty="0">
                <a:solidFill>
                  <a:srgbClr val="6EE7B7"/>
                </a:solidFill>
                <a:latin typeface="Carlito" pitchFamily="34" charset="0"/>
                <a:ea typeface="Carlito" pitchFamily="34" charset="-122"/>
                <a:cs typeface="Carlito" pitchFamily="34" charset="-120"/>
              </a:rPr>
              <a:t>PROPUESTA</a:t>
            </a:r>
            <a:endParaRPr lang="en-US" sz="619" dirty="0"/>
          </a:p>
        </p:txBody>
      </p:sp>
      <p:sp>
        <p:nvSpPr>
          <p:cNvPr id="8" name="Text 6"/>
          <p:cNvSpPr/>
          <p:nvPr/>
        </p:nvSpPr>
        <p:spPr>
          <a:xfrm>
            <a:off x="528638" y="380405"/>
            <a:ext cx="100013" cy="100013"/>
          </a:xfrm>
          <a:prstGeom prst="rect">
            <a:avLst/>
          </a:prstGeom>
          <a:noFill/>
          <a:ln/>
        </p:spPr>
        <p:txBody>
          <a:bodyPr wrap="none" lIns="0" tIns="0" rIns="0" bIns="0" rtlCol="0" anchor="ctr"/>
          <a:lstStyle/>
          <a:p>
            <a:pPr algn="ctr" indent="0" marL="0">
              <a:buNone/>
            </a:pPr>
            <a:r>
              <a:rPr lang="en-US" sz="984" dirty="0">
                <a:solidFill>
                  <a:srgbClr val="6EE7B7"/>
                </a:solidFill>
                <a:latin typeface="Segoe UI Symbol" pitchFamily="34" charset="0"/>
                <a:ea typeface="Segoe UI Symbol" pitchFamily="34" charset="-122"/>
                <a:cs typeface="Segoe UI Symbol" pitchFamily="34" charset="-120"/>
              </a:rPr>
              <a:t>⚡</a:t>
            </a:r>
            <a:endParaRPr lang="en-US" sz="984" dirty="0"/>
          </a:p>
        </p:txBody>
      </p:sp>
      <p:sp>
        <p:nvSpPr>
          <p:cNvPr id="9" name="Text 7"/>
          <p:cNvSpPr/>
          <p:nvPr/>
        </p:nvSpPr>
        <p:spPr>
          <a:xfrm>
            <a:off x="1318692" y="371475"/>
            <a:ext cx="7368108"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A6BA8"/>
                </a:solidFill>
                <a:latin typeface="Liberation Sans Narrow" pitchFamily="34" charset="0"/>
                <a:ea typeface="Liberation Sans Narrow" pitchFamily="34" charset="-122"/>
                <a:cs typeface="Liberation Sans Narrow" pitchFamily="34" charset="-120"/>
              </a:rPr>
              <a:t>NAVEGACIÓN · HALLAZGO 02</a:t>
            </a:r>
            <a:endParaRPr lang="en-US" sz="800" dirty="0"/>
          </a:p>
        </p:txBody>
      </p:sp>
      <p:sp>
        <p:nvSpPr>
          <p:cNvPr id="10" name="Text 8"/>
          <p:cNvSpPr/>
          <p:nvPr/>
        </p:nvSpPr>
        <p:spPr>
          <a:xfrm>
            <a:off x="457200" y="546497"/>
            <a:ext cx="8636000" cy="241128"/>
          </a:xfrm>
          <a:prstGeom prst="rect">
            <a:avLst/>
          </a:prstGeom>
          <a:noFill/>
          <a:ln/>
        </p:spPr>
        <p:txBody>
          <a:bodyPr wrap="square" lIns="0" tIns="0" rIns="0" bIns="0" rtlCol="0" anchor="t">
            <a:normAutofit/>
          </a:bodyPr>
          <a:lstStyle/>
          <a:p>
            <a:pPr algn="l" indent="0" marL="0">
              <a:lnSpc>
                <a:spcPts val="1890"/>
              </a:lnSpc>
              <a:buNone/>
            </a:pPr>
            <a:r>
              <a:rPr lang="en-US" sz="1575" b="1" spc="-16" kern="0" dirty="0">
                <a:solidFill>
                  <a:srgbClr val="F0EAFF"/>
                </a:solidFill>
                <a:latin typeface="Carlito" pitchFamily="34" charset="0"/>
                <a:ea typeface="Carlito" pitchFamily="34" charset="-122"/>
                <a:cs typeface="Carlito" pitchFamily="34" charset="-120"/>
              </a:rPr>
              <a:t>Propuesta: Bottom navigation persistente</a:t>
            </a:r>
            <a:endParaRPr lang="en-US" sz="1575" dirty="0"/>
          </a:p>
        </p:txBody>
      </p:sp>
      <p:sp>
        <p:nvSpPr>
          <p:cNvPr id="11" name="Text 9"/>
          <p:cNvSpPr/>
          <p:nvPr/>
        </p:nvSpPr>
        <p:spPr>
          <a:xfrm>
            <a:off x="457200" y="815057"/>
            <a:ext cx="8229600" cy="164592"/>
          </a:xfrm>
          <a:prstGeom prst="rect">
            <a:avLst/>
          </a:prstGeom>
          <a:noFill/>
          <a:ln/>
        </p:spPr>
        <p:txBody>
          <a:bodyPr wrap="square" lIns="0" tIns="0" rIns="0" bIns="0" rtlCol="0" anchor="t"/>
          <a:lstStyle/>
          <a:p>
            <a:pPr algn="l" indent="0" marL="0">
              <a:lnSpc>
                <a:spcPts val="1181"/>
              </a:lnSpc>
              <a:buNone/>
            </a:pPr>
            <a:r>
              <a:rPr lang="en-US" sz="800" dirty="0">
                <a:solidFill>
                  <a:srgbClr val="B8A8E0"/>
                </a:solidFill>
                <a:latin typeface="Carlito" pitchFamily="34" charset="0"/>
                <a:ea typeface="Carlito" pitchFamily="34" charset="-122"/>
                <a:cs typeface="Carlito" pitchFamily="34" charset="-120"/>
              </a:rPr>
              <a:t>El chat no es una trampa — navegación siempre visible</a:t>
            </a:r>
            <a:endParaRPr lang="en-US" sz="800" dirty="0"/>
          </a:p>
        </p:txBody>
      </p:sp>
      <p:sp>
        <p:nvSpPr>
          <p:cNvPr id="12" name="Text 10"/>
          <p:cNvSpPr/>
          <p:nvPr/>
        </p:nvSpPr>
        <p:spPr>
          <a:xfrm>
            <a:off x="1570174" y="1018319"/>
            <a:ext cx="2143125" cy="3857625"/>
          </a:xfrm>
          <a:prstGeom prst="roundRect">
            <a:avLst>
              <a:gd name="adj" fmla="val 16000"/>
            </a:avLst>
          </a:prstGeom>
          <a:solidFill>
            <a:srgbClr val="453F6A"/>
          </a:solidFill>
          <a:ln/>
          <a:effectLst>
            <a:outerShdw sx="100000" sy="100000" kx="0" ky="0" algn="bl" rotWithShape="0" blurRad="571500" dist="228600" dir="5400000">
              <a:srgbClr val="000000">
                <a:alpha val="55000"/>
              </a:srgbClr>
            </a:outerShdw>
          </a:effectLst>
        </p:spPr>
        <p:txBody>
          <a:bodyPr wrap="square" rtlCol="0" anchor="ctr"/>
          <a:lstStyle/>
          <a:p>
            <a:pPr indent="0" marL="0">
              <a:buNone/>
            </a:pPr>
            <a:endParaRPr lang="en-US" dirty="0"/>
          </a:p>
        </p:txBody>
      </p:sp>
      <p:sp>
        <p:nvSpPr>
          <p:cNvPr id="13" name="Text 11"/>
          <p:cNvSpPr/>
          <p:nvPr/>
        </p:nvSpPr>
        <p:spPr>
          <a:xfrm>
            <a:off x="1570174" y="1018319"/>
            <a:ext cx="2143125" cy="385763"/>
          </a:xfrm>
          <a:prstGeom prst="rect">
            <a:avLst/>
          </a:prstGeom>
          <a:solidFill>
            <a:srgbClr val="F8F9FF"/>
          </a:solidFill>
          <a:ln/>
        </p:spPr>
        <p:txBody>
          <a:bodyPr wrap="square" rtlCol="0" anchor="ctr"/>
          <a:lstStyle/>
          <a:p>
            <a:pPr indent="0" marL="0">
              <a:buNone/>
            </a:pPr>
            <a:endParaRPr lang="en-US" dirty="0"/>
          </a:p>
        </p:txBody>
      </p:sp>
      <p:sp>
        <p:nvSpPr>
          <p:cNvPr id="14" name="Text 12"/>
          <p:cNvSpPr/>
          <p:nvPr/>
        </p:nvSpPr>
        <p:spPr>
          <a:xfrm>
            <a:off x="1684474" y="1179054"/>
            <a:ext cx="142875" cy="142875"/>
          </a:xfrm>
          <a:prstGeom prst="rect">
            <a:avLst/>
          </a:prstGeom>
          <a:noFill/>
          <a:ln/>
        </p:spPr>
        <p:txBody>
          <a:bodyPr wrap="none" lIns="0" tIns="0" rIns="0" bIns="0" rtlCol="0" anchor="ctr"/>
          <a:lstStyle/>
          <a:p>
            <a:pPr algn="ctr" indent="0" marL="0">
              <a:buNone/>
            </a:pPr>
            <a:r>
              <a:rPr lang="en-US" sz="1406" dirty="0">
                <a:solidFill>
                  <a:srgbClr val="5A3FB8"/>
                </a:solidFill>
                <a:latin typeface="Segoe UI Symbol" pitchFamily="34" charset="0"/>
                <a:ea typeface="Segoe UI Symbol" pitchFamily="34" charset="-122"/>
                <a:cs typeface="Segoe UI Symbol" pitchFamily="34" charset="-120"/>
              </a:rPr>
              <a:t>←</a:t>
            </a:r>
            <a:endParaRPr lang="en-US" sz="1406" dirty="0"/>
          </a:p>
        </p:txBody>
      </p:sp>
      <p:sp>
        <p:nvSpPr>
          <p:cNvPr id="15" name="Text 13"/>
          <p:cNvSpPr/>
          <p:nvPr/>
        </p:nvSpPr>
        <p:spPr>
          <a:xfrm>
            <a:off x="1884499" y="1175482"/>
            <a:ext cx="1714500" cy="150019"/>
          </a:xfrm>
          <a:prstGeom prst="rect">
            <a:avLst/>
          </a:prstGeom>
          <a:noFill/>
          <a:ln/>
        </p:spPr>
        <p:txBody>
          <a:bodyPr wrap="none" lIns="0" tIns="0" rIns="0" bIns="0" rtlCol="0" anchor="t"/>
          <a:lstStyle/>
          <a:p>
            <a:pPr algn="l" indent="0" marL="0">
              <a:lnSpc>
                <a:spcPts val="1181"/>
              </a:lnSpc>
              <a:buNone/>
            </a:pPr>
            <a:r>
              <a:rPr lang="en-US" sz="800" b="1" dirty="0">
                <a:solidFill>
                  <a:srgbClr val="14102A"/>
                </a:solidFill>
                <a:latin typeface="Carlito" pitchFamily="34" charset="0"/>
                <a:ea typeface="Carlito" pitchFamily="34" charset="-122"/>
                <a:cs typeface="Carlito" pitchFamily="34" charset="-120"/>
              </a:rPr>
              <a:t>Koru</a:t>
            </a:r>
            <a:endParaRPr lang="en-US" sz="800" dirty="0"/>
          </a:p>
        </p:txBody>
      </p:sp>
      <p:sp>
        <p:nvSpPr>
          <p:cNvPr id="16" name="Text 14"/>
          <p:cNvSpPr/>
          <p:nvPr/>
        </p:nvSpPr>
        <p:spPr>
          <a:xfrm>
            <a:off x="1570174" y="1404082"/>
            <a:ext cx="2143125" cy="3071813"/>
          </a:xfrm>
          <a:prstGeom prst="rect">
            <a:avLst/>
          </a:prstGeom>
          <a:solidFill>
            <a:srgbClr val="F1F1F6"/>
          </a:solidFill>
          <a:ln/>
        </p:spPr>
        <p:txBody>
          <a:bodyPr wrap="square" rtlCol="0" anchor="ctr"/>
          <a:lstStyle/>
          <a:p>
            <a:pPr indent="0" marL="0">
              <a:buNone/>
            </a:pPr>
            <a:endParaRPr lang="en-US" dirty="0"/>
          </a:p>
        </p:txBody>
      </p:sp>
      <p:sp>
        <p:nvSpPr>
          <p:cNvPr id="17" name="Text 15"/>
          <p:cNvSpPr/>
          <p:nvPr/>
        </p:nvSpPr>
        <p:spPr>
          <a:xfrm>
            <a:off x="2408345" y="1504094"/>
            <a:ext cx="530200" cy="164592"/>
          </a:xfrm>
          <a:prstGeom prst="rect">
            <a:avLst/>
          </a:prstGeom>
          <a:noFill/>
          <a:ln/>
        </p:spPr>
        <p:txBody>
          <a:bodyPr wrap="square" lIns="0" tIns="0" rIns="0" bIns="0" rtlCol="0" anchor="t"/>
          <a:lstStyle/>
          <a:p>
            <a:pPr algn="l" indent="0" marL="0">
              <a:lnSpc>
                <a:spcPts val="844"/>
              </a:lnSpc>
              <a:buNone/>
            </a:pPr>
            <a:r>
              <a:rPr lang="en-US" sz="600" dirty="0">
                <a:solidFill>
                  <a:srgbClr val="9E95B8"/>
                </a:solidFill>
                <a:latin typeface="Liberation Sans Narrow" pitchFamily="34" charset="0"/>
                <a:ea typeface="Liberation Sans Narrow" pitchFamily="34" charset="-122"/>
                <a:cs typeface="Liberation Sans Narrow" pitchFamily="34" charset="-120"/>
              </a:rPr>
              <a:t>Hoy · 14:32</a:t>
            </a:r>
            <a:endParaRPr lang="en-US" sz="600" dirty="0"/>
          </a:p>
        </p:txBody>
      </p:sp>
      <p:sp>
        <p:nvSpPr>
          <p:cNvPr id="18" name="Text 16"/>
          <p:cNvSpPr/>
          <p:nvPr/>
        </p:nvSpPr>
        <p:spPr>
          <a:xfrm>
            <a:off x="3235320" y="1712749"/>
            <a:ext cx="407341" cy="274853"/>
          </a:xfrm>
          <a:prstGeom prst="roundRect">
            <a:avLst>
              <a:gd name="adj" fmla="val 48517"/>
            </a:avLst>
          </a:prstGeom>
          <a:solidFill>
            <a:srgbClr val="F0F4FF"/>
          </a:solidFill>
          <a:ln/>
        </p:spPr>
        <p:txBody>
          <a:bodyPr wrap="square" rtlCol="0" anchor="ctr"/>
          <a:lstStyle/>
          <a:p>
            <a:pPr indent="0" marL="0">
              <a:buNone/>
            </a:pPr>
            <a:endParaRPr lang="en-US" dirty="0"/>
          </a:p>
        </p:txBody>
      </p:sp>
      <p:sp>
        <p:nvSpPr>
          <p:cNvPr id="19" name="Text 17"/>
          <p:cNvSpPr/>
          <p:nvPr/>
        </p:nvSpPr>
        <p:spPr>
          <a:xfrm>
            <a:off x="3250406" y="1725550"/>
            <a:ext cx="377168" cy="249250"/>
          </a:xfrm>
          <a:prstGeom prst="rect">
            <a:avLst/>
          </a:prstGeom>
          <a:noFill/>
          <a:ln/>
        </p:spPr>
        <p:txBody>
          <a:bodyPr wrap="none" lIns="0" tIns="0" rIns="0" bIns="0" rtlCol="0" anchor="ctr"/>
          <a:lstStyle/>
          <a:p>
            <a:pPr algn="ctr" indent="0" marL="0">
              <a:lnSpc>
                <a:spcPts val="1063"/>
              </a:lnSpc>
              <a:buNone/>
            </a:pPr>
            <a:r>
              <a:rPr lang="en-US" sz="800" dirty="0">
                <a:solidFill>
                  <a:srgbClr val="14102A"/>
                </a:solidFill>
                <a:latin typeface="Carlito" pitchFamily="34" charset="0"/>
                <a:ea typeface="Carlito" pitchFamily="34" charset="-122"/>
                <a:cs typeface="Carlito" pitchFamily="34" charset="-120"/>
              </a:rPr>
              <a:t>Hola</a:t>
            </a:r>
            <a:endParaRPr lang="en-US" sz="800" dirty="0"/>
          </a:p>
        </p:txBody>
      </p:sp>
      <p:sp>
        <p:nvSpPr>
          <p:cNvPr id="20" name="Text 18"/>
          <p:cNvSpPr/>
          <p:nvPr/>
        </p:nvSpPr>
        <p:spPr>
          <a:xfrm>
            <a:off x="1655899" y="2046238"/>
            <a:ext cx="1172133" cy="350267"/>
          </a:xfrm>
          <a:prstGeom prst="roundRect">
            <a:avLst>
              <a:gd name="adj" fmla="val 38071"/>
            </a:avLst>
          </a:prstGeom>
          <a:solidFill>
            <a:srgbClr val="F8F4FA"/>
          </a:solidFill>
          <a:ln/>
          <a:effectLst>
            <a:outerShdw sx="100000" sy="100000" kx="0" ky="0" algn="bl" rotWithShape="0" blurRad="57150" dist="19050" dir="5400000">
              <a:srgbClr val="000000">
                <a:alpha val="4000"/>
              </a:srgbClr>
            </a:outerShdw>
          </a:effectLst>
        </p:spPr>
        <p:txBody>
          <a:bodyPr wrap="square" rtlCol="0" anchor="ctr"/>
          <a:lstStyle/>
          <a:p>
            <a:pPr indent="0" marL="0">
              <a:buNone/>
            </a:pPr>
            <a:endParaRPr lang="en-US" dirty="0"/>
          </a:p>
        </p:txBody>
      </p:sp>
      <p:sp>
        <p:nvSpPr>
          <p:cNvPr id="21" name="Text 19"/>
          <p:cNvSpPr/>
          <p:nvPr/>
        </p:nvSpPr>
        <p:spPr>
          <a:xfrm>
            <a:off x="1655899" y="2046238"/>
            <a:ext cx="1172133" cy="384293"/>
          </a:xfrm>
          <a:prstGeom prst="rect">
            <a:avLst/>
          </a:prstGeom>
          <a:noFill/>
          <a:ln/>
        </p:spPr>
        <p:txBody>
          <a:bodyPr wrap="none" lIns="85725" tIns="57150" rIns="85725" bIns="57150" rtlCol="0" anchor="t"/>
          <a:lstStyle/>
          <a:p>
            <a:pPr algn="l" indent="0" marL="0">
              <a:lnSpc>
                <a:spcPts val="1063"/>
              </a:lnSpc>
              <a:buNone/>
            </a:pPr>
            <a:r>
              <a:rPr lang="en-US" sz="800" dirty="0">
                <a:solidFill>
                  <a:srgbClr val="14102A"/>
                </a:solidFill>
                <a:latin typeface="Carlito" pitchFamily="34" charset="0"/>
                <a:ea typeface="Carlito" pitchFamily="34" charset="-122"/>
                <a:cs typeface="Carlito" pitchFamily="34" charset="-120"/>
              </a:rPr>
              <a:t>Hola. ¿Cómo va todo?</a:t>
            </a:r>
            <a:endParaRPr lang="en-US" sz="800" dirty="0"/>
          </a:p>
        </p:txBody>
      </p:sp>
      <p:sp>
        <p:nvSpPr>
          <p:cNvPr id="22" name="Text 20"/>
          <p:cNvSpPr/>
          <p:nvPr/>
        </p:nvSpPr>
        <p:spPr>
          <a:xfrm>
            <a:off x="1655899" y="4279441"/>
            <a:ext cx="91440" cy="91440"/>
          </a:xfrm>
          <a:prstGeom prst="rect">
            <a:avLst/>
          </a:prstGeom>
          <a:noFill/>
          <a:ln/>
        </p:spPr>
        <p:txBody>
          <a:bodyPr wrap="none" lIns="0" tIns="0" rIns="0" bIns="0" rtlCol="0" anchor="ctr"/>
          <a:lstStyle/>
          <a:p>
            <a:pPr algn="ctr" indent="0" marL="0">
              <a:buNone/>
            </a:pPr>
            <a:r>
              <a:rPr lang="en-US" sz="844" dirty="0">
                <a:solidFill>
                  <a:srgbClr val="9E95B8"/>
                </a:solidFill>
                <a:latin typeface="Segoe UI Symbol" pitchFamily="34" charset="0"/>
                <a:ea typeface="Segoe UI Symbol" pitchFamily="34" charset="-122"/>
                <a:cs typeface="Segoe UI Symbol" pitchFamily="34" charset="-120"/>
              </a:rPr>
              <a:t>✎</a:t>
            </a:r>
            <a:endParaRPr lang="en-US" sz="844" dirty="0"/>
          </a:p>
        </p:txBody>
      </p:sp>
      <p:sp>
        <p:nvSpPr>
          <p:cNvPr id="23" name="Text 21"/>
          <p:cNvSpPr/>
          <p:nvPr/>
        </p:nvSpPr>
        <p:spPr>
          <a:xfrm>
            <a:off x="1784486" y="4268725"/>
            <a:ext cx="1843088" cy="107156"/>
          </a:xfrm>
          <a:prstGeom prst="rect">
            <a:avLst/>
          </a:prstGeom>
          <a:noFill/>
          <a:ln/>
        </p:spPr>
        <p:txBody>
          <a:bodyPr wrap="square" lIns="0" tIns="0" rIns="0" bIns="0" rtlCol="0" anchor="t"/>
          <a:lstStyle/>
          <a:p>
            <a:pPr algn="l" indent="0" marL="0">
              <a:lnSpc>
                <a:spcPts val="844"/>
              </a:lnSpc>
              <a:buNone/>
            </a:pPr>
            <a:r>
              <a:rPr lang="en-US" sz="800" dirty="0">
                <a:solidFill>
                  <a:srgbClr val="9E95B8"/>
                </a:solidFill>
                <a:latin typeface="Carlito" pitchFamily="34" charset="0"/>
                <a:ea typeface="Carlito" pitchFamily="34" charset="-122"/>
                <a:cs typeface="Carlito" pitchFamily="34" charset="-120"/>
              </a:rPr>
              <a:t>Escribe un mensaje…</a:t>
            </a:r>
            <a:endParaRPr lang="en-US" sz="800" dirty="0"/>
          </a:p>
        </p:txBody>
      </p:sp>
      <p:sp>
        <p:nvSpPr>
          <p:cNvPr id="24" name="Text 22"/>
          <p:cNvSpPr/>
          <p:nvPr/>
        </p:nvSpPr>
        <p:spPr>
          <a:xfrm>
            <a:off x="1570174" y="4475894"/>
            <a:ext cx="2143125" cy="400050"/>
          </a:xfrm>
          <a:prstGeom prst="rect">
            <a:avLst/>
          </a:prstGeom>
          <a:solidFill>
            <a:srgbClr val="F8F9FF">
              <a:alpha val="92000"/>
            </a:srgbClr>
          </a:solidFill>
          <a:ln/>
        </p:spPr>
        <p:txBody>
          <a:bodyPr wrap="square" rtlCol="0" anchor="ctr"/>
          <a:lstStyle/>
          <a:p>
            <a:pPr indent="0" marL="0">
              <a:buNone/>
            </a:pPr>
            <a:endParaRPr lang="en-US" dirty="0"/>
          </a:p>
        </p:txBody>
      </p:sp>
      <p:sp>
        <p:nvSpPr>
          <p:cNvPr id="25" name="Text 23"/>
          <p:cNvSpPr/>
          <p:nvPr/>
        </p:nvSpPr>
        <p:spPr>
          <a:xfrm>
            <a:off x="1728676" y="4533044"/>
            <a:ext cx="157163" cy="157163"/>
          </a:xfrm>
          <a:prstGeom prst="rect">
            <a:avLst/>
          </a:prstGeom>
          <a:noFill/>
          <a:ln/>
        </p:spPr>
        <p:txBody>
          <a:bodyPr wrap="none" lIns="0" tIns="0" rIns="0" bIns="0" rtlCol="0" anchor="ctr"/>
          <a:lstStyle/>
          <a:p>
            <a:pPr algn="ctr" indent="0" marL="0">
              <a:buNone/>
            </a:pPr>
            <a:r>
              <a:rPr lang="en-US" sz="1547" dirty="0">
                <a:solidFill>
                  <a:srgbClr val="8363F9"/>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1729138" y="4704494"/>
            <a:ext cx="234574" cy="128588"/>
          </a:xfrm>
          <a:prstGeom prst="rect">
            <a:avLst/>
          </a:prstGeom>
          <a:noFill/>
          <a:ln/>
        </p:spPr>
        <p:txBody>
          <a:bodyPr wrap="square" lIns="0" tIns="0" rIns="0" bIns="0" rtlCol="0" anchor="t"/>
          <a:lstStyle/>
          <a:p>
            <a:pPr algn="l" indent="0" marL="0">
              <a:lnSpc>
                <a:spcPts val="844"/>
              </a:lnSpc>
              <a:buNone/>
            </a:pPr>
            <a:r>
              <a:rPr lang="en-US" sz="800" dirty="0">
                <a:solidFill>
                  <a:srgbClr val="8363F9"/>
                </a:solidFill>
                <a:latin typeface="Carlito" pitchFamily="34" charset="0"/>
                <a:ea typeface="Carlito" pitchFamily="34" charset="-122"/>
                <a:cs typeface="Carlito" pitchFamily="34" charset="-120"/>
              </a:rPr>
              <a:t>Hoy</a:t>
            </a:r>
            <a:endParaRPr lang="en-US" sz="800" dirty="0"/>
          </a:p>
        </p:txBody>
      </p:sp>
      <p:sp>
        <p:nvSpPr>
          <p:cNvPr id="27" name="Text 25"/>
          <p:cNvSpPr/>
          <p:nvPr/>
        </p:nvSpPr>
        <p:spPr>
          <a:xfrm>
            <a:off x="2145916" y="4533044"/>
            <a:ext cx="157163" cy="157163"/>
          </a:xfrm>
          <a:prstGeom prst="rect">
            <a:avLst/>
          </a:prstGeom>
          <a:noFill/>
          <a:ln/>
        </p:spPr>
        <p:txBody>
          <a:bodyPr wrap="none" lIns="0" tIns="0" rIns="0" bIns="0" rtlCol="0" anchor="ctr"/>
          <a:lstStyle/>
          <a:p>
            <a:pPr algn="ctr" indent="0" marL="0">
              <a:buNone/>
            </a:pPr>
            <a:r>
              <a:rPr lang="en-US" sz="1547" dirty="0">
                <a:solidFill>
                  <a:srgbClr val="9E95B8"/>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2122046" y="4704494"/>
            <a:ext cx="296916" cy="128588"/>
          </a:xfrm>
          <a:prstGeom prst="rect">
            <a:avLst/>
          </a:prstGeom>
          <a:noFill/>
          <a:ln/>
        </p:spPr>
        <p:txBody>
          <a:bodyPr wrap="square" lIns="0" tIns="0" rIns="0" bIns="0" rtlCol="0" anchor="t"/>
          <a:lstStyle/>
          <a:p>
            <a:pPr algn="l" indent="0" marL="0">
              <a:lnSpc>
                <a:spcPts val="844"/>
              </a:lnSpc>
              <a:buNone/>
            </a:pPr>
            <a:r>
              <a:rPr lang="en-US" sz="800" dirty="0">
                <a:solidFill>
                  <a:srgbClr val="9E95B8"/>
                </a:solidFill>
                <a:latin typeface="Carlito" pitchFamily="34" charset="0"/>
                <a:ea typeface="Carlito" pitchFamily="34" charset="-122"/>
                <a:cs typeface="Carlito" pitchFamily="34" charset="-120"/>
              </a:rPr>
              <a:t>Chat</a:t>
            </a:r>
            <a:endParaRPr lang="en-US" sz="800" dirty="0"/>
          </a:p>
        </p:txBody>
      </p:sp>
      <p:sp>
        <p:nvSpPr>
          <p:cNvPr id="29" name="Text 27"/>
          <p:cNvSpPr/>
          <p:nvPr/>
        </p:nvSpPr>
        <p:spPr>
          <a:xfrm>
            <a:off x="2563044" y="4533044"/>
            <a:ext cx="157163" cy="157163"/>
          </a:xfrm>
          <a:prstGeom prst="rect">
            <a:avLst/>
          </a:prstGeom>
          <a:noFill/>
          <a:ln/>
        </p:spPr>
        <p:txBody>
          <a:bodyPr wrap="none" lIns="0" tIns="0" rIns="0" bIns="0" rtlCol="0" anchor="ctr"/>
          <a:lstStyle/>
          <a:p>
            <a:pPr algn="ctr" indent="0" marL="0">
              <a:buNone/>
            </a:pPr>
            <a:r>
              <a:rPr lang="en-US" sz="1547" dirty="0">
                <a:solidFill>
                  <a:srgbClr val="9E95B8"/>
                </a:solidFill>
                <a:latin typeface="Segoe UI Symbol" pitchFamily="34" charset="0"/>
                <a:ea typeface="Segoe UI Symbol" pitchFamily="34" charset="-122"/>
                <a:cs typeface="Segoe UI Symbol" pitchFamily="34" charset="-120"/>
              </a:rPr>
              <a:t>€</a:t>
            </a:r>
            <a:endParaRPr lang="en-US" sz="1547" dirty="0"/>
          </a:p>
        </p:txBody>
      </p:sp>
      <p:sp>
        <p:nvSpPr>
          <p:cNvPr id="30" name="Text 28"/>
          <p:cNvSpPr/>
          <p:nvPr/>
        </p:nvSpPr>
        <p:spPr>
          <a:xfrm>
            <a:off x="2494731" y="4704494"/>
            <a:ext cx="376047" cy="128588"/>
          </a:xfrm>
          <a:prstGeom prst="rect">
            <a:avLst/>
          </a:prstGeom>
          <a:noFill/>
          <a:ln/>
        </p:spPr>
        <p:txBody>
          <a:bodyPr wrap="none" lIns="0" tIns="0" rIns="0" bIns="0" rtlCol="0" anchor="t"/>
          <a:lstStyle/>
          <a:p>
            <a:pPr algn="l" indent="0" marL="0">
              <a:lnSpc>
                <a:spcPts val="844"/>
              </a:lnSpc>
              <a:buNone/>
            </a:pPr>
            <a:r>
              <a:rPr lang="en-US" sz="600" dirty="0">
                <a:solidFill>
                  <a:srgbClr val="9E95B8"/>
                </a:solidFill>
                <a:latin typeface="Carlito" pitchFamily="34" charset="0"/>
                <a:ea typeface="Carlito" pitchFamily="34" charset="-122"/>
                <a:cs typeface="Carlito" pitchFamily="34" charset="-120"/>
              </a:rPr>
              <a:t>Memoria</a:t>
            </a:r>
            <a:endParaRPr lang="en-US" sz="600" dirty="0"/>
          </a:p>
        </p:txBody>
      </p:sp>
      <p:sp>
        <p:nvSpPr>
          <p:cNvPr id="31" name="Text 29"/>
          <p:cNvSpPr/>
          <p:nvPr/>
        </p:nvSpPr>
        <p:spPr>
          <a:xfrm>
            <a:off x="2980283" y="4533044"/>
            <a:ext cx="157163" cy="157163"/>
          </a:xfrm>
          <a:prstGeom prst="rect">
            <a:avLst/>
          </a:prstGeom>
          <a:noFill/>
          <a:ln/>
        </p:spPr>
        <p:txBody>
          <a:bodyPr wrap="none" lIns="0" tIns="0" rIns="0" bIns="0" rtlCol="0" anchor="ctr"/>
          <a:lstStyle/>
          <a:p>
            <a:pPr algn="ctr" indent="0" marL="0">
              <a:buNone/>
            </a:pPr>
            <a:r>
              <a:rPr lang="en-US" sz="1547" dirty="0">
                <a:solidFill>
                  <a:srgbClr val="9E95B8"/>
                </a:solidFill>
                <a:latin typeface="Segoe UI Symbol" pitchFamily="34" charset="0"/>
                <a:ea typeface="Segoe UI Symbol" pitchFamily="34" charset="-122"/>
                <a:cs typeface="Segoe UI Symbol" pitchFamily="34" charset="-120"/>
              </a:rPr>
              <a:t>✦</a:t>
            </a:r>
            <a:endParaRPr lang="en-US" sz="1547" dirty="0"/>
          </a:p>
        </p:txBody>
      </p:sp>
      <p:sp>
        <p:nvSpPr>
          <p:cNvPr id="32" name="Text 30"/>
          <p:cNvSpPr/>
          <p:nvPr/>
        </p:nvSpPr>
        <p:spPr>
          <a:xfrm>
            <a:off x="2870595" y="4704494"/>
            <a:ext cx="456468" cy="128588"/>
          </a:xfrm>
          <a:prstGeom prst="rect">
            <a:avLst/>
          </a:prstGeom>
          <a:noFill/>
          <a:ln/>
        </p:spPr>
        <p:txBody>
          <a:bodyPr wrap="square" lIns="0" tIns="0" rIns="0" bIns="0" rtlCol="0" anchor="t"/>
          <a:lstStyle/>
          <a:p>
            <a:pPr algn="l" indent="0" marL="0">
              <a:lnSpc>
                <a:spcPts val="844"/>
              </a:lnSpc>
              <a:buNone/>
            </a:pPr>
            <a:r>
              <a:rPr lang="en-US" sz="600" dirty="0">
                <a:solidFill>
                  <a:srgbClr val="9E95B8"/>
                </a:solidFill>
                <a:latin typeface="Carlito" pitchFamily="34" charset="0"/>
                <a:ea typeface="Carlito" pitchFamily="34" charset="-122"/>
                <a:cs typeface="Carlito" pitchFamily="34" charset="-120"/>
              </a:rPr>
              <a:t>Historial</a:t>
            </a:r>
            <a:endParaRPr lang="en-US" sz="600" dirty="0"/>
          </a:p>
        </p:txBody>
      </p:sp>
      <p:sp>
        <p:nvSpPr>
          <p:cNvPr id="33" name="Text 31"/>
          <p:cNvSpPr/>
          <p:nvPr/>
        </p:nvSpPr>
        <p:spPr>
          <a:xfrm>
            <a:off x="3397523" y="4533044"/>
            <a:ext cx="157163" cy="157163"/>
          </a:xfrm>
          <a:prstGeom prst="rect">
            <a:avLst/>
          </a:prstGeom>
          <a:noFill/>
          <a:ln/>
        </p:spPr>
        <p:txBody>
          <a:bodyPr wrap="none" lIns="0" tIns="0" rIns="0" bIns="0" rtlCol="0" anchor="ctr"/>
          <a:lstStyle/>
          <a:p>
            <a:pPr algn="ctr" indent="0" marL="0">
              <a:buNone/>
            </a:pPr>
            <a:r>
              <a:rPr lang="en-US" sz="1547" dirty="0">
                <a:solidFill>
                  <a:srgbClr val="9E95B8"/>
                </a:solidFill>
                <a:latin typeface="Segoe UI Symbol" pitchFamily="34" charset="0"/>
                <a:ea typeface="Segoe UI Symbol" pitchFamily="34" charset="-122"/>
                <a:cs typeface="Segoe UI Symbol" pitchFamily="34" charset="-120"/>
              </a:rPr>
              <a:t>⚙</a:t>
            </a:r>
            <a:endParaRPr lang="en-US" sz="1547" dirty="0"/>
          </a:p>
        </p:txBody>
      </p:sp>
      <p:sp>
        <p:nvSpPr>
          <p:cNvPr id="34" name="Text 32"/>
          <p:cNvSpPr/>
          <p:nvPr/>
        </p:nvSpPr>
        <p:spPr>
          <a:xfrm>
            <a:off x="3330756" y="4704494"/>
            <a:ext cx="362956" cy="128588"/>
          </a:xfrm>
          <a:prstGeom prst="rect">
            <a:avLst/>
          </a:prstGeom>
          <a:noFill/>
          <a:ln/>
        </p:spPr>
        <p:txBody>
          <a:bodyPr wrap="none" lIns="0" tIns="0" rIns="0" bIns="0" rtlCol="0" anchor="t"/>
          <a:lstStyle/>
          <a:p>
            <a:pPr algn="l" indent="0" marL="0">
              <a:lnSpc>
                <a:spcPts val="844"/>
              </a:lnSpc>
              <a:buNone/>
            </a:pPr>
            <a:r>
              <a:rPr lang="en-US" sz="600" dirty="0">
                <a:solidFill>
                  <a:srgbClr val="9E95B8"/>
                </a:solidFill>
                <a:latin typeface="Carlito" pitchFamily="34" charset="0"/>
                <a:ea typeface="Carlito" pitchFamily="34" charset="-122"/>
                <a:cs typeface="Carlito" pitchFamily="34" charset="-120"/>
              </a:rPr>
              <a:t>Ajustes</a:t>
            </a:r>
            <a:endParaRPr lang="en-US" sz="600" dirty="0"/>
          </a:p>
        </p:txBody>
      </p:sp>
      <p:sp>
        <p:nvSpPr>
          <p:cNvPr id="35" name="Text 33"/>
          <p:cNvSpPr/>
          <p:nvPr/>
        </p:nvSpPr>
        <p:spPr>
          <a:xfrm>
            <a:off x="4617006" y="4354973"/>
            <a:ext cx="875176" cy="184023"/>
          </a:xfrm>
          <a:prstGeom prst="roundRect">
            <a:avLst>
              <a:gd name="adj" fmla="val 31056"/>
            </a:avLst>
          </a:prstGeom>
          <a:solidFill>
            <a:srgbClr val="6EE7B7"/>
          </a:solidFill>
          <a:ln/>
          <a:effectLst>
            <a:outerShdw sx="100000" sy="100000" kx="0" ky="0" algn="bl" rotWithShape="0" blurRad="114300" dist="38100" dir="5400000">
              <a:srgbClr val="000000">
                <a:alpha val="30000"/>
              </a:srgbClr>
            </a:outerShdw>
          </a:effectLst>
        </p:spPr>
        <p:txBody>
          <a:bodyPr wrap="square" rtlCol="0" anchor="ctr"/>
          <a:lstStyle/>
          <a:p>
            <a:pPr indent="0" marL="0">
              <a:buNone/>
            </a:pPr>
            <a:endParaRPr lang="en-US" dirty="0"/>
          </a:p>
        </p:txBody>
      </p:sp>
      <p:sp>
        <p:nvSpPr>
          <p:cNvPr id="36" name="Text 34"/>
          <p:cNvSpPr/>
          <p:nvPr/>
        </p:nvSpPr>
        <p:spPr>
          <a:xfrm>
            <a:off x="4639866" y="4364831"/>
            <a:ext cx="829456"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14102A"/>
                </a:solidFill>
                <a:latin typeface="Carlito" pitchFamily="34" charset="0"/>
                <a:ea typeface="Carlito" pitchFamily="34" charset="-122"/>
                <a:cs typeface="Carlito" pitchFamily="34" charset="-120"/>
              </a:rPr>
              <a:t>NAV PERSISTENTE</a:t>
            </a:r>
            <a:endParaRPr lang="en-US" sz="800" dirty="0"/>
          </a:p>
        </p:txBody>
      </p:sp>
      <p:sp>
        <p:nvSpPr>
          <p:cNvPr id="37" name="Text 35"/>
          <p:cNvSpPr/>
          <p:nvPr/>
        </p:nvSpPr>
        <p:spPr>
          <a:xfrm>
            <a:off x="5112134" y="2254188"/>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5340734" y="2247044"/>
            <a:ext cx="3346066" cy="164592"/>
          </a:xfrm>
          <a:prstGeom prst="rect">
            <a:avLst/>
          </a:prstGeom>
          <a:noFill/>
          <a:ln/>
        </p:spPr>
        <p:txBody>
          <a:bodyPr wrap="square" lIns="0" tIns="0" rIns="0" bIns="0" rtlCol="0" anchor="t"/>
          <a:lstStyle/>
          <a:p>
            <a:pPr algn="l" indent="0" marL="0">
              <a:lnSpc>
                <a:spcPts val="1181"/>
              </a:lnSpc>
              <a:buNone/>
            </a:pPr>
            <a:r>
              <a:rPr lang="en-US" sz="800" b="1" dirty="0">
                <a:solidFill>
                  <a:srgbClr val="F0EAFF"/>
                </a:solidFill>
                <a:latin typeface="Liberation Sans Narrow" pitchFamily="34" charset="0"/>
                <a:ea typeface="Liberation Sans Narrow" pitchFamily="34" charset="-122"/>
                <a:cs typeface="Liberation Sans Narrow" pitchFamily="34" charset="-120"/>
              </a:rPr>
              <a:t>5 tabs</a:t>
            </a:r>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 Hoy, Chat, Memoria, Historial, Ajustes</a:t>
            </a:r>
            <a:endParaRPr lang="en-US" sz="800" dirty="0"/>
          </a:p>
        </p:txBody>
      </p:sp>
      <p:sp>
        <p:nvSpPr>
          <p:cNvPr id="39" name="Text 37"/>
          <p:cNvSpPr/>
          <p:nvPr/>
        </p:nvSpPr>
        <p:spPr>
          <a:xfrm>
            <a:off x="5112134" y="2489932"/>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40" name="Text 38"/>
          <p:cNvSpPr/>
          <p:nvPr/>
        </p:nvSpPr>
        <p:spPr>
          <a:xfrm>
            <a:off x="5340734" y="2482788"/>
            <a:ext cx="3346066"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Persistente en </a:t>
            </a:r>
            <a:pPr algn="l" indent="0" marL="0">
              <a:lnSpc>
                <a:spcPts val="1181"/>
              </a:lnSpc>
              <a:buNone/>
            </a:pPr>
            <a:r>
              <a:rPr lang="en-US" sz="800" b="1" dirty="0">
                <a:solidFill>
                  <a:srgbClr val="F0EAFF"/>
                </a:solidFill>
                <a:latin typeface="Carlito" pitchFamily="34" charset="0"/>
                <a:ea typeface="Carlito" pitchFamily="34" charset="-122"/>
                <a:cs typeface="Carlito" pitchFamily="34" charset="-120"/>
              </a:rPr>
              <a:t>TODAS</a:t>
            </a:r>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 las pantallas (incluido chat)</a:t>
            </a:r>
            <a:endParaRPr lang="en-US" sz="800" dirty="0"/>
          </a:p>
        </p:txBody>
      </p:sp>
      <p:sp>
        <p:nvSpPr>
          <p:cNvPr id="41" name="Text 39"/>
          <p:cNvSpPr/>
          <p:nvPr/>
        </p:nvSpPr>
        <p:spPr>
          <a:xfrm>
            <a:off x="5112134" y="2725675"/>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42" name="Text 40"/>
          <p:cNvSpPr/>
          <p:nvPr/>
        </p:nvSpPr>
        <p:spPr>
          <a:xfrm>
            <a:off x="5340734" y="2718532"/>
            <a:ext cx="3346066"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Chat sigue siendo overlay pero con nav visible abajo</a:t>
            </a:r>
            <a:endParaRPr lang="en-US" sz="800" dirty="0"/>
          </a:p>
        </p:txBody>
      </p:sp>
      <p:sp>
        <p:nvSpPr>
          <p:cNvPr id="43" name="Text 41"/>
          <p:cNvSpPr/>
          <p:nvPr/>
        </p:nvSpPr>
        <p:spPr>
          <a:xfrm>
            <a:off x="5112134" y="2961419"/>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44" name="Text 42"/>
          <p:cNvSpPr/>
          <p:nvPr/>
        </p:nvSpPr>
        <p:spPr>
          <a:xfrm>
            <a:off x="5340734" y="2954275"/>
            <a:ext cx="3346066"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Tap en tab = sale del chat y va a esa pantalla</a:t>
            </a:r>
            <a:endParaRPr lang="en-US" sz="800" dirty="0"/>
          </a:p>
        </p:txBody>
      </p:sp>
      <p:sp>
        <p:nvSpPr>
          <p:cNvPr id="45" name="Text 43"/>
          <p:cNvSpPr/>
          <p:nvPr/>
        </p:nvSpPr>
        <p:spPr>
          <a:xfrm>
            <a:off x="5115706" y="3207879"/>
            <a:ext cx="3567522" cy="435769"/>
          </a:xfrm>
          <a:prstGeom prst="roundRect">
            <a:avLst>
              <a:gd name="adj" fmla="val 26229"/>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46" name="Text 44"/>
          <p:cNvSpPr/>
          <p:nvPr/>
        </p:nvSpPr>
        <p:spPr>
          <a:xfrm>
            <a:off x="5219291" y="3304319"/>
            <a:ext cx="128588" cy="128588"/>
          </a:xfrm>
          <a:prstGeom prst="rect">
            <a:avLst/>
          </a:prstGeom>
          <a:noFill/>
          <a:ln/>
        </p:spPr>
        <p:txBody>
          <a:bodyPr wrap="none" lIns="0" tIns="0" rIns="0" bIns="0" rtlCol="0" anchor="ctr"/>
          <a:lstStyle/>
          <a:p>
            <a:pPr algn="ctr" indent="0" marL="0">
              <a:buNone/>
            </a:pPr>
            <a:r>
              <a:rPr lang="en-US" sz="1266" dirty="0">
                <a:solidFill>
                  <a:srgbClr val="C9B8FF"/>
                </a:solidFill>
                <a:latin typeface="Segoe UI Symbol" pitchFamily="34" charset="0"/>
                <a:ea typeface="Segoe UI Symbol" pitchFamily="34" charset="-122"/>
                <a:cs typeface="Segoe UI Symbol" pitchFamily="34" charset="-120"/>
              </a:rPr>
              <a:t>ⓘ</a:t>
            </a:r>
            <a:endParaRPr lang="en-US" sz="1266" dirty="0"/>
          </a:p>
        </p:txBody>
      </p:sp>
      <p:sp>
        <p:nvSpPr>
          <p:cNvPr id="47" name="Text 45"/>
          <p:cNvSpPr/>
          <p:nvPr/>
        </p:nvSpPr>
        <p:spPr>
          <a:xfrm>
            <a:off x="5419316" y="3297175"/>
            <a:ext cx="3160328" cy="257175"/>
          </a:xfrm>
          <a:prstGeom prst="rect">
            <a:avLst/>
          </a:prstGeom>
          <a:noFill/>
          <a:ln/>
        </p:spPr>
        <p:txBody>
          <a:bodyPr wrap="square" lIns="0" tIns="0" rIns="0" bIns="0" rtlCol="0" anchor="t"/>
          <a:lstStyle/>
          <a:p>
            <a:pPr algn="l" indent="0" marL="0">
              <a:lnSpc>
                <a:spcPts val="1013"/>
              </a:lnSpc>
              <a:buNone/>
            </a:pPr>
            <a:r>
              <a:rPr lang="en-US" sz="800" dirty="0">
                <a:solidFill>
                  <a:srgbClr val="B8A8E0"/>
                </a:solidFill>
                <a:latin typeface="Carlito" pitchFamily="34" charset="0"/>
                <a:ea typeface="Carlito" pitchFamily="34" charset="-122"/>
                <a:cs typeface="Carlito" pitchFamily="34" charset="-120"/>
              </a:rPr>
              <a:t>El chat </a:t>
            </a:r>
            <a:pPr algn="l" indent="0" marL="0">
              <a:lnSpc>
                <a:spcPts val="1013"/>
              </a:lnSpc>
              <a:buNone/>
            </a:pPr>
            <a:r>
              <a:rPr lang="en-US" sz="800" b="1" dirty="0">
                <a:solidFill>
                  <a:srgbClr val="F0EAFF"/>
                </a:solidFill>
                <a:latin typeface="Carlito" pitchFamily="34" charset="0"/>
                <a:ea typeface="Carlito" pitchFamily="34" charset="-122"/>
                <a:cs typeface="Carlito" pitchFamily="34" charset="-120"/>
              </a:rPr>
              <a:t>NO</a:t>
            </a:r>
            <a:pPr algn="l" indent="0" marL="0">
              <a:lnSpc>
                <a:spcPts val="1013"/>
              </a:lnSpc>
              <a:buNone/>
            </a:pPr>
            <a:r>
              <a:rPr lang="en-US" sz="800" dirty="0">
                <a:solidFill>
                  <a:srgbClr val="B8A8E0"/>
                </a:solidFill>
                <a:latin typeface="Carlito" pitchFamily="34" charset="0"/>
                <a:ea typeface="Carlito" pitchFamily="34" charset="-122"/>
                <a:cs typeface="Carlito" pitchFamily="34" charset="-120"/>
              </a:rPr>
              <a:t> pierde su carácter inmersivo: la nav es semi-transparente con blur, como el back button actual.</a:t>
            </a:r>
            <a:endParaRPr lang="en-US" sz="800" dirty="0"/>
          </a:p>
        </p:txBody>
      </p:sp>
      <p:sp>
        <p:nvSpPr>
          <p:cNvPr id="48" name="Text 46"/>
          <p:cNvSpPr/>
          <p:nvPr/>
        </p:nvSpPr>
        <p:spPr>
          <a:xfrm>
            <a:off x="2391705" y="1075469"/>
            <a:ext cx="500063" cy="100013"/>
          </a:xfrm>
          <a:prstGeom prst="roundRect">
            <a:avLst>
              <a:gd name="adj" fmla="val 9514238"/>
            </a:avLst>
          </a:prstGeom>
          <a:solidFill>
            <a:srgbClr val="0C0A1E"/>
          </a:solidFill>
          <a:ln/>
        </p:spPr>
        <p:txBody>
          <a:bodyPr wrap="square" rtlCol="0" anchor="ctr"/>
          <a:lstStyle/>
          <a:p>
            <a:pPr indent="0" marL="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7429500" y="-857250"/>
            <a:ext cx="2571750" cy="2571750"/>
          </a:xfrm>
          <a:prstGeom prst="ellipse">
            <a:avLst/>
          </a:prstGeom>
          <a:solidFill>
            <a:srgbClr val="FBBF24">
              <a:alpha val="10000"/>
            </a:srgbClr>
          </a:solidFill>
          <a:ln/>
        </p:spPr>
        <p:txBody>
          <a:bodyPr wrap="square" rtlCol="0" anchor="ctr"/>
          <a:lstStyle/>
          <a:p>
            <a:pPr indent="0" marL="0">
              <a:buNone/>
            </a:pPr>
            <a:endParaRPr lang="en-US" dirty="0"/>
          </a:p>
        </p:txBody>
      </p:sp>
      <p:sp>
        <p:nvSpPr>
          <p:cNvPr id="3" name="Text 1"/>
          <p:cNvSpPr/>
          <p:nvPr/>
        </p:nvSpPr>
        <p:spPr>
          <a:xfrm>
            <a:off x="2286000" y="4000500"/>
            <a:ext cx="2000250" cy="2000250"/>
          </a:xfrm>
          <a:prstGeom prst="ellipse">
            <a:avLst/>
          </a:prstGeom>
          <a:solidFill>
            <a:srgbClr val="8363F9">
              <a:alpha val="16000"/>
            </a:srgbClr>
          </a:solidFill>
          <a:ln/>
        </p:spPr>
        <p:txBody>
          <a:bodyPr wrap="square" rtlCol="0" anchor="ctr"/>
          <a:lstStyle/>
          <a:p>
            <a:pPr indent="0" marL="0">
              <a:buNone/>
            </a:pPr>
            <a:endParaRPr lang="en-US" dirty="0"/>
          </a:p>
        </p:txBody>
      </p:sp>
      <p:sp>
        <p:nvSpPr>
          <p:cNvPr id="4" name="Text 2"/>
          <p:cNvSpPr/>
          <p:nvPr/>
        </p:nvSpPr>
        <p:spPr>
          <a:xfrm>
            <a:off x="130270" y="171450"/>
            <a:ext cx="2849670" cy="1697355"/>
          </a:xfrm>
          <a:prstGeom prst="rect">
            <a:avLst/>
          </a:prstGeom>
          <a:noFill/>
          <a:ln/>
        </p:spPr>
        <p:txBody>
          <a:bodyPr wrap="none" lIns="0" tIns="0" rIns="0" bIns="0" rtlCol="0" anchor="t"/>
          <a:lstStyle/>
          <a:p>
            <a:pPr algn="l" indent="0" marL="0">
              <a:lnSpc>
                <a:spcPts val="12375"/>
              </a:lnSpc>
              <a:buNone/>
            </a:pPr>
            <a:r>
              <a:rPr lang="en-US" sz="12375" b="1" spc="-495" kern="0" dirty="0">
                <a:solidFill>
                  <a:srgbClr val="FBBF24">
                    <a:alpha val="7000"/>
                  </a:srgbClr>
                </a:solidFill>
                <a:latin typeface="Liberation Sans Narrow" pitchFamily="34" charset="0"/>
                <a:ea typeface="Liberation Sans Narrow" pitchFamily="34" charset="-122"/>
                <a:cs typeface="Liberation Sans Narrow" pitchFamily="34" charset="-120"/>
              </a:rPr>
              <a:t>03</a:t>
            </a:r>
            <a:endParaRPr lang="en-US" sz="12375" dirty="0"/>
          </a:p>
        </p:txBody>
      </p:sp>
      <p:sp>
        <p:nvSpPr>
          <p:cNvPr id="5" name="Text 3"/>
          <p:cNvSpPr/>
          <p:nvPr/>
        </p:nvSpPr>
        <p:spPr>
          <a:xfrm>
            <a:off x="457200" y="1374716"/>
            <a:ext cx="860487"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6" name="Text 4"/>
          <p:cNvSpPr/>
          <p:nvPr/>
        </p:nvSpPr>
        <p:spPr>
          <a:xfrm>
            <a:off x="657225" y="1428080"/>
            <a:ext cx="696181" cy="119703"/>
          </a:xfrm>
          <a:prstGeom prst="rect">
            <a:avLst/>
          </a:prstGeom>
          <a:noFill/>
          <a:ln/>
        </p:spPr>
        <p:txBody>
          <a:bodyPr wrap="none" lIns="0" tIns="0" rIns="0" bIns="0" rtlCol="0" anchor="t"/>
          <a:lstStyle/>
          <a:p>
            <a:pPr algn="l" indent="0" marL="0">
              <a:lnSpc>
                <a:spcPts val="928"/>
              </a:lnSpc>
              <a:buNone/>
            </a:pPr>
            <a:r>
              <a:rPr lang="en-US" sz="619" b="1" spc="31" kern="0" dirty="0">
                <a:solidFill>
                  <a:srgbClr val="FBBF24"/>
                </a:solidFill>
                <a:latin typeface="Liberation Sans Narrow" pitchFamily="34" charset="0"/>
                <a:ea typeface="Liberation Sans Narrow" pitchFamily="34" charset="-122"/>
                <a:cs typeface="Liberation Sans Narrow" pitchFamily="34" charset="-120"/>
              </a:rPr>
              <a:t>HALLAZGO 03</a:t>
            </a:r>
            <a:endParaRPr lang="en-US" sz="619" dirty="0"/>
          </a:p>
        </p:txBody>
      </p:sp>
      <p:sp>
        <p:nvSpPr>
          <p:cNvPr id="7" name="Text 5"/>
          <p:cNvSpPr/>
          <p:nvPr/>
        </p:nvSpPr>
        <p:spPr>
          <a:xfrm>
            <a:off x="528638" y="1422722"/>
            <a:ext cx="100013" cy="100013"/>
          </a:xfrm>
          <a:prstGeom prst="rect">
            <a:avLst/>
          </a:prstGeom>
          <a:noFill/>
          <a:ln/>
        </p:spPr>
        <p:txBody>
          <a:bodyPr wrap="none" lIns="0" tIns="0" rIns="0" bIns="0" rtlCol="0" anchor="ctr"/>
          <a:lstStyle/>
          <a:p>
            <a:pPr algn="ctr" indent="0" marL="0">
              <a:buNone/>
            </a:pPr>
            <a:r>
              <a:rPr lang="en-US" sz="984" dirty="0">
                <a:solidFill>
                  <a:srgbClr val="FBBF24"/>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1389125" y="1413793"/>
            <a:ext cx="29257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A6BA8"/>
                </a:solidFill>
                <a:latin typeface="Carlito" pitchFamily="34" charset="0"/>
                <a:ea typeface="Carlito" pitchFamily="34" charset="-122"/>
                <a:cs typeface="Carlito" pitchFamily="34" charset="-120"/>
              </a:rPr>
              <a:t>JERARQUÍA VISUAL</a:t>
            </a:r>
            <a:endParaRPr lang="en-US" sz="800" dirty="0"/>
          </a:p>
        </p:txBody>
      </p:sp>
      <p:sp>
        <p:nvSpPr>
          <p:cNvPr id="9" name="Text 7"/>
          <p:cNvSpPr/>
          <p:nvPr/>
        </p:nvSpPr>
        <p:spPr>
          <a:xfrm>
            <a:off x="457200" y="1688827"/>
            <a:ext cx="4243388" cy="240619"/>
          </a:xfrm>
          <a:prstGeom prst="rect">
            <a:avLst/>
          </a:prstGeom>
          <a:noFill/>
          <a:ln/>
        </p:spPr>
        <p:txBody>
          <a:bodyPr wrap="square" lIns="0" tIns="0" rIns="0" bIns="0" rtlCol="0" anchor="t"/>
          <a:lstStyle/>
          <a:p>
            <a:pPr algn="l" indent="0" marL="0">
              <a:lnSpc>
                <a:spcPts val="1755"/>
              </a:lnSpc>
              <a:buNone/>
            </a:pPr>
            <a:r>
              <a:rPr lang="en-US" sz="1463" b="1" spc="-15" kern="0" dirty="0">
                <a:solidFill>
                  <a:srgbClr val="F0EAFF"/>
                </a:solidFill>
                <a:latin typeface="Carlito" pitchFamily="34" charset="0"/>
                <a:ea typeface="Carlito" pitchFamily="34" charset="-122"/>
                <a:cs typeface="Carlito" pitchFamily="34" charset="-120"/>
              </a:rPr>
              <a:t>Home screen con dual CTA confuso</a:t>
            </a:r>
            <a:endParaRPr lang="en-US" sz="1463" dirty="0"/>
          </a:p>
        </p:txBody>
      </p:sp>
      <p:sp>
        <p:nvSpPr>
          <p:cNvPr id="10" name="Text 8"/>
          <p:cNvSpPr/>
          <p:nvPr/>
        </p:nvSpPr>
        <p:spPr>
          <a:xfrm>
            <a:off x="457200" y="2040210"/>
            <a:ext cx="3714750" cy="701965"/>
          </a:xfrm>
          <a:prstGeom prst="rect">
            <a:avLst/>
          </a:prstGeom>
          <a:noFill/>
          <a:ln/>
        </p:spPr>
        <p:txBody>
          <a:bodyPr wrap="square" lIns="0" tIns="0" rIns="0" bIns="0" rtlCol="0" anchor="t"/>
          <a:lstStyle/>
          <a:p>
            <a:pPr algn="l" indent="0" marL="0">
              <a:lnSpc>
                <a:spcPts val="1260"/>
              </a:lnSpc>
              <a:buNone/>
            </a:pPr>
            <a:r>
              <a:rPr lang="en-US" sz="800" dirty="0">
                <a:solidFill>
                  <a:srgbClr val="B8A8E0"/>
                </a:solidFill>
                <a:latin typeface="Carlito" pitchFamily="34" charset="0"/>
                <a:ea typeface="Carlito" pitchFamily="34" charset="-122"/>
                <a:cs typeface="Carlito" pitchFamily="34" charset="-120"/>
              </a:rPr>
              <a:t>La pantalla de bienvenida muestra la mascota Koru grande, un título "Soy Koru" y DOS botones: "Hablar con Koru" (verde, grande) y "o escribir" (texto plano, chico). La jerarquía visual es ambigua: el usuario no sabe si "Hablar" abre el chat por voz, si "o escribir" abre otro flujo, o si ambos hacen lo mismo.</a:t>
            </a:r>
            <a:endParaRPr lang="en-US" sz="800" dirty="0"/>
          </a:p>
        </p:txBody>
      </p:sp>
      <p:sp>
        <p:nvSpPr>
          <p:cNvPr id="11" name="Text 9"/>
          <p:cNvSpPr/>
          <p:nvPr/>
        </p:nvSpPr>
        <p:spPr>
          <a:xfrm>
            <a:off x="457200" y="2851472"/>
            <a:ext cx="3857625" cy="724999"/>
          </a:xfrm>
          <a:prstGeom prst="rect">
            <a:avLst/>
          </a:prstGeom>
          <a:noFill/>
          <a:ln/>
        </p:spPr>
        <p:txBody>
          <a:bodyPr wrap="square" lIns="0" tIns="0" rIns="0" bIns="0" rtlCol="0" anchor="t"/>
          <a:lstStyle/>
          <a:p>
            <a:pPr algn="l" marL="342900" indent="-342900">
              <a:lnSpc>
                <a:spcPts val="1350"/>
              </a:lnSpc>
              <a:spcAft>
                <a:spcPts val="675"/>
              </a:spcAft>
              <a:buSzPct val="100000"/>
              <a:buChar char="•"/>
            </a:pPr>
            <a:r>
              <a:rPr lang="en-US" sz="900" dirty="0">
                <a:solidFill>
                  <a:srgbClr val="F0EAFF"/>
                </a:solidFill>
                <a:latin typeface="Carlito" pitchFamily="34" charset="0"/>
                <a:ea typeface="Carlito" pitchFamily="34" charset="-122"/>
                <a:cs typeface="Carlito" pitchFamily="34" charset="-120"/>
              </a:rPr>
              <a:t>✕ "o escribir" parece un enlace, no un botón</a:t>
            </a:r>
            <a:endParaRPr lang="en-US" sz="900" dirty="0"/>
          </a:p>
          <a:p>
            <a:pPr algn="l" marL="342900" indent="-342900">
              <a:lnSpc>
                <a:spcPts val="1350"/>
              </a:lnSpc>
              <a:spcAft>
                <a:spcPts val="675"/>
              </a:spcAft>
              <a:buSzPct val="100000"/>
              <a:buChar char="•"/>
            </a:pPr>
            <a:r>
              <a:rPr lang="en-US" sz="900" dirty="0">
                <a:solidFill>
                  <a:srgbClr val="F0EAFF"/>
                </a:solidFill>
                <a:latin typeface="Carlito" pitchFamily="34" charset="0"/>
                <a:ea typeface="Carlito" pitchFamily="34" charset="-122"/>
                <a:cs typeface="Carlito" pitchFamily="34" charset="-120"/>
              </a:rPr>
              <a:t>✕ No hay diferenciación clara entre voz y texto</a:t>
            </a:r>
            <a:endParaRPr lang="en-US" sz="900" dirty="0"/>
          </a:p>
          <a:p>
            <a:pPr algn="l" marL="342900" indent="-342900">
              <a:lnSpc>
                <a:spcPts val="1350"/>
              </a:lnSpc>
              <a:spcAft>
                <a:spcPts val="675"/>
              </a:spcAft>
              <a:buSzPct val="100000"/>
              <a:buChar char="•"/>
            </a:pPr>
            <a:r>
              <a:rPr lang="en-US" sz="900" dirty="0">
                <a:solidFill>
                  <a:srgbClr val="F0EAFF"/>
                </a:solidFill>
                <a:latin typeface="Carlito" pitchFamily="34" charset="0"/>
                <a:ea typeface="Carlito" pitchFamily="34" charset="-122"/>
                <a:cs typeface="Carlito" pitchFamily="34" charset="-120"/>
              </a:rPr>
              <a:t>✕ Faltan accesos directos a Memoria/Historial</a:t>
            </a:r>
            <a:endParaRPr lang="en-US" sz="900" dirty="0"/>
          </a:p>
        </p:txBody>
      </p:sp>
      <p:sp>
        <p:nvSpPr>
          <p:cNvPr id="12" name="Text 10"/>
          <p:cNvSpPr/>
          <p:nvPr/>
        </p:nvSpPr>
        <p:spPr>
          <a:xfrm>
            <a:off x="457200" y="3649228"/>
            <a:ext cx="100013" cy="100013"/>
          </a:xfrm>
          <a:prstGeom prst="rect">
            <a:avLst/>
          </a:prstGeom>
          <a:noFill/>
          <a:ln/>
        </p:spPr>
        <p:txBody>
          <a:bodyPr wrap="none" lIns="0" tIns="0" rIns="0" bIns="0" rtlCol="0" anchor="ctr"/>
          <a:lstStyle/>
          <a:p>
            <a:pPr algn="ctr" indent="0" marL="0">
              <a:buNone/>
            </a:pPr>
            <a:r>
              <a:rPr lang="en-US" sz="984" dirty="0">
                <a:solidFill>
                  <a:srgbClr val="6EE7B7"/>
                </a:solidFill>
                <a:latin typeface="Segoe UI Symbol" pitchFamily="34" charset="0"/>
                <a:ea typeface="Segoe UI Symbol" pitchFamily="34" charset="-122"/>
                <a:cs typeface="Segoe UI Symbol" pitchFamily="34" charset="-120"/>
              </a:rPr>
              <a:t>→</a:t>
            </a:r>
            <a:endParaRPr lang="en-US" sz="984" dirty="0"/>
          </a:p>
        </p:txBody>
      </p:sp>
      <p:sp>
        <p:nvSpPr>
          <p:cNvPr id="13" name="Text 11"/>
          <p:cNvSpPr/>
          <p:nvPr/>
        </p:nvSpPr>
        <p:spPr>
          <a:xfrm>
            <a:off x="614363" y="3640299"/>
            <a:ext cx="3700463" cy="164592"/>
          </a:xfrm>
          <a:prstGeom prst="rect">
            <a:avLst/>
          </a:prstGeom>
          <a:noFill/>
          <a:ln/>
        </p:spPr>
        <p:txBody>
          <a:bodyPr wrap="square" lIns="0" tIns="0" rIns="0" bIns="0" rtlCol="0" anchor="t"/>
          <a:lstStyle/>
          <a:p>
            <a:pPr algn="l" indent="0" marL="0">
              <a:lnSpc>
                <a:spcPts val="928"/>
              </a:lnSpc>
              <a:buNone/>
            </a:pPr>
            <a:r>
              <a:rPr lang="en-US" sz="800" dirty="0">
                <a:solidFill>
                  <a:srgbClr val="7A6BA8"/>
                </a:solidFill>
                <a:latin typeface="Carlito" pitchFamily="34" charset="0"/>
                <a:ea typeface="Carlito" pitchFamily="34" charset="-122"/>
                <a:cs typeface="Carlito" pitchFamily="34" charset="-120"/>
              </a:rPr>
              <a:t>Propuesta en la próxima slide: home con accesos directos</a:t>
            </a:r>
            <a:endParaRPr lang="en-US" sz="800" dirty="0"/>
          </a:p>
        </p:txBody>
      </p:sp>
      <p:sp>
        <p:nvSpPr>
          <p:cNvPr id="14" name="Text 12"/>
          <p:cNvSpPr/>
          <p:nvPr/>
        </p:nvSpPr>
        <p:spPr>
          <a:xfrm>
            <a:off x="5757863" y="533995"/>
            <a:ext cx="2000250" cy="3857625"/>
          </a:xfrm>
          <a:prstGeom prst="roundRect">
            <a:avLst>
              <a:gd name="adj" fmla="val 15238"/>
            </a:avLst>
          </a:prstGeom>
          <a:solidFill>
            <a:srgbClr val="453F6A"/>
          </a:solidFill>
          <a:ln/>
          <a:effectLst>
            <a:outerShdw sx="100000" sy="100000" kx="0" ky="0" algn="bl" rotWithShape="0" blurRad="571500" dist="190500" dir="5400000">
              <a:srgbClr val="000000">
                <a:alpha val="50000"/>
              </a:srgbClr>
            </a:outerShdw>
          </a:effectLst>
        </p:spPr>
        <p:txBody>
          <a:bodyPr wrap="square" rtlCol="0" anchor="ctr"/>
          <a:lstStyle/>
          <a:p>
            <a:pPr indent="0" marL="0">
              <a:buNone/>
            </a:pPr>
            <a:endParaRPr lang="en-US" dirty="0"/>
          </a:p>
        </p:txBody>
      </p:sp>
      <p:pic>
        <p:nvPicPr>
          <p:cNvPr id="15" name="Image 0" descr="/tmp/h2p-fit-1783825564310-5qkwg4.png">    </p:cNvPr>
          <p:cNvPicPr>
            <a:picLocks noChangeAspect="1"/>
          </p:cNvPicPr>
          <p:nvPr/>
        </p:nvPicPr>
        <p:blipFill>
          <a:blip r:embed="rId1"/>
          <a:stretch>
            <a:fillRect/>
          </a:stretch>
        </p:blipFill>
        <p:spPr>
          <a:xfrm>
            <a:off x="5757863" y="533995"/>
            <a:ext cx="2000250" cy="3857625"/>
          </a:xfrm>
          <a:prstGeom prst="rect">
            <a:avLst/>
          </a:prstGeom>
        </p:spPr>
      </p:pic>
      <p:sp>
        <p:nvSpPr>
          <p:cNvPr id="16" name="Text 13"/>
          <p:cNvSpPr/>
          <p:nvPr/>
        </p:nvSpPr>
        <p:spPr>
          <a:xfrm>
            <a:off x="5956807" y="4491633"/>
            <a:ext cx="1602361" cy="164592"/>
          </a:xfrm>
          <a:prstGeom prst="rect">
            <a:avLst/>
          </a:prstGeom>
          <a:noFill/>
          <a:ln/>
        </p:spPr>
        <p:txBody>
          <a:bodyPr wrap="square" lIns="0" tIns="0" rIns="0" bIns="0" rtlCol="0" anchor="t"/>
          <a:lstStyle/>
          <a:p>
            <a:pPr algn="ctr" indent="0" marL="0">
              <a:lnSpc>
                <a:spcPts val="928"/>
              </a:lnSpc>
              <a:buNone/>
            </a:pPr>
            <a:r>
              <a:rPr lang="en-US" sz="619" dirty="0">
                <a:solidFill>
                  <a:srgbClr val="7A6BA8"/>
                </a:solidFill>
                <a:latin typeface="Carlito" pitchFamily="34" charset="0"/>
                <a:ea typeface="Carlito" pitchFamily="34" charset="-122"/>
                <a:cs typeface="Carlito" pitchFamily="34" charset="-120"/>
              </a:rPr>
              <a:t>Estado actual: dual CTA sin jerarquía clara</a:t>
            </a:r>
            <a:endParaRPr lang="en-US" sz="61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7572375" y="-857250"/>
            <a:ext cx="2286000" cy="2286000"/>
          </a:xfrm>
          <a:prstGeom prst="ellipse">
            <a:avLst/>
          </a:prstGeom>
          <a:solidFill>
            <a:srgbClr val="8363F9">
              <a:alpha val="18000"/>
            </a:srgbClr>
          </a:solidFill>
          <a:ln/>
        </p:spPr>
        <p:txBody>
          <a:bodyPr wrap="square" rtlCol="0" anchor="ctr"/>
          <a:lstStyle/>
          <a:p>
            <a:pPr indent="0" marL="0">
              <a:buNone/>
            </a:pPr>
            <a:endParaRPr lang="en-US" dirty="0"/>
          </a:p>
        </p:txBody>
      </p:sp>
      <p:sp>
        <p:nvSpPr>
          <p:cNvPr id="3" name="Text 1"/>
          <p:cNvSpPr/>
          <p:nvPr/>
        </p:nvSpPr>
        <p:spPr>
          <a:xfrm>
            <a:off x="1371600" y="4143375"/>
            <a:ext cx="1714500" cy="1714500"/>
          </a:xfrm>
          <a:prstGeom prst="ellipse">
            <a:avLst/>
          </a:prstGeom>
          <a:solidFill>
            <a:srgbClr val="6EE7B7">
              <a:alpha val="10000"/>
            </a:srgbClr>
          </a:solidFill>
          <a:ln/>
        </p:spPr>
        <p:txBody>
          <a:bodyPr wrap="square" rtlCol="0" anchor="ctr"/>
          <a:lstStyle/>
          <a:p>
            <a:pPr indent="0" marL="0">
              <a:buNone/>
            </a:pPr>
            <a:endParaRPr lang="en-US" dirty="0"/>
          </a:p>
        </p:txBody>
      </p:sp>
      <p:sp>
        <p:nvSpPr>
          <p:cNvPr id="4" name="Shape 2"/>
          <p:cNvSpPr/>
          <p:nvPr/>
        </p:nvSpPr>
        <p:spPr>
          <a:xfrm>
            <a:off x="1443038" y="4579479"/>
            <a:ext cx="2000250" cy="0"/>
          </a:xfrm>
          <a:prstGeom prst="line">
            <a:avLst/>
          </a:prstGeom>
          <a:noFill/>
          <a:ln w="7144">
            <a:solidFill>
              <a:srgbClr val="8363F9"/>
            </a:solidFill>
            <a:prstDash val="solid"/>
          </a:ln>
        </p:spPr>
      </p:sp>
      <p:sp>
        <p:nvSpPr>
          <p:cNvPr id="5" name="Text 3"/>
          <p:cNvSpPr/>
          <p:nvPr/>
        </p:nvSpPr>
        <p:spPr>
          <a:xfrm>
            <a:off x="457200" y="332399"/>
            <a:ext cx="790054" cy="196025"/>
          </a:xfrm>
          <a:prstGeom prst="roundRect">
            <a:avLst>
              <a:gd name="adj" fmla="val 4854215"/>
            </a:avLst>
          </a:prstGeom>
          <a:solidFill>
            <a:srgbClr val="6EE7B7">
              <a:alpha val="15000"/>
            </a:srgbClr>
          </a:solidFill>
          <a:ln/>
        </p:spPr>
        <p:txBody>
          <a:bodyPr wrap="square" rtlCol="0" anchor="ctr"/>
          <a:lstStyle/>
          <a:p>
            <a:pPr indent="0" marL="0">
              <a:buNone/>
            </a:pPr>
            <a:endParaRPr lang="en-US" dirty="0"/>
          </a:p>
        </p:txBody>
      </p:sp>
      <p:sp>
        <p:nvSpPr>
          <p:cNvPr id="6" name="Text 4"/>
          <p:cNvSpPr/>
          <p:nvPr/>
        </p:nvSpPr>
        <p:spPr>
          <a:xfrm>
            <a:off x="657225" y="385763"/>
            <a:ext cx="625748" cy="119703"/>
          </a:xfrm>
          <a:prstGeom prst="rect">
            <a:avLst/>
          </a:prstGeom>
          <a:noFill/>
          <a:ln/>
        </p:spPr>
        <p:txBody>
          <a:bodyPr wrap="none" lIns="0" tIns="0" rIns="0" bIns="0" rtlCol="0" anchor="t"/>
          <a:lstStyle/>
          <a:p>
            <a:pPr algn="l" indent="0" marL="0">
              <a:lnSpc>
                <a:spcPts val="928"/>
              </a:lnSpc>
              <a:buNone/>
            </a:pPr>
            <a:r>
              <a:rPr lang="en-US" sz="619" b="1" spc="31" kern="0" dirty="0">
                <a:solidFill>
                  <a:srgbClr val="6EE7B7"/>
                </a:solidFill>
                <a:latin typeface="Carlito" pitchFamily="34" charset="0"/>
                <a:ea typeface="Carlito" pitchFamily="34" charset="-122"/>
                <a:cs typeface="Carlito" pitchFamily="34" charset="-120"/>
              </a:rPr>
              <a:t>PROPUESTA</a:t>
            </a:r>
            <a:endParaRPr lang="en-US" sz="619" dirty="0"/>
          </a:p>
        </p:txBody>
      </p:sp>
      <p:sp>
        <p:nvSpPr>
          <p:cNvPr id="7" name="Text 5"/>
          <p:cNvSpPr/>
          <p:nvPr/>
        </p:nvSpPr>
        <p:spPr>
          <a:xfrm>
            <a:off x="528638" y="380405"/>
            <a:ext cx="100013" cy="100013"/>
          </a:xfrm>
          <a:prstGeom prst="rect">
            <a:avLst/>
          </a:prstGeom>
          <a:noFill/>
          <a:ln/>
        </p:spPr>
        <p:txBody>
          <a:bodyPr wrap="none" lIns="0" tIns="0" rIns="0" bIns="0" rtlCol="0" anchor="ctr"/>
          <a:lstStyle/>
          <a:p>
            <a:pPr algn="ctr" indent="0" marL="0">
              <a:buNone/>
            </a:pPr>
            <a:r>
              <a:rPr lang="en-US" sz="984" dirty="0">
                <a:solidFill>
                  <a:srgbClr val="6EE7B7"/>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1318692" y="371475"/>
            <a:ext cx="7368108"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A6BA8"/>
                </a:solidFill>
                <a:latin typeface="Liberation Sans Narrow" pitchFamily="34" charset="0"/>
                <a:ea typeface="Liberation Sans Narrow" pitchFamily="34" charset="-122"/>
                <a:cs typeface="Liberation Sans Narrow" pitchFamily="34" charset="-120"/>
              </a:rPr>
              <a:t>HOME · HALLAZGO 03</a:t>
            </a:r>
            <a:endParaRPr lang="en-US" sz="800" dirty="0"/>
          </a:p>
        </p:txBody>
      </p:sp>
      <p:sp>
        <p:nvSpPr>
          <p:cNvPr id="9" name="Text 7"/>
          <p:cNvSpPr/>
          <p:nvPr/>
        </p:nvSpPr>
        <p:spPr>
          <a:xfrm>
            <a:off x="457200" y="546497"/>
            <a:ext cx="8636000" cy="241128"/>
          </a:xfrm>
          <a:prstGeom prst="rect">
            <a:avLst/>
          </a:prstGeom>
          <a:noFill/>
          <a:ln/>
        </p:spPr>
        <p:txBody>
          <a:bodyPr wrap="square" lIns="0" tIns="0" rIns="0" bIns="0" rtlCol="0" anchor="t">
            <a:normAutofit/>
          </a:bodyPr>
          <a:lstStyle/>
          <a:p>
            <a:pPr algn="l" indent="0" marL="0">
              <a:lnSpc>
                <a:spcPts val="1890"/>
              </a:lnSpc>
              <a:buNone/>
            </a:pPr>
            <a:r>
              <a:rPr lang="en-US" sz="1575" b="1" spc="-16" kern="0" dirty="0">
                <a:solidFill>
                  <a:srgbClr val="F0EAFF"/>
                </a:solidFill>
                <a:latin typeface="Carlito" pitchFamily="34" charset="0"/>
                <a:ea typeface="Carlito" pitchFamily="34" charset="-122"/>
                <a:cs typeface="Carlito" pitchFamily="34" charset="-120"/>
              </a:rPr>
              <a:t>Propuesta: Home con accesos directos</a:t>
            </a:r>
            <a:endParaRPr lang="en-US" sz="1575" dirty="0"/>
          </a:p>
        </p:txBody>
      </p:sp>
      <p:sp>
        <p:nvSpPr>
          <p:cNvPr id="10" name="Text 8"/>
          <p:cNvSpPr/>
          <p:nvPr/>
        </p:nvSpPr>
        <p:spPr>
          <a:xfrm>
            <a:off x="457200" y="815057"/>
            <a:ext cx="8636000" cy="164592"/>
          </a:xfrm>
          <a:prstGeom prst="rect">
            <a:avLst/>
          </a:prstGeom>
          <a:noFill/>
          <a:ln/>
        </p:spPr>
        <p:txBody>
          <a:bodyPr wrap="square" lIns="0" tIns="0" rIns="0" bIns="0" rtlCol="0" anchor="t"/>
          <a:lstStyle/>
          <a:p>
            <a:pPr algn="l" indent="0" marL="0">
              <a:lnSpc>
                <a:spcPts val="1181"/>
              </a:lnSpc>
              <a:buNone/>
            </a:pPr>
            <a:r>
              <a:rPr lang="en-US" sz="800" dirty="0">
                <a:solidFill>
                  <a:srgbClr val="B8A8E0"/>
                </a:solidFill>
                <a:latin typeface="Carlito" pitchFamily="34" charset="0"/>
                <a:ea typeface="Carlito" pitchFamily="34" charset="-122"/>
                <a:cs typeface="Carlito" pitchFamily="34" charset="-120"/>
              </a:rPr>
              <a:t>Un solo CTA principal + atajos a funciones clave</a:t>
            </a:r>
            <a:endParaRPr lang="en-US" sz="800" dirty="0"/>
          </a:p>
        </p:txBody>
      </p:sp>
      <p:sp>
        <p:nvSpPr>
          <p:cNvPr id="11" name="Text 9"/>
          <p:cNvSpPr/>
          <p:nvPr/>
        </p:nvSpPr>
        <p:spPr>
          <a:xfrm>
            <a:off x="1443038" y="946882"/>
            <a:ext cx="2000250" cy="4000500"/>
          </a:xfrm>
          <a:prstGeom prst="roundRect">
            <a:avLst>
              <a:gd name="adj" fmla="val 17143"/>
            </a:avLst>
          </a:prstGeom>
          <a:solidFill>
            <a:srgbClr val="1E1840"/>
          </a:solidFill>
          <a:ln/>
          <a:effectLst>
            <a:outerShdw sx="100000" sy="100000" kx="0" ky="0" algn="bl" rotWithShape="0" blurRad="571500" dist="228600" dir="5400000">
              <a:srgbClr val="000000">
                <a:alpha val="55000"/>
              </a:srgbClr>
            </a:outerShdw>
          </a:effectLst>
        </p:spPr>
        <p:txBody>
          <a:bodyPr wrap="square" rtlCol="0" anchor="ctr"/>
          <a:lstStyle/>
          <a:p>
            <a:pPr indent="0" marL="0">
              <a:buNone/>
            </a:pPr>
            <a:endParaRPr lang="en-US" dirty="0"/>
          </a:p>
        </p:txBody>
      </p:sp>
      <p:sp>
        <p:nvSpPr>
          <p:cNvPr id="12" name="Text 10"/>
          <p:cNvSpPr/>
          <p:nvPr/>
        </p:nvSpPr>
        <p:spPr>
          <a:xfrm>
            <a:off x="3171825" y="1104044"/>
            <a:ext cx="157163" cy="157163"/>
          </a:xfrm>
          <a:prstGeom prst="rect">
            <a:avLst/>
          </a:prstGeom>
          <a:noFill/>
          <a:ln/>
        </p:spPr>
        <p:txBody>
          <a:bodyPr wrap="none" lIns="0" tIns="0" rIns="0" bIns="0" rtlCol="0" anchor="ctr"/>
          <a:lstStyle/>
          <a:p>
            <a:pPr algn="ctr" indent="0" marL="0">
              <a:buNone/>
            </a:pPr>
            <a:r>
              <a:rPr lang="en-US" sz="1547" dirty="0">
                <a:solidFill>
                  <a:srgbClr val="7A6BA8"/>
                </a:solidFill>
                <a:latin typeface="Segoe UI Symbol" pitchFamily="34" charset="0"/>
                <a:ea typeface="Segoe UI Symbol" pitchFamily="34" charset="-122"/>
                <a:cs typeface="Segoe UI Symbol" pitchFamily="34" charset="-120"/>
              </a:rPr>
              <a:t>⚙</a:t>
            </a:r>
            <a:endParaRPr lang="en-US" sz="1547" dirty="0"/>
          </a:p>
        </p:txBody>
      </p:sp>
      <p:sp>
        <p:nvSpPr>
          <p:cNvPr id="13" name="Text 11"/>
          <p:cNvSpPr/>
          <p:nvPr/>
        </p:nvSpPr>
        <p:spPr>
          <a:xfrm>
            <a:off x="2246709" y="1379079"/>
            <a:ext cx="392906" cy="392906"/>
          </a:xfrm>
          <a:prstGeom prst="ellipse">
            <a:avLst/>
          </a:prstGeom>
          <a:solidFill>
            <a:srgbClr val="6EE7B7">
              <a:alpha val="12000"/>
            </a:srgbClr>
          </a:solidFill>
          <a:ln w="7144">
            <a:solidFill>
              <a:srgbClr val="6EE7B7"/>
            </a:solidFill>
            <a:prstDash val="solid"/>
          </a:ln>
          <a:effectLst>
            <a:outerShdw sx="100000" sy="100000" kx="0" ky="0" algn="bl" rotWithShape="0" blurRad="228600" dist="50800" dir="16200000">
              <a:srgbClr val="6EE7B7">
                <a:alpha val="18000"/>
              </a:srgbClr>
            </a:outerShdw>
          </a:effectLst>
        </p:spPr>
        <p:txBody>
          <a:bodyPr wrap="square" rtlCol="0" anchor="ctr"/>
          <a:lstStyle/>
          <a:p>
            <a:pPr indent="0" marL="0">
              <a:buNone/>
            </a:pPr>
            <a:endParaRPr lang="en-US" dirty="0"/>
          </a:p>
        </p:txBody>
      </p:sp>
      <p:sp>
        <p:nvSpPr>
          <p:cNvPr id="14" name="Text 12"/>
          <p:cNvSpPr/>
          <p:nvPr/>
        </p:nvSpPr>
        <p:spPr>
          <a:xfrm>
            <a:off x="2277428" y="1409797"/>
            <a:ext cx="331470" cy="331470"/>
          </a:xfrm>
          <a:prstGeom prst="rect">
            <a:avLst/>
          </a:prstGeom>
          <a:noFill/>
          <a:ln/>
        </p:spPr>
        <p:txBody>
          <a:bodyPr wrap="none" lIns="0" tIns="0" rIns="0" bIns="0" rtlCol="0" anchor="ctr"/>
          <a:lstStyle/>
          <a:p>
            <a:pPr algn="ctr" indent="0" marL="0">
              <a:buNone/>
            </a:pPr>
            <a:r>
              <a:rPr lang="en-US" sz="2250" dirty="0">
                <a:solidFill>
                  <a:srgbClr val="6EE7B7"/>
                </a:solidFill>
                <a:latin typeface="Segoe UI Symbol" pitchFamily="34" charset="0"/>
                <a:ea typeface="Segoe UI Symbol" pitchFamily="34" charset="-122"/>
                <a:cs typeface="Segoe UI Symbol" pitchFamily="34" charset="-120"/>
              </a:rPr>
              <a:t>✿</a:t>
            </a:r>
            <a:endParaRPr lang="en-US" sz="2250" dirty="0"/>
          </a:p>
        </p:txBody>
      </p:sp>
      <p:sp>
        <p:nvSpPr>
          <p:cNvPr id="15" name="Text 13"/>
          <p:cNvSpPr/>
          <p:nvPr/>
        </p:nvSpPr>
        <p:spPr>
          <a:xfrm>
            <a:off x="1928788" y="1846994"/>
            <a:ext cx="1028637" cy="159645"/>
          </a:xfrm>
          <a:prstGeom prst="rect">
            <a:avLst/>
          </a:prstGeom>
          <a:noFill/>
          <a:ln/>
        </p:spPr>
        <p:txBody>
          <a:bodyPr wrap="none" lIns="0" tIns="0" rIns="0" bIns="0" rtlCol="0" anchor="t">
            <a:normAutofit/>
          </a:bodyPr>
          <a:lstStyle/>
          <a:p>
            <a:pPr algn="ctr" indent="0" marL="0">
              <a:lnSpc>
                <a:spcPts val="1361"/>
              </a:lnSpc>
              <a:buNone/>
            </a:pPr>
            <a:r>
              <a:rPr lang="en-US" sz="1238" b="1" dirty="0">
                <a:solidFill>
                  <a:srgbClr val="F0EAFF"/>
                </a:solidFill>
                <a:latin typeface="Carlito" pitchFamily="34" charset="0"/>
                <a:ea typeface="Carlito" pitchFamily="34" charset="-122"/>
                <a:cs typeface="Carlito" pitchFamily="34" charset="-120"/>
              </a:rPr>
              <a:t>Hola, Juan</a:t>
            </a:r>
            <a:endParaRPr lang="en-US" sz="1238" dirty="0"/>
          </a:p>
        </p:txBody>
      </p:sp>
      <p:sp>
        <p:nvSpPr>
          <p:cNvPr id="16" name="Text 14"/>
          <p:cNvSpPr/>
          <p:nvPr/>
        </p:nvSpPr>
        <p:spPr>
          <a:xfrm>
            <a:off x="1928788" y="2034071"/>
            <a:ext cx="1028637" cy="164592"/>
          </a:xfrm>
          <a:prstGeom prst="rect">
            <a:avLst/>
          </a:prstGeom>
          <a:noFill/>
          <a:ln/>
        </p:spPr>
        <p:txBody>
          <a:bodyPr wrap="none" lIns="0" tIns="0" rIns="0" bIns="0" rtlCol="0" anchor="t"/>
          <a:lstStyle/>
          <a:p>
            <a:pPr algn="ctr" indent="0" marL="0">
              <a:lnSpc>
                <a:spcPts val="1097"/>
              </a:lnSpc>
              <a:buNone/>
            </a:pPr>
            <a:r>
              <a:rPr lang="en-US" sz="731" dirty="0">
                <a:solidFill>
                  <a:srgbClr val="B8A8E0"/>
                </a:solidFill>
                <a:latin typeface="Carlito" pitchFamily="34" charset="0"/>
                <a:ea typeface="Carlito" pitchFamily="34" charset="-122"/>
                <a:cs typeface="Carlito" pitchFamily="34" charset="-120"/>
              </a:rPr>
              <a:t>¿Qué necesitas hoy?</a:t>
            </a:r>
            <a:endParaRPr lang="en-US" sz="731" dirty="0"/>
          </a:p>
        </p:txBody>
      </p:sp>
      <p:sp>
        <p:nvSpPr>
          <p:cNvPr id="17" name="Text 15"/>
          <p:cNvSpPr/>
          <p:nvPr/>
        </p:nvSpPr>
        <p:spPr>
          <a:xfrm>
            <a:off x="2339578" y="2321607"/>
            <a:ext cx="207169" cy="207169"/>
          </a:xfrm>
          <a:prstGeom prst="rect">
            <a:avLst/>
          </a:prstGeom>
          <a:noFill/>
          <a:ln/>
        </p:spPr>
        <p:txBody>
          <a:bodyPr wrap="none" lIns="0" tIns="0" rIns="0" bIns="0" rtlCol="0" anchor="ctr"/>
          <a:lstStyle/>
          <a:p>
            <a:pPr algn="ctr" indent="0" marL="0">
              <a:buNone/>
            </a:pPr>
            <a:r>
              <a:rPr lang="en-US" sz="1406" dirty="0">
                <a:solidFill>
                  <a:srgbClr val="F0EAFF"/>
                </a:solidFill>
                <a:latin typeface="Segoe UI Symbol" pitchFamily="34" charset="0"/>
                <a:ea typeface="Segoe UI Symbol" pitchFamily="34" charset="-122"/>
                <a:cs typeface="Segoe UI Symbol" pitchFamily="34" charset="-120"/>
              </a:rPr>
              <a:t>◖</a:t>
            </a:r>
            <a:endParaRPr lang="en-US" sz="1406" dirty="0"/>
          </a:p>
        </p:txBody>
      </p:sp>
      <p:sp>
        <p:nvSpPr>
          <p:cNvPr id="18" name="Text 16"/>
          <p:cNvSpPr/>
          <p:nvPr/>
        </p:nvSpPr>
        <p:spPr>
          <a:xfrm>
            <a:off x="1560909" y="2680581"/>
            <a:ext cx="545269" cy="442913"/>
          </a:xfrm>
          <a:prstGeom prst="roundRect">
            <a:avLst>
              <a:gd name="adj" fmla="val 25806"/>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19" name="Text 17"/>
          <p:cNvSpPr/>
          <p:nvPr/>
        </p:nvSpPr>
        <p:spPr>
          <a:xfrm>
            <a:off x="1754907" y="2755590"/>
            <a:ext cx="157163" cy="157163"/>
          </a:xfrm>
          <a:prstGeom prst="rect">
            <a:avLst/>
          </a:prstGeom>
          <a:noFill/>
          <a:ln/>
        </p:spPr>
        <p:txBody>
          <a:bodyPr wrap="none" lIns="0" tIns="0" rIns="0" bIns="0" rtlCol="0" anchor="ctr"/>
          <a:lstStyle/>
          <a:p>
            <a:pPr algn="ctr" indent="0" marL="0">
              <a:buNone/>
            </a:pPr>
            <a:r>
              <a:rPr lang="en-US" sz="1547" dirty="0">
                <a:solidFill>
                  <a:srgbClr val="6EE7B7"/>
                </a:solidFill>
                <a:latin typeface="Segoe UI Symbol" pitchFamily="34" charset="0"/>
                <a:ea typeface="Segoe UI Symbol" pitchFamily="34" charset="-122"/>
                <a:cs typeface="Segoe UI Symbol" pitchFamily="34" charset="-120"/>
              </a:rPr>
              <a:t>◫</a:t>
            </a:r>
            <a:endParaRPr lang="en-US" sz="1547" dirty="0"/>
          </a:p>
        </p:txBody>
      </p:sp>
      <p:sp>
        <p:nvSpPr>
          <p:cNvPr id="20" name="Text 18"/>
          <p:cNvSpPr/>
          <p:nvPr/>
        </p:nvSpPr>
        <p:spPr>
          <a:xfrm>
            <a:off x="1709299" y="2941327"/>
            <a:ext cx="316200" cy="107156"/>
          </a:xfrm>
          <a:prstGeom prst="rect">
            <a:avLst/>
          </a:prstGeom>
          <a:noFill/>
          <a:ln/>
        </p:spPr>
        <p:txBody>
          <a:bodyPr wrap="none" lIns="0" tIns="0" rIns="0" bIns="0" rtlCol="0" anchor="t"/>
          <a:lstStyle/>
          <a:p>
            <a:pPr algn="l" indent="0" marL="0">
              <a:lnSpc>
                <a:spcPts val="844"/>
              </a:lnSpc>
              <a:buNone/>
            </a:pPr>
            <a:r>
              <a:rPr lang="en-US" sz="600" dirty="0">
                <a:solidFill>
                  <a:srgbClr val="B8A8E0"/>
                </a:solidFill>
                <a:latin typeface="Carlito" pitchFamily="34" charset="0"/>
                <a:ea typeface="Carlito" pitchFamily="34" charset="-122"/>
                <a:cs typeface="Carlito" pitchFamily="34" charset="-120"/>
              </a:rPr>
              <a:t>Gastos</a:t>
            </a:r>
            <a:endParaRPr lang="en-US" sz="600" dirty="0"/>
          </a:p>
        </p:txBody>
      </p:sp>
      <p:sp>
        <p:nvSpPr>
          <p:cNvPr id="21" name="Text 19"/>
          <p:cNvSpPr/>
          <p:nvPr/>
        </p:nvSpPr>
        <p:spPr>
          <a:xfrm>
            <a:off x="2170472" y="2680581"/>
            <a:ext cx="545381" cy="442913"/>
          </a:xfrm>
          <a:prstGeom prst="roundRect">
            <a:avLst>
              <a:gd name="adj" fmla="val 25806"/>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2" name="Text 20"/>
          <p:cNvSpPr/>
          <p:nvPr/>
        </p:nvSpPr>
        <p:spPr>
          <a:xfrm>
            <a:off x="2364581" y="2755590"/>
            <a:ext cx="157163" cy="157163"/>
          </a:xfrm>
          <a:prstGeom prst="rect">
            <a:avLst/>
          </a:prstGeom>
          <a:noFill/>
          <a:ln/>
        </p:spPr>
        <p:txBody>
          <a:bodyPr wrap="none" lIns="0" tIns="0" rIns="0" bIns="0" rtlCol="0" anchor="ctr"/>
          <a:lstStyle/>
          <a:p>
            <a:pPr algn="ctr" indent="0" marL="0">
              <a:buNone/>
            </a:pPr>
            <a:r>
              <a:rPr lang="en-US" sz="1547" dirty="0">
                <a:solidFill>
                  <a:srgbClr val="C9B8FF"/>
                </a:solidFill>
                <a:latin typeface="Segoe UI Symbol" pitchFamily="34" charset="0"/>
                <a:ea typeface="Segoe UI Symbol" pitchFamily="34" charset="-122"/>
                <a:cs typeface="Segoe UI Symbol" pitchFamily="34" charset="-120"/>
              </a:rPr>
              <a:t>✓</a:t>
            </a:r>
            <a:endParaRPr lang="en-US" sz="1547" dirty="0"/>
          </a:p>
        </p:txBody>
      </p:sp>
      <p:sp>
        <p:nvSpPr>
          <p:cNvPr id="23" name="Text 21"/>
          <p:cNvSpPr/>
          <p:nvPr/>
        </p:nvSpPr>
        <p:spPr>
          <a:xfrm>
            <a:off x="2321064" y="2941327"/>
            <a:ext cx="359258" cy="107156"/>
          </a:xfrm>
          <a:prstGeom prst="rect">
            <a:avLst/>
          </a:prstGeom>
          <a:noFill/>
          <a:ln/>
        </p:spPr>
        <p:txBody>
          <a:bodyPr wrap="square" lIns="0" tIns="0" rIns="0" bIns="0" rtlCol="0" anchor="t"/>
          <a:lstStyle/>
          <a:p>
            <a:pPr algn="l" indent="0" marL="0">
              <a:lnSpc>
                <a:spcPts val="844"/>
              </a:lnSpc>
              <a:buNone/>
            </a:pPr>
            <a:r>
              <a:rPr lang="en-US" sz="800" dirty="0">
                <a:solidFill>
                  <a:srgbClr val="B8A8E0"/>
                </a:solidFill>
                <a:latin typeface="Carlito" pitchFamily="34" charset="0"/>
                <a:ea typeface="Carlito" pitchFamily="34" charset="-122"/>
                <a:cs typeface="Carlito" pitchFamily="34" charset="-120"/>
              </a:rPr>
              <a:t>Notas</a:t>
            </a:r>
            <a:endParaRPr lang="en-US" sz="800" dirty="0"/>
          </a:p>
        </p:txBody>
      </p:sp>
      <p:sp>
        <p:nvSpPr>
          <p:cNvPr id="24" name="Text 22"/>
          <p:cNvSpPr/>
          <p:nvPr/>
        </p:nvSpPr>
        <p:spPr>
          <a:xfrm>
            <a:off x="2780147" y="2680581"/>
            <a:ext cx="545269" cy="442913"/>
          </a:xfrm>
          <a:prstGeom prst="roundRect">
            <a:avLst>
              <a:gd name="adj" fmla="val 25806"/>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5" name="Text 23"/>
          <p:cNvSpPr/>
          <p:nvPr/>
        </p:nvSpPr>
        <p:spPr>
          <a:xfrm>
            <a:off x="2974144" y="2755590"/>
            <a:ext cx="157163" cy="157163"/>
          </a:xfrm>
          <a:prstGeom prst="rect">
            <a:avLst/>
          </a:prstGeom>
          <a:noFill/>
          <a:ln/>
        </p:spPr>
        <p:txBody>
          <a:bodyPr wrap="none" lIns="0" tIns="0" rIns="0" bIns="0" rtlCol="0" anchor="ctr"/>
          <a:lstStyle/>
          <a:p>
            <a:pPr algn="ctr" indent="0" marL="0">
              <a:buNone/>
            </a:pPr>
            <a:r>
              <a:rPr lang="en-US" sz="1547" dirty="0">
                <a:solidFill>
                  <a:srgbClr val="6EE7B7"/>
                </a:solidFill>
                <a:latin typeface="Segoe UI Symbol" pitchFamily="34" charset="0"/>
                <a:ea typeface="Segoe UI Symbol" pitchFamily="34" charset="-122"/>
                <a:cs typeface="Segoe UI Symbol" pitchFamily="34" charset="-120"/>
              </a:rPr>
              <a:t>⌕</a:t>
            </a:r>
            <a:endParaRPr lang="en-US" sz="1547" dirty="0"/>
          </a:p>
        </p:txBody>
      </p:sp>
      <p:sp>
        <p:nvSpPr>
          <p:cNvPr id="26" name="Text 24"/>
          <p:cNvSpPr/>
          <p:nvPr/>
        </p:nvSpPr>
        <p:spPr>
          <a:xfrm>
            <a:off x="2928536" y="2941327"/>
            <a:ext cx="316200" cy="107156"/>
          </a:xfrm>
          <a:prstGeom prst="rect">
            <a:avLst/>
          </a:prstGeom>
          <a:noFill/>
          <a:ln/>
        </p:spPr>
        <p:txBody>
          <a:bodyPr wrap="none" lIns="0" tIns="0" rIns="0" bIns="0" rtlCol="0" anchor="t"/>
          <a:lstStyle/>
          <a:p>
            <a:pPr algn="l" indent="0" marL="0">
              <a:lnSpc>
                <a:spcPts val="844"/>
              </a:lnSpc>
              <a:buNone/>
            </a:pPr>
            <a:r>
              <a:rPr lang="en-US" sz="600" dirty="0">
                <a:solidFill>
                  <a:srgbClr val="B8A8E0"/>
                </a:solidFill>
                <a:latin typeface="Carlito" pitchFamily="34" charset="0"/>
                <a:ea typeface="Carlito" pitchFamily="34" charset="-122"/>
                <a:cs typeface="Carlito" pitchFamily="34" charset="-120"/>
              </a:rPr>
              <a:t>Buscar</a:t>
            </a:r>
            <a:endParaRPr lang="en-US" sz="600" dirty="0"/>
          </a:p>
        </p:txBody>
      </p:sp>
      <p:sp>
        <p:nvSpPr>
          <p:cNvPr id="27" name="Text 25"/>
          <p:cNvSpPr/>
          <p:nvPr/>
        </p:nvSpPr>
        <p:spPr>
          <a:xfrm>
            <a:off x="1534478" y="3185701"/>
            <a:ext cx="1817370" cy="300638"/>
          </a:xfrm>
          <a:prstGeom prst="roundRect">
            <a:avLst>
              <a:gd name="adj" fmla="val 38019"/>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8" name="Text 26"/>
          <p:cNvSpPr/>
          <p:nvPr/>
        </p:nvSpPr>
        <p:spPr>
          <a:xfrm>
            <a:off x="1650206" y="3278870"/>
            <a:ext cx="114300" cy="114300"/>
          </a:xfrm>
          <a:prstGeom prst="rect">
            <a:avLst/>
          </a:prstGeom>
          <a:noFill/>
          <a:ln/>
        </p:spPr>
        <p:txBody>
          <a:bodyPr wrap="none" lIns="0" tIns="0" rIns="0" bIns="0" rtlCol="0" anchor="ctr"/>
          <a:lstStyle/>
          <a:p>
            <a:pPr algn="ctr" indent="0" marL="0">
              <a:buNone/>
            </a:pPr>
            <a:r>
              <a:rPr lang="en-US" sz="1125" dirty="0">
                <a:solidFill>
                  <a:srgbClr val="6EE7B7"/>
                </a:solidFill>
                <a:latin typeface="Segoe UI Symbol" pitchFamily="34" charset="0"/>
                <a:ea typeface="Segoe UI Symbol" pitchFamily="34" charset="-122"/>
                <a:cs typeface="Segoe UI Symbol" pitchFamily="34" charset="-120"/>
              </a:rPr>
              <a:t>◔</a:t>
            </a:r>
            <a:endParaRPr lang="en-US" sz="1125" dirty="0"/>
          </a:p>
        </p:txBody>
      </p:sp>
      <p:sp>
        <p:nvSpPr>
          <p:cNvPr id="29" name="Text 27"/>
          <p:cNvSpPr/>
          <p:nvPr/>
        </p:nvSpPr>
        <p:spPr>
          <a:xfrm>
            <a:off x="1821656" y="3277084"/>
            <a:ext cx="1414463" cy="117872"/>
          </a:xfrm>
          <a:prstGeom prst="rect">
            <a:avLst/>
          </a:prstGeom>
          <a:noFill/>
          <a:ln/>
        </p:spPr>
        <p:txBody>
          <a:bodyPr wrap="square" lIns="0" tIns="0" rIns="0" bIns="0" rtlCol="0" anchor="t"/>
          <a:lstStyle/>
          <a:p>
            <a:pPr algn="l" indent="0" marL="0">
              <a:lnSpc>
                <a:spcPts val="928"/>
              </a:lnSpc>
              <a:buNone/>
            </a:pPr>
            <a:r>
              <a:rPr lang="en-US" sz="800" dirty="0">
                <a:solidFill>
                  <a:srgbClr val="B8A8E0"/>
                </a:solidFill>
                <a:latin typeface="Carlito" pitchFamily="34" charset="0"/>
                <a:ea typeface="Carlito" pitchFamily="34" charset="-122"/>
                <a:cs typeface="Carlito" pitchFamily="34" charset="-120"/>
              </a:rPr>
              <a:t>Sin pendientes</a:t>
            </a:r>
            <a:endParaRPr lang="en-US" sz="800" dirty="0"/>
          </a:p>
        </p:txBody>
      </p:sp>
      <p:sp>
        <p:nvSpPr>
          <p:cNvPr id="30" name="Text 28"/>
          <p:cNvSpPr/>
          <p:nvPr/>
        </p:nvSpPr>
        <p:spPr>
          <a:xfrm>
            <a:off x="1443038" y="4575907"/>
            <a:ext cx="2000250" cy="371475"/>
          </a:xfrm>
          <a:prstGeom prst="rect">
            <a:avLst/>
          </a:prstGeom>
          <a:solidFill>
            <a:srgbClr val="221C4A">
              <a:alpha val="85000"/>
            </a:srgbClr>
          </a:solidFill>
          <a:ln/>
        </p:spPr>
        <p:txBody>
          <a:bodyPr wrap="square" rtlCol="0" anchor="ctr"/>
          <a:lstStyle/>
          <a:p>
            <a:pPr indent="0" marL="0">
              <a:buNone/>
            </a:pPr>
            <a:endParaRPr lang="en-US" dirty="0"/>
          </a:p>
        </p:txBody>
      </p:sp>
      <p:sp>
        <p:nvSpPr>
          <p:cNvPr id="31" name="Text 29"/>
          <p:cNvSpPr/>
          <p:nvPr/>
        </p:nvSpPr>
        <p:spPr>
          <a:xfrm>
            <a:off x="1594396" y="4631271"/>
            <a:ext cx="142875" cy="142875"/>
          </a:xfrm>
          <a:prstGeom prst="rect">
            <a:avLst/>
          </a:prstGeom>
          <a:noFill/>
          <a:ln/>
        </p:spPr>
        <p:txBody>
          <a:bodyPr wrap="none" lIns="0" tIns="0" rIns="0" bIns="0" rtlCol="0" anchor="ctr"/>
          <a:lstStyle/>
          <a:p>
            <a:pPr algn="ctr" indent="0" marL="0">
              <a:buNone/>
            </a:pPr>
            <a:r>
              <a:rPr lang="en-US" sz="1406" dirty="0">
                <a:solidFill>
                  <a:srgbClr val="8363F9"/>
                </a:solidFill>
                <a:latin typeface="Segoe UI Symbol" pitchFamily="34" charset="0"/>
                <a:ea typeface="Segoe UI Symbol" pitchFamily="34" charset="-122"/>
                <a:cs typeface="Segoe UI Symbol" pitchFamily="34" charset="-120"/>
              </a:rPr>
              <a:t>⌂</a:t>
            </a:r>
            <a:endParaRPr lang="en-US" sz="1406" dirty="0"/>
          </a:p>
        </p:txBody>
      </p:sp>
      <p:sp>
        <p:nvSpPr>
          <p:cNvPr id="32" name="Text 30"/>
          <p:cNvSpPr/>
          <p:nvPr/>
        </p:nvSpPr>
        <p:spPr>
          <a:xfrm>
            <a:off x="1583853" y="4788433"/>
            <a:ext cx="234574" cy="116086"/>
          </a:xfrm>
          <a:prstGeom prst="rect">
            <a:avLst/>
          </a:prstGeom>
          <a:noFill/>
          <a:ln/>
        </p:spPr>
        <p:txBody>
          <a:bodyPr wrap="square" lIns="0" tIns="0" rIns="0" bIns="0" rtlCol="0" anchor="t"/>
          <a:lstStyle/>
          <a:p>
            <a:pPr algn="l" indent="0" marL="0">
              <a:lnSpc>
                <a:spcPts val="759"/>
              </a:lnSpc>
              <a:buNone/>
            </a:pPr>
            <a:r>
              <a:rPr lang="en-US" sz="800" dirty="0">
                <a:solidFill>
                  <a:srgbClr val="8363F9"/>
                </a:solidFill>
                <a:latin typeface="Carlito" pitchFamily="34" charset="0"/>
                <a:ea typeface="Carlito" pitchFamily="34" charset="-122"/>
                <a:cs typeface="Carlito" pitchFamily="34" charset="-120"/>
              </a:rPr>
              <a:t>Hoy</a:t>
            </a:r>
            <a:endParaRPr lang="en-US" sz="800" dirty="0"/>
          </a:p>
        </p:txBody>
      </p:sp>
      <p:sp>
        <p:nvSpPr>
          <p:cNvPr id="33" name="Text 31"/>
          <p:cNvSpPr/>
          <p:nvPr/>
        </p:nvSpPr>
        <p:spPr>
          <a:xfrm>
            <a:off x="1983060" y="4631271"/>
            <a:ext cx="142875" cy="142875"/>
          </a:xfrm>
          <a:prstGeom prst="rect">
            <a:avLst/>
          </a:prstGeom>
          <a:noFill/>
          <a:ln/>
        </p:spPr>
        <p:txBody>
          <a:bodyPr wrap="none" lIns="0" tIns="0" rIns="0" bIns="0" rtlCol="0" anchor="ctr"/>
          <a:lstStyle/>
          <a:p>
            <a:pPr algn="ctr" indent="0" marL="0">
              <a:buNone/>
            </a:pPr>
            <a:r>
              <a:rPr lang="en-US" sz="1406" dirty="0">
                <a:solidFill>
                  <a:srgbClr val="7A6BA8"/>
                </a:solidFill>
                <a:latin typeface="Segoe UI Symbol" pitchFamily="34" charset="0"/>
                <a:ea typeface="Segoe UI Symbol" pitchFamily="34" charset="-122"/>
                <a:cs typeface="Segoe UI Symbol" pitchFamily="34" charset="-120"/>
              </a:rPr>
              <a:t>◌</a:t>
            </a:r>
            <a:endParaRPr lang="en-US" sz="1406" dirty="0"/>
          </a:p>
        </p:txBody>
      </p:sp>
      <p:sp>
        <p:nvSpPr>
          <p:cNvPr id="34" name="Text 32"/>
          <p:cNvSpPr/>
          <p:nvPr/>
        </p:nvSpPr>
        <p:spPr>
          <a:xfrm>
            <a:off x="1983060" y="4788433"/>
            <a:ext cx="225743" cy="116086"/>
          </a:xfrm>
          <a:prstGeom prst="rect">
            <a:avLst/>
          </a:prstGeom>
          <a:noFill/>
          <a:ln/>
        </p:spPr>
        <p:txBody>
          <a:bodyPr wrap="square" lIns="0" tIns="0" rIns="0" bIns="0" rtlCol="0" anchor="t"/>
          <a:lstStyle/>
          <a:p>
            <a:pPr algn="l" indent="0" marL="0">
              <a:lnSpc>
                <a:spcPts val="759"/>
              </a:lnSpc>
              <a:buNone/>
            </a:pPr>
            <a:r>
              <a:rPr lang="en-US" sz="600" dirty="0">
                <a:solidFill>
                  <a:srgbClr val="7A6BA8"/>
                </a:solidFill>
                <a:latin typeface="Carlito" pitchFamily="34" charset="0"/>
                <a:ea typeface="Carlito" pitchFamily="34" charset="-122"/>
                <a:cs typeface="Carlito" pitchFamily="34" charset="-120"/>
              </a:rPr>
              <a:t>Chat</a:t>
            </a:r>
            <a:endParaRPr lang="en-US" sz="600" dirty="0"/>
          </a:p>
        </p:txBody>
      </p:sp>
      <p:sp>
        <p:nvSpPr>
          <p:cNvPr id="35" name="Text 33"/>
          <p:cNvSpPr/>
          <p:nvPr/>
        </p:nvSpPr>
        <p:spPr>
          <a:xfrm>
            <a:off x="2371613" y="4631271"/>
            <a:ext cx="142875" cy="142875"/>
          </a:xfrm>
          <a:prstGeom prst="rect">
            <a:avLst/>
          </a:prstGeom>
          <a:noFill/>
          <a:ln/>
        </p:spPr>
        <p:txBody>
          <a:bodyPr wrap="none" lIns="0" tIns="0" rIns="0" bIns="0" rtlCol="0" anchor="ctr"/>
          <a:lstStyle/>
          <a:p>
            <a:pPr algn="ctr" indent="0" marL="0">
              <a:buNone/>
            </a:pPr>
            <a:r>
              <a:rPr lang="en-US" sz="1406" dirty="0">
                <a:solidFill>
                  <a:srgbClr val="7A6BA8"/>
                </a:solidFill>
                <a:latin typeface="Segoe UI Symbol" pitchFamily="34" charset="0"/>
                <a:ea typeface="Segoe UI Symbol" pitchFamily="34" charset="-122"/>
                <a:cs typeface="Segoe UI Symbol" pitchFamily="34" charset="-120"/>
              </a:rPr>
              <a:t>€</a:t>
            </a:r>
            <a:endParaRPr lang="en-US" sz="1406" dirty="0"/>
          </a:p>
        </p:txBody>
      </p:sp>
      <p:sp>
        <p:nvSpPr>
          <p:cNvPr id="36" name="Text 34"/>
          <p:cNvSpPr/>
          <p:nvPr/>
        </p:nvSpPr>
        <p:spPr>
          <a:xfrm>
            <a:off x="2298649" y="4788433"/>
            <a:ext cx="362956" cy="116086"/>
          </a:xfrm>
          <a:prstGeom prst="rect">
            <a:avLst/>
          </a:prstGeom>
          <a:noFill/>
          <a:ln/>
        </p:spPr>
        <p:txBody>
          <a:bodyPr wrap="none" lIns="0" tIns="0" rIns="0" bIns="0" rtlCol="0" anchor="t"/>
          <a:lstStyle/>
          <a:p>
            <a:pPr algn="l" indent="0" marL="0">
              <a:lnSpc>
                <a:spcPts val="759"/>
              </a:lnSpc>
              <a:buNone/>
            </a:pPr>
            <a:r>
              <a:rPr lang="en-US" sz="600" dirty="0">
                <a:solidFill>
                  <a:srgbClr val="7A6BA8"/>
                </a:solidFill>
                <a:latin typeface="Carlito" pitchFamily="34" charset="0"/>
                <a:ea typeface="Carlito" pitchFamily="34" charset="-122"/>
                <a:cs typeface="Carlito" pitchFamily="34" charset="-120"/>
              </a:rPr>
              <a:t>Memoria</a:t>
            </a:r>
            <a:endParaRPr lang="en-US" sz="600" dirty="0"/>
          </a:p>
        </p:txBody>
      </p:sp>
      <p:sp>
        <p:nvSpPr>
          <p:cNvPr id="37" name="Text 35"/>
          <p:cNvSpPr/>
          <p:nvPr/>
        </p:nvSpPr>
        <p:spPr>
          <a:xfrm>
            <a:off x="2760278" y="4631271"/>
            <a:ext cx="142875" cy="142875"/>
          </a:xfrm>
          <a:prstGeom prst="rect">
            <a:avLst/>
          </a:prstGeom>
          <a:noFill/>
          <a:ln/>
        </p:spPr>
        <p:txBody>
          <a:bodyPr wrap="none" lIns="0" tIns="0" rIns="0" bIns="0" rtlCol="0" anchor="ctr"/>
          <a:lstStyle/>
          <a:p>
            <a:pPr algn="ctr" indent="0" marL="0">
              <a:buNone/>
            </a:pPr>
            <a:r>
              <a:rPr lang="en-US" sz="1406" dirty="0">
                <a:solidFill>
                  <a:srgbClr val="7A6BA8"/>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2639446" y="4788433"/>
            <a:ext cx="456468" cy="116086"/>
          </a:xfrm>
          <a:prstGeom prst="rect">
            <a:avLst/>
          </a:prstGeom>
          <a:noFill/>
          <a:ln/>
        </p:spPr>
        <p:txBody>
          <a:bodyPr wrap="square" lIns="0" tIns="0" rIns="0" bIns="0" rtlCol="0" anchor="t"/>
          <a:lstStyle/>
          <a:p>
            <a:pPr algn="l" indent="0" marL="0">
              <a:lnSpc>
                <a:spcPts val="759"/>
              </a:lnSpc>
              <a:buNone/>
            </a:pPr>
            <a:r>
              <a:rPr lang="en-US" sz="600" dirty="0">
                <a:solidFill>
                  <a:srgbClr val="7A6BA8"/>
                </a:solidFill>
                <a:latin typeface="Carlito" pitchFamily="34" charset="0"/>
                <a:ea typeface="Carlito" pitchFamily="34" charset="-122"/>
                <a:cs typeface="Carlito" pitchFamily="34" charset="-120"/>
              </a:rPr>
              <a:t>Historial</a:t>
            </a:r>
            <a:endParaRPr lang="en-US" sz="600" dirty="0"/>
          </a:p>
        </p:txBody>
      </p:sp>
      <p:sp>
        <p:nvSpPr>
          <p:cNvPr id="39" name="Text 37"/>
          <p:cNvSpPr/>
          <p:nvPr/>
        </p:nvSpPr>
        <p:spPr>
          <a:xfrm>
            <a:off x="3148943" y="4631271"/>
            <a:ext cx="142875" cy="142875"/>
          </a:xfrm>
          <a:prstGeom prst="rect">
            <a:avLst/>
          </a:prstGeom>
          <a:noFill/>
          <a:ln/>
        </p:spPr>
        <p:txBody>
          <a:bodyPr wrap="none" lIns="0" tIns="0" rIns="0" bIns="0" rtlCol="0" anchor="ctr"/>
          <a:lstStyle/>
          <a:p>
            <a:pPr algn="ctr" indent="0" marL="0">
              <a:buNone/>
            </a:pPr>
            <a:r>
              <a:rPr lang="en-US" sz="1406" dirty="0">
                <a:solidFill>
                  <a:srgbClr val="7A6BA8"/>
                </a:solidFill>
                <a:latin typeface="Segoe UI Symbol" pitchFamily="34" charset="0"/>
                <a:ea typeface="Segoe UI Symbol" pitchFamily="34" charset="-122"/>
                <a:cs typeface="Segoe UI Symbol" pitchFamily="34" charset="-120"/>
              </a:rPr>
              <a:t>⚙</a:t>
            </a:r>
            <a:endParaRPr lang="en-US" sz="1406" dirty="0"/>
          </a:p>
        </p:txBody>
      </p:sp>
      <p:sp>
        <p:nvSpPr>
          <p:cNvPr id="40" name="Text 38"/>
          <p:cNvSpPr/>
          <p:nvPr/>
        </p:nvSpPr>
        <p:spPr>
          <a:xfrm>
            <a:off x="3071366" y="4788433"/>
            <a:ext cx="362956" cy="116086"/>
          </a:xfrm>
          <a:prstGeom prst="rect">
            <a:avLst/>
          </a:prstGeom>
          <a:noFill/>
          <a:ln/>
        </p:spPr>
        <p:txBody>
          <a:bodyPr wrap="square" lIns="0" tIns="0" rIns="0" bIns="0" rtlCol="0" anchor="t"/>
          <a:lstStyle/>
          <a:p>
            <a:pPr algn="l" indent="0" marL="0">
              <a:lnSpc>
                <a:spcPts val="759"/>
              </a:lnSpc>
              <a:buNone/>
            </a:pPr>
            <a:r>
              <a:rPr lang="en-US" sz="600" dirty="0">
                <a:solidFill>
                  <a:srgbClr val="7A6BA8"/>
                </a:solidFill>
                <a:latin typeface="Carlito" pitchFamily="34" charset="0"/>
                <a:ea typeface="Carlito" pitchFamily="34" charset="-122"/>
                <a:cs typeface="Carlito" pitchFamily="34" charset="-120"/>
              </a:rPr>
              <a:t>Ajustes</a:t>
            </a:r>
            <a:endParaRPr lang="en-US" sz="600" dirty="0"/>
          </a:p>
        </p:txBody>
      </p:sp>
      <p:sp>
        <p:nvSpPr>
          <p:cNvPr id="41" name="Text 39"/>
          <p:cNvSpPr/>
          <p:nvPr/>
        </p:nvSpPr>
        <p:spPr>
          <a:xfrm>
            <a:off x="3599021" y="2726868"/>
            <a:ext cx="686202" cy="184023"/>
          </a:xfrm>
          <a:prstGeom prst="roundRect">
            <a:avLst>
              <a:gd name="adj" fmla="val 31056"/>
            </a:avLst>
          </a:prstGeom>
          <a:solidFill>
            <a:srgbClr val="6EE7B7"/>
          </a:solidFill>
          <a:ln/>
          <a:effectLst>
            <a:outerShdw sx="100000" sy="100000" kx="0" ky="0" algn="bl" rotWithShape="0" blurRad="114300" dist="38100" dir="5400000">
              <a:srgbClr val="000000">
                <a:alpha val="30000"/>
              </a:srgbClr>
            </a:outerShdw>
          </a:effectLst>
        </p:spPr>
        <p:txBody>
          <a:bodyPr wrap="square" rtlCol="0" anchor="ctr"/>
          <a:lstStyle/>
          <a:p>
            <a:pPr indent="0" marL="0">
              <a:buNone/>
            </a:pPr>
            <a:endParaRPr lang="en-US" dirty="0"/>
          </a:p>
        </p:txBody>
      </p:sp>
      <p:sp>
        <p:nvSpPr>
          <p:cNvPr id="42" name="Text 40"/>
          <p:cNvSpPr/>
          <p:nvPr/>
        </p:nvSpPr>
        <p:spPr>
          <a:xfrm>
            <a:off x="3556286" y="2736726"/>
            <a:ext cx="771672" cy="164306"/>
          </a:xfrm>
          <a:prstGeom prst="rect">
            <a:avLst/>
          </a:prstGeom>
          <a:noFill/>
          <a:ln/>
        </p:spPr>
        <p:txBody>
          <a:bodyPr wrap="none" lIns="0" tIns="0" rIns="0" bIns="0" rtlCol="0" anchor="ctr"/>
          <a:lstStyle/>
          <a:p>
            <a:pPr algn="ctr" indent="0" marL="0">
              <a:lnSpc>
                <a:spcPts val="844"/>
              </a:lnSpc>
              <a:buNone/>
            </a:pPr>
            <a:r>
              <a:rPr lang="en-US" sz="800" b="1" spc="28" kern="0" dirty="0">
                <a:solidFill>
                  <a:srgbClr val="14102A"/>
                </a:solidFill>
                <a:latin typeface="Carlito" pitchFamily="34" charset="0"/>
                <a:ea typeface="Carlito" pitchFamily="34" charset="-122"/>
                <a:cs typeface="Carlito" pitchFamily="34" charset="-120"/>
              </a:rPr>
              <a:t>UN SOLO CTA</a:t>
            </a:r>
            <a:endParaRPr lang="en-US" sz="800" dirty="0"/>
          </a:p>
        </p:txBody>
      </p:sp>
      <p:sp>
        <p:nvSpPr>
          <p:cNvPr id="43" name="Text 41"/>
          <p:cNvSpPr/>
          <p:nvPr/>
        </p:nvSpPr>
        <p:spPr>
          <a:xfrm>
            <a:off x="4714875" y="2402421"/>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44" name="Text 42"/>
          <p:cNvSpPr/>
          <p:nvPr/>
        </p:nvSpPr>
        <p:spPr>
          <a:xfrm>
            <a:off x="4943475" y="2395277"/>
            <a:ext cx="3743325"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Un solo CTA: </a:t>
            </a:r>
            <a:pPr algn="l" indent="0" marL="0">
              <a:lnSpc>
                <a:spcPts val="1181"/>
              </a:lnSpc>
              <a:buNone/>
            </a:pPr>
            <a:r>
              <a:rPr lang="en-US" sz="800" b="1" dirty="0">
                <a:solidFill>
                  <a:srgbClr val="F0EAFF"/>
                </a:solidFill>
                <a:latin typeface="Carlito" pitchFamily="34" charset="0"/>
                <a:ea typeface="Carlito" pitchFamily="34" charset="-122"/>
                <a:cs typeface="Carlito" pitchFamily="34" charset="-120"/>
              </a:rPr>
              <a:t>"Hablar con Koru"</a:t>
            </a:r>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 (voz y texto unificados)</a:t>
            </a:r>
            <a:endParaRPr lang="en-US" sz="800" dirty="0"/>
          </a:p>
        </p:txBody>
      </p:sp>
      <p:sp>
        <p:nvSpPr>
          <p:cNvPr id="45" name="Text 43"/>
          <p:cNvSpPr/>
          <p:nvPr/>
        </p:nvSpPr>
        <p:spPr>
          <a:xfrm>
            <a:off x="4714875" y="2638165"/>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46" name="Text 44"/>
          <p:cNvSpPr/>
          <p:nvPr/>
        </p:nvSpPr>
        <p:spPr>
          <a:xfrm>
            <a:off x="4943475" y="2631021"/>
            <a:ext cx="3743325"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Liberation Sans Narrow" pitchFamily="34" charset="0"/>
                <a:ea typeface="Liberation Sans Narrow" pitchFamily="34" charset="-122"/>
                <a:cs typeface="Liberation Sans Narrow" pitchFamily="34" charset="-120"/>
              </a:rPr>
              <a:t>3 atajos visibles: </a:t>
            </a:r>
            <a:pPr algn="l" indent="0" marL="0">
              <a:lnSpc>
                <a:spcPts val="1181"/>
              </a:lnSpc>
              <a:buNone/>
            </a:pPr>
            <a:r>
              <a:rPr lang="en-US" sz="800" b="1" dirty="0">
                <a:solidFill>
                  <a:srgbClr val="F0EAFF"/>
                </a:solidFill>
                <a:latin typeface="Carlito" pitchFamily="34" charset="0"/>
                <a:ea typeface="Carlito" pitchFamily="34" charset="-122"/>
                <a:cs typeface="Carlito" pitchFamily="34" charset="-120"/>
              </a:rPr>
              <a:t>Gastos, Notas, Buscar</a:t>
            </a:r>
            <a:endParaRPr lang="en-US" sz="800" dirty="0"/>
          </a:p>
        </p:txBody>
      </p:sp>
      <p:sp>
        <p:nvSpPr>
          <p:cNvPr id="47" name="Text 45"/>
          <p:cNvSpPr/>
          <p:nvPr/>
        </p:nvSpPr>
        <p:spPr>
          <a:xfrm>
            <a:off x="4714875" y="2873908"/>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48" name="Text 46"/>
          <p:cNvSpPr/>
          <p:nvPr/>
        </p:nvSpPr>
        <p:spPr>
          <a:xfrm>
            <a:off x="4943475" y="2866765"/>
            <a:ext cx="3743325"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Preview de pendientes/recordatorios</a:t>
            </a:r>
            <a:endParaRPr lang="en-US" sz="800" dirty="0"/>
          </a:p>
        </p:txBody>
      </p:sp>
      <p:sp>
        <p:nvSpPr>
          <p:cNvPr id="49" name="Text 47"/>
          <p:cNvSpPr/>
          <p:nvPr/>
        </p:nvSpPr>
        <p:spPr>
          <a:xfrm>
            <a:off x="4714875" y="3109652"/>
            <a:ext cx="142875" cy="142875"/>
          </a:xfrm>
          <a:prstGeom prst="rect">
            <a:avLst/>
          </a:prstGeom>
          <a:noFill/>
          <a:ln/>
        </p:spPr>
        <p:txBody>
          <a:bodyPr wrap="none" lIns="0" tIns="0" rIns="0" bIns="0" rtlCol="0" anchor="ctr"/>
          <a:lstStyle/>
          <a:p>
            <a:pPr algn="ctr" indent="0" marL="0">
              <a:buNone/>
            </a:pPr>
            <a:r>
              <a:rPr lang="en-US" sz="1406" dirty="0">
                <a:solidFill>
                  <a:srgbClr val="6EE7B7"/>
                </a:solidFill>
                <a:latin typeface="Segoe UI Symbol" pitchFamily="34" charset="0"/>
                <a:ea typeface="Segoe UI Symbol" pitchFamily="34" charset="-122"/>
                <a:cs typeface="Segoe UI Symbol" pitchFamily="34" charset="-120"/>
              </a:rPr>
              <a:t>✓</a:t>
            </a:r>
            <a:endParaRPr lang="en-US" sz="1406" dirty="0"/>
          </a:p>
        </p:txBody>
      </p:sp>
      <p:sp>
        <p:nvSpPr>
          <p:cNvPr id="50" name="Text 48"/>
          <p:cNvSpPr/>
          <p:nvPr/>
        </p:nvSpPr>
        <p:spPr>
          <a:xfrm>
            <a:off x="4943475" y="3102508"/>
            <a:ext cx="3743325" cy="164592"/>
          </a:xfrm>
          <a:prstGeom prst="rect">
            <a:avLst/>
          </a:prstGeom>
          <a:noFill/>
          <a:ln/>
        </p:spPr>
        <p:txBody>
          <a:bodyPr wrap="square" lIns="0" tIns="0" rIns="0" bIns="0" rtlCol="0" anchor="t"/>
          <a:lstStyle/>
          <a:p>
            <a:pPr algn="l" indent="0" marL="0">
              <a:lnSpc>
                <a:spcPts val="1181"/>
              </a:lnSpc>
              <a:buNone/>
            </a:pPr>
            <a:r>
              <a:rPr lang="en-US" sz="800" dirty="0">
                <a:solidFill>
                  <a:srgbClr val="F0EAFF"/>
                </a:solidFill>
                <a:latin typeface="Carlito" pitchFamily="34" charset="0"/>
                <a:ea typeface="Carlito" pitchFamily="34" charset="-122"/>
                <a:cs typeface="Carlito" pitchFamily="34" charset="-120"/>
              </a:rPr>
              <a:t>Bottom nav consistente con el chat</a:t>
            </a:r>
            <a:endParaRPr lang="en-US" sz="800" dirty="0"/>
          </a:p>
        </p:txBody>
      </p:sp>
      <p:sp>
        <p:nvSpPr>
          <p:cNvPr id="51" name="Text 49"/>
          <p:cNvSpPr/>
          <p:nvPr/>
        </p:nvSpPr>
        <p:spPr>
          <a:xfrm>
            <a:off x="4714875" y="3390044"/>
            <a:ext cx="100013" cy="100013"/>
          </a:xfrm>
          <a:prstGeom prst="rect">
            <a:avLst/>
          </a:prstGeom>
          <a:noFill/>
          <a:ln/>
        </p:spPr>
        <p:txBody>
          <a:bodyPr wrap="none" lIns="0" tIns="0" rIns="0" bIns="0" rtlCol="0" anchor="ctr"/>
          <a:lstStyle/>
          <a:p>
            <a:pPr algn="ctr" indent="0" marL="0">
              <a:buNone/>
            </a:pPr>
            <a:r>
              <a:rPr lang="en-US" sz="984" dirty="0">
                <a:solidFill>
                  <a:srgbClr val="C9B8FF"/>
                </a:solidFill>
                <a:latin typeface="Segoe UI Symbol" pitchFamily="34" charset="0"/>
                <a:ea typeface="Segoe UI Symbol" pitchFamily="34" charset="-122"/>
                <a:cs typeface="Segoe UI Symbol" pitchFamily="34" charset="-120"/>
              </a:rPr>
              <a:t>ⓘ</a:t>
            </a:r>
            <a:endParaRPr lang="en-US" sz="984" dirty="0"/>
          </a:p>
        </p:txBody>
      </p:sp>
      <p:sp>
        <p:nvSpPr>
          <p:cNvPr id="52" name="Text 50"/>
          <p:cNvSpPr/>
          <p:nvPr/>
        </p:nvSpPr>
        <p:spPr>
          <a:xfrm>
            <a:off x="4872038" y="3381115"/>
            <a:ext cx="3814763" cy="164592"/>
          </a:xfrm>
          <a:prstGeom prst="rect">
            <a:avLst/>
          </a:prstGeom>
          <a:noFill/>
          <a:ln/>
        </p:spPr>
        <p:txBody>
          <a:bodyPr wrap="square" lIns="0" tIns="0" rIns="0" bIns="0" rtlCol="0" anchor="t"/>
          <a:lstStyle/>
          <a:p>
            <a:pPr algn="l" indent="0" marL="0">
              <a:lnSpc>
                <a:spcPts val="928"/>
              </a:lnSpc>
              <a:buNone/>
            </a:pPr>
            <a:r>
              <a:rPr lang="en-US" sz="800" dirty="0">
                <a:solidFill>
                  <a:srgbClr val="7A6BA8"/>
                </a:solidFill>
                <a:latin typeface="Carlito" pitchFamily="34" charset="0"/>
                <a:ea typeface="Carlito" pitchFamily="34" charset="-122"/>
                <a:cs typeface="Carlito" pitchFamily="34" charset="-120"/>
              </a:rPr>
              <a:t>El nombre aparece personalizado si ya hizo onboarding</a:t>
            </a:r>
            <a:endParaRPr lang="en-US" sz="800" dirty="0"/>
          </a:p>
        </p:txBody>
      </p:sp>
      <p:sp>
        <p:nvSpPr>
          <p:cNvPr id="53" name="Text 51"/>
          <p:cNvSpPr/>
          <p:nvPr/>
        </p:nvSpPr>
        <p:spPr>
          <a:xfrm>
            <a:off x="2228850" y="1004032"/>
            <a:ext cx="428625" cy="85725"/>
          </a:xfrm>
          <a:prstGeom prst="roundRect">
            <a:avLst>
              <a:gd name="adj" fmla="val 11100000"/>
            </a:avLst>
          </a:prstGeom>
          <a:solidFill>
            <a:srgbClr val="0C0A1E"/>
          </a:solidFill>
          <a:ln/>
        </p:spPr>
        <p:txBody>
          <a:bodyPr wrap="square"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7429500" y="-857250"/>
            <a:ext cx="2571750" cy="2571750"/>
          </a:xfrm>
          <a:prstGeom prst="ellipse">
            <a:avLst/>
          </a:prstGeom>
          <a:solidFill>
            <a:srgbClr val="FBBF24">
              <a:alpha val="10000"/>
            </a:srgbClr>
          </a:solidFill>
          <a:ln/>
        </p:spPr>
        <p:txBody>
          <a:bodyPr wrap="square" rtlCol="0" anchor="ctr"/>
          <a:lstStyle/>
          <a:p>
            <a:pPr indent="0" marL="0">
              <a:buNone/>
            </a:pPr>
            <a:endParaRPr lang="en-US" dirty="0"/>
          </a:p>
        </p:txBody>
      </p:sp>
      <p:sp>
        <p:nvSpPr>
          <p:cNvPr id="3" name="Text 1"/>
          <p:cNvSpPr/>
          <p:nvPr/>
        </p:nvSpPr>
        <p:spPr>
          <a:xfrm>
            <a:off x="2286000" y="4000500"/>
            <a:ext cx="2000250" cy="2000250"/>
          </a:xfrm>
          <a:prstGeom prst="ellipse">
            <a:avLst/>
          </a:prstGeom>
          <a:solidFill>
            <a:srgbClr val="8363F9">
              <a:alpha val="16000"/>
            </a:srgbClr>
          </a:solidFill>
          <a:ln/>
        </p:spPr>
        <p:txBody>
          <a:bodyPr wrap="square" rtlCol="0" anchor="ctr"/>
          <a:lstStyle/>
          <a:p>
            <a:pPr indent="0" marL="0">
              <a:buNone/>
            </a:pPr>
            <a:endParaRPr lang="en-US" dirty="0"/>
          </a:p>
        </p:txBody>
      </p:sp>
      <p:sp>
        <p:nvSpPr>
          <p:cNvPr id="4" name="Text 2"/>
          <p:cNvSpPr/>
          <p:nvPr/>
        </p:nvSpPr>
        <p:spPr>
          <a:xfrm>
            <a:off x="130270" y="171450"/>
            <a:ext cx="2849670" cy="1697355"/>
          </a:xfrm>
          <a:prstGeom prst="rect">
            <a:avLst/>
          </a:prstGeom>
          <a:noFill/>
          <a:ln/>
        </p:spPr>
        <p:txBody>
          <a:bodyPr wrap="none" lIns="0" tIns="0" rIns="0" bIns="0" rtlCol="0" anchor="t"/>
          <a:lstStyle/>
          <a:p>
            <a:pPr algn="l" indent="0" marL="0">
              <a:lnSpc>
                <a:spcPts val="12375"/>
              </a:lnSpc>
              <a:buNone/>
            </a:pPr>
            <a:r>
              <a:rPr lang="en-US" sz="12375" b="1" spc="-495" kern="0" dirty="0">
                <a:solidFill>
                  <a:srgbClr val="FBBF24">
                    <a:alpha val="7000"/>
                  </a:srgbClr>
                </a:solidFill>
                <a:latin typeface="Liberation Sans Narrow" pitchFamily="34" charset="0"/>
                <a:ea typeface="Liberation Sans Narrow" pitchFamily="34" charset="-122"/>
                <a:cs typeface="Liberation Sans Narrow" pitchFamily="34" charset="-120"/>
              </a:rPr>
              <a:t>04</a:t>
            </a:r>
            <a:endParaRPr lang="en-US" sz="12375" dirty="0"/>
          </a:p>
        </p:txBody>
      </p:sp>
      <p:sp>
        <p:nvSpPr>
          <p:cNvPr id="5" name="Text 3"/>
          <p:cNvSpPr/>
          <p:nvPr/>
        </p:nvSpPr>
        <p:spPr>
          <a:xfrm>
            <a:off x="457200" y="1324264"/>
            <a:ext cx="860487"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6" name="Text 4"/>
          <p:cNvSpPr/>
          <p:nvPr/>
        </p:nvSpPr>
        <p:spPr>
          <a:xfrm>
            <a:off x="657225" y="1377628"/>
            <a:ext cx="696181" cy="119703"/>
          </a:xfrm>
          <a:prstGeom prst="rect">
            <a:avLst/>
          </a:prstGeom>
          <a:noFill/>
          <a:ln/>
        </p:spPr>
        <p:txBody>
          <a:bodyPr wrap="none" lIns="0" tIns="0" rIns="0" bIns="0" rtlCol="0" anchor="t"/>
          <a:lstStyle/>
          <a:p>
            <a:pPr algn="l" indent="0" marL="0">
              <a:lnSpc>
                <a:spcPts val="928"/>
              </a:lnSpc>
              <a:buNone/>
            </a:pPr>
            <a:r>
              <a:rPr lang="en-US" sz="619" b="1" spc="31" kern="0" dirty="0">
                <a:solidFill>
                  <a:srgbClr val="FBBF24"/>
                </a:solidFill>
                <a:latin typeface="Liberation Sans Narrow" pitchFamily="34" charset="0"/>
                <a:ea typeface="Liberation Sans Narrow" pitchFamily="34" charset="-122"/>
                <a:cs typeface="Liberation Sans Narrow" pitchFamily="34" charset="-120"/>
              </a:rPr>
              <a:t>HALLAZGO 04</a:t>
            </a:r>
            <a:endParaRPr lang="en-US" sz="619" dirty="0"/>
          </a:p>
        </p:txBody>
      </p:sp>
      <p:sp>
        <p:nvSpPr>
          <p:cNvPr id="7" name="Text 5"/>
          <p:cNvSpPr/>
          <p:nvPr/>
        </p:nvSpPr>
        <p:spPr>
          <a:xfrm>
            <a:off x="528638" y="1372270"/>
            <a:ext cx="100013" cy="100013"/>
          </a:xfrm>
          <a:prstGeom prst="rect">
            <a:avLst/>
          </a:prstGeom>
          <a:noFill/>
          <a:ln/>
        </p:spPr>
        <p:txBody>
          <a:bodyPr wrap="none" lIns="0" tIns="0" rIns="0" bIns="0" rtlCol="0" anchor="ctr"/>
          <a:lstStyle/>
          <a:p>
            <a:pPr algn="ctr" indent="0" marL="0">
              <a:buNone/>
            </a:pPr>
            <a:r>
              <a:rPr lang="en-US" sz="984" dirty="0">
                <a:solidFill>
                  <a:srgbClr val="FBBF24"/>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1389125" y="1363340"/>
            <a:ext cx="2925700"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7A6BA8"/>
                </a:solidFill>
                <a:latin typeface="Carlito" pitchFamily="34" charset="0"/>
                <a:ea typeface="Carlito" pitchFamily="34" charset="-122"/>
                <a:cs typeface="Carlito" pitchFamily="34" charset="-120"/>
              </a:rPr>
              <a:t>CONFIGURACIÓN</a:t>
            </a:r>
            <a:endParaRPr lang="en-US" sz="800" dirty="0"/>
          </a:p>
        </p:txBody>
      </p:sp>
      <p:sp>
        <p:nvSpPr>
          <p:cNvPr id="9" name="Text 7"/>
          <p:cNvSpPr/>
          <p:nvPr/>
        </p:nvSpPr>
        <p:spPr>
          <a:xfrm>
            <a:off x="457200" y="1624087"/>
            <a:ext cx="4243388" cy="240619"/>
          </a:xfrm>
          <a:prstGeom prst="rect">
            <a:avLst/>
          </a:prstGeom>
          <a:noFill/>
          <a:ln/>
        </p:spPr>
        <p:txBody>
          <a:bodyPr wrap="square" lIns="0" tIns="0" rIns="0" bIns="0" rtlCol="0" anchor="t"/>
          <a:lstStyle/>
          <a:p>
            <a:pPr algn="l" indent="0" marL="0">
              <a:lnSpc>
                <a:spcPts val="1755"/>
              </a:lnSpc>
              <a:buNone/>
            </a:pPr>
            <a:r>
              <a:rPr lang="en-US" sz="1463" b="1" spc="-15" kern="0" dirty="0">
                <a:solidFill>
                  <a:srgbClr val="F0EAFF"/>
                </a:solidFill>
                <a:latin typeface="Carlito" pitchFamily="34" charset="0"/>
                <a:ea typeface="Carlito" pitchFamily="34" charset="-122"/>
                <a:cs typeface="Carlito" pitchFamily="34" charset="-120"/>
              </a:rPr>
              <a:t>Settings minimalista — solo modelo IA</a:t>
            </a:r>
            <a:endParaRPr lang="en-US" sz="1463" dirty="0"/>
          </a:p>
        </p:txBody>
      </p:sp>
      <p:sp>
        <p:nvSpPr>
          <p:cNvPr id="10" name="Text 8"/>
          <p:cNvSpPr/>
          <p:nvPr/>
        </p:nvSpPr>
        <p:spPr>
          <a:xfrm>
            <a:off x="457200" y="1961183"/>
            <a:ext cx="3714750" cy="701965"/>
          </a:xfrm>
          <a:prstGeom prst="rect">
            <a:avLst/>
          </a:prstGeom>
          <a:noFill/>
          <a:ln/>
        </p:spPr>
        <p:txBody>
          <a:bodyPr wrap="square" lIns="0" tIns="0" rIns="0" bIns="0" rtlCol="0" anchor="t"/>
          <a:lstStyle/>
          <a:p>
            <a:pPr algn="l" indent="0" marL="0">
              <a:lnSpc>
                <a:spcPts val="1260"/>
              </a:lnSpc>
              <a:buNone/>
            </a:pPr>
            <a:r>
              <a:rPr lang="en-US" sz="800" dirty="0">
                <a:solidFill>
                  <a:srgbClr val="B8A8E0"/>
                </a:solidFill>
                <a:latin typeface="Carlito" pitchFamily="34" charset="0"/>
                <a:ea typeface="Carlito" pitchFamily="34" charset="-122"/>
                <a:cs typeface="Carlito" pitchFamily="34" charset="-120"/>
              </a:rPr>
              <a:t>La pantalla de Ajustes actual tiene SOLO un selector de modelo de IA y un texto de consejo. No hay: perfil de usuario, gestión de permisos (micrófono, cámara, notificaciones), gestión de datos (exportar/borrar memoria), ni información de cuenta. Parece una pantalla incompleta, no un settings real.</a:t>
            </a:r>
            <a:endParaRPr lang="en-US" sz="800" dirty="0"/>
          </a:p>
        </p:txBody>
      </p:sp>
      <p:sp>
        <p:nvSpPr>
          <p:cNvPr id="11" name="Text 9"/>
          <p:cNvSpPr/>
          <p:nvPr/>
        </p:nvSpPr>
        <p:spPr>
          <a:xfrm>
            <a:off x="457200" y="2743870"/>
            <a:ext cx="3857625" cy="908658"/>
          </a:xfrm>
          <a:prstGeom prst="rect">
            <a:avLst/>
          </a:prstGeom>
          <a:noFill/>
          <a:ln/>
        </p:spPr>
        <p:txBody>
          <a:bodyPr wrap="square" lIns="0" tIns="0" rIns="0" bIns="0" rtlCol="0" anchor="t"/>
          <a:lstStyle/>
          <a:p>
            <a:pPr algn="l" marL="342900" indent="-342900">
              <a:lnSpc>
                <a:spcPts val="1350"/>
              </a:lnSpc>
              <a:spcAft>
                <a:spcPts val="563"/>
              </a:spcAft>
              <a:buSzPct val="100000"/>
              <a:buChar char="•"/>
            </a:pPr>
            <a:r>
              <a:rPr lang="en-US" sz="900" dirty="0">
                <a:solidFill>
                  <a:srgbClr val="F0EAFF"/>
                </a:solidFill>
                <a:latin typeface="Carlito" pitchFamily="34" charset="0"/>
                <a:ea typeface="Carlito" pitchFamily="34" charset="-122"/>
                <a:cs typeface="Carlito" pitchFamily="34" charset="-120"/>
              </a:rPr>
              <a:t>✕ Solo: selector de modelo + consejo estático</a:t>
            </a:r>
            <a:endParaRPr lang="en-US" sz="900" dirty="0"/>
          </a:p>
          <a:p>
            <a:pPr algn="l" marL="342900" indent="-342900">
              <a:lnSpc>
                <a:spcPts val="1350"/>
              </a:lnSpc>
              <a:spcAft>
                <a:spcPts val="563"/>
              </a:spcAft>
              <a:buSzPct val="100000"/>
              <a:buChar char="•"/>
            </a:pPr>
            <a:r>
              <a:rPr lang="en-US" sz="900" dirty="0">
                <a:solidFill>
                  <a:srgbClr val="F0EAFF"/>
                </a:solidFill>
                <a:latin typeface="Carlito" pitchFamily="34" charset="0"/>
                <a:ea typeface="Carlito" pitchFamily="34" charset="-122"/>
                <a:cs typeface="Carlito" pitchFamily="34" charset="-120"/>
              </a:rPr>
              <a:t>✕ No hay perfil (editar nombre, foto)</a:t>
            </a:r>
            <a:endParaRPr lang="en-US" sz="900" dirty="0"/>
          </a:p>
          <a:p>
            <a:pPr algn="l" marL="342900" indent="-342900">
              <a:lnSpc>
                <a:spcPts val="1350"/>
              </a:lnSpc>
              <a:spcAft>
                <a:spcPts val="563"/>
              </a:spcAft>
              <a:buSzPct val="100000"/>
              <a:buChar char="•"/>
            </a:pPr>
            <a:r>
              <a:rPr lang="en-US" sz="900" dirty="0">
                <a:solidFill>
                  <a:srgbClr val="F0EAFF"/>
                </a:solidFill>
                <a:latin typeface="Carlito" pitchFamily="34" charset="0"/>
                <a:ea typeface="Carlito" pitchFamily="34" charset="-122"/>
                <a:cs typeface="Carlito" pitchFamily="34" charset="-120"/>
              </a:rPr>
              <a:t>✕ No hay gestión de permisos del dispositivo</a:t>
            </a:r>
            <a:endParaRPr lang="en-US" sz="900" dirty="0"/>
          </a:p>
          <a:p>
            <a:pPr algn="l" marL="342900" indent="-342900">
              <a:lnSpc>
                <a:spcPts val="1350"/>
              </a:lnSpc>
              <a:spcAft>
                <a:spcPts val="563"/>
              </a:spcAft>
              <a:buSzPct val="100000"/>
              <a:buChar char="•"/>
            </a:pPr>
            <a:r>
              <a:rPr lang="en-US" sz="900" dirty="0">
                <a:solidFill>
                  <a:srgbClr val="F0EAFF"/>
                </a:solidFill>
                <a:latin typeface="Carlito" pitchFamily="34" charset="0"/>
                <a:ea typeface="Carlito" pitchFamily="34" charset="-122"/>
                <a:cs typeface="Carlito" pitchFamily="34" charset="-120"/>
              </a:rPr>
              <a:t>✕ No hay privacidad (exportar/borrar datos)</a:t>
            </a:r>
            <a:endParaRPr lang="en-US" sz="900" dirty="0"/>
          </a:p>
        </p:txBody>
      </p:sp>
      <p:sp>
        <p:nvSpPr>
          <p:cNvPr id="12" name="Text 10"/>
          <p:cNvSpPr/>
          <p:nvPr/>
        </p:nvSpPr>
        <p:spPr>
          <a:xfrm>
            <a:off x="457200" y="3699793"/>
            <a:ext cx="100013" cy="100013"/>
          </a:xfrm>
          <a:prstGeom prst="rect">
            <a:avLst/>
          </a:prstGeom>
          <a:noFill/>
          <a:ln/>
        </p:spPr>
        <p:txBody>
          <a:bodyPr wrap="none" lIns="0" tIns="0" rIns="0" bIns="0" rtlCol="0" anchor="ctr"/>
          <a:lstStyle/>
          <a:p>
            <a:pPr algn="ctr" indent="0" marL="0">
              <a:buNone/>
            </a:pPr>
            <a:r>
              <a:rPr lang="en-US" sz="984" dirty="0">
                <a:solidFill>
                  <a:srgbClr val="6EE7B7"/>
                </a:solidFill>
                <a:latin typeface="Segoe UI Symbol" pitchFamily="34" charset="0"/>
                <a:ea typeface="Segoe UI Symbol" pitchFamily="34" charset="-122"/>
                <a:cs typeface="Segoe UI Symbol" pitchFamily="34" charset="-120"/>
              </a:rPr>
              <a:t>→</a:t>
            </a:r>
            <a:endParaRPr lang="en-US" sz="984" dirty="0"/>
          </a:p>
        </p:txBody>
      </p:sp>
      <p:sp>
        <p:nvSpPr>
          <p:cNvPr id="13" name="Text 11"/>
          <p:cNvSpPr/>
          <p:nvPr/>
        </p:nvSpPr>
        <p:spPr>
          <a:xfrm>
            <a:off x="614363" y="3690863"/>
            <a:ext cx="3700463" cy="164592"/>
          </a:xfrm>
          <a:prstGeom prst="rect">
            <a:avLst/>
          </a:prstGeom>
          <a:noFill/>
          <a:ln/>
        </p:spPr>
        <p:txBody>
          <a:bodyPr wrap="square" lIns="0" tIns="0" rIns="0" bIns="0" rtlCol="0" anchor="t"/>
          <a:lstStyle/>
          <a:p>
            <a:pPr algn="l" indent="0" marL="0">
              <a:lnSpc>
                <a:spcPts val="928"/>
              </a:lnSpc>
              <a:buNone/>
            </a:pPr>
            <a:r>
              <a:rPr lang="en-US" sz="800" dirty="0">
                <a:solidFill>
                  <a:srgbClr val="7A6BA8"/>
                </a:solidFill>
                <a:latin typeface="Carlito" pitchFamily="34" charset="0"/>
                <a:ea typeface="Carlito" pitchFamily="34" charset="-122"/>
                <a:cs typeface="Carlito" pitchFamily="34" charset="-120"/>
              </a:rPr>
              <a:t>Propuesta en la próxima slide: settings con 5 secciones nuevas</a:t>
            </a:r>
            <a:endParaRPr lang="en-US" sz="800" dirty="0"/>
          </a:p>
        </p:txBody>
      </p:sp>
      <p:sp>
        <p:nvSpPr>
          <p:cNvPr id="14" name="Text 12"/>
          <p:cNvSpPr/>
          <p:nvPr/>
        </p:nvSpPr>
        <p:spPr>
          <a:xfrm>
            <a:off x="5757863" y="533995"/>
            <a:ext cx="2000250" cy="3857625"/>
          </a:xfrm>
          <a:prstGeom prst="roundRect">
            <a:avLst>
              <a:gd name="adj" fmla="val 15238"/>
            </a:avLst>
          </a:prstGeom>
          <a:solidFill>
            <a:srgbClr val="453F6A"/>
          </a:solidFill>
          <a:ln/>
          <a:effectLst>
            <a:outerShdw sx="100000" sy="100000" kx="0" ky="0" algn="bl" rotWithShape="0" blurRad="571500" dist="190500" dir="5400000">
              <a:srgbClr val="000000">
                <a:alpha val="50000"/>
              </a:srgbClr>
            </a:outerShdw>
          </a:effectLst>
        </p:spPr>
        <p:txBody>
          <a:bodyPr wrap="square" rtlCol="0" anchor="ctr"/>
          <a:lstStyle/>
          <a:p>
            <a:pPr indent="0" marL="0">
              <a:buNone/>
            </a:pPr>
            <a:endParaRPr lang="en-US" dirty="0"/>
          </a:p>
        </p:txBody>
      </p:sp>
      <p:pic>
        <p:nvPicPr>
          <p:cNvPr id="15" name="Image 0" descr="/tmp/h2p-fit-1783825573000-59bdej.png">    </p:cNvPr>
          <p:cNvPicPr>
            <a:picLocks noChangeAspect="1"/>
          </p:cNvPicPr>
          <p:nvPr/>
        </p:nvPicPr>
        <p:blipFill>
          <a:blip r:embed="rId1"/>
          <a:stretch>
            <a:fillRect/>
          </a:stretch>
        </p:blipFill>
        <p:spPr>
          <a:xfrm>
            <a:off x="5757863" y="533995"/>
            <a:ext cx="2000250" cy="3857625"/>
          </a:xfrm>
          <a:prstGeom prst="rect">
            <a:avLst/>
          </a:prstGeom>
        </p:spPr>
      </p:pic>
      <p:sp>
        <p:nvSpPr>
          <p:cNvPr id="16" name="Text 13"/>
          <p:cNvSpPr/>
          <p:nvPr/>
        </p:nvSpPr>
        <p:spPr>
          <a:xfrm>
            <a:off x="5986588" y="4491633"/>
            <a:ext cx="1542688" cy="164592"/>
          </a:xfrm>
          <a:prstGeom prst="rect">
            <a:avLst/>
          </a:prstGeom>
          <a:noFill/>
          <a:ln/>
        </p:spPr>
        <p:txBody>
          <a:bodyPr wrap="square" lIns="0" tIns="0" rIns="0" bIns="0" rtlCol="0" anchor="t"/>
          <a:lstStyle/>
          <a:p>
            <a:pPr algn="ctr" indent="0" marL="0">
              <a:lnSpc>
                <a:spcPts val="928"/>
              </a:lnSpc>
              <a:buNone/>
            </a:pPr>
            <a:r>
              <a:rPr lang="en-US" sz="619" dirty="0">
                <a:solidFill>
                  <a:srgbClr val="7A6BA8"/>
                </a:solidFill>
                <a:latin typeface="Carlito" pitchFamily="34" charset="0"/>
                <a:ea typeface="Carlito" pitchFamily="34" charset="-122"/>
                <a:cs typeface="Carlito" pitchFamily="34" charset="-120"/>
              </a:rPr>
              <a:t>Estado actual: solo modelo IA, nada más</a:t>
            </a:r>
            <a:endParaRPr lang="en-US" sz="619"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6429375" y="-1571625"/>
            <a:ext cx="3714750" cy="3714750"/>
          </a:xfrm>
          <a:prstGeom prst="ellipse">
            <a:avLst/>
          </a:prstGeom>
          <a:solidFill>
            <a:srgbClr val="8363F9">
              <a:alpha val="18000"/>
            </a:srgbClr>
          </a:solidFill>
          <a:ln/>
        </p:spPr>
        <p:txBody>
          <a:bodyPr wrap="square" rtlCol="0" anchor="ctr"/>
          <a:lstStyle/>
          <a:p>
            <a:pPr indent="0" marL="0">
              <a:buNone/>
            </a:pPr>
            <a:endParaRPr lang="en-US" dirty="0"/>
          </a:p>
        </p:txBody>
      </p:sp>
      <p:sp>
        <p:nvSpPr>
          <p:cNvPr id="3" name="Text 1"/>
          <p:cNvSpPr/>
          <p:nvPr/>
        </p:nvSpPr>
        <p:spPr>
          <a:xfrm>
            <a:off x="-714375" y="3857625"/>
            <a:ext cx="2571750" cy="2571750"/>
          </a:xfrm>
          <a:prstGeom prst="ellipse">
            <a:avLst/>
          </a:prstGeom>
          <a:solidFill>
            <a:srgbClr val="6EE7B7">
              <a:alpha val="8000"/>
            </a:srgbClr>
          </a:solidFill>
          <a:ln/>
        </p:spPr>
        <p:txBody>
          <a:bodyPr wrap="square" rtlCol="0" anchor="ctr"/>
          <a:lstStyle/>
          <a:p>
            <a:pPr indent="0" marL="0">
              <a:buNone/>
            </a:pPr>
            <a:endParaRPr lang="en-US" dirty="0"/>
          </a:p>
        </p:txBody>
      </p:sp>
      <p:sp>
        <p:nvSpPr>
          <p:cNvPr id="4" name="Text 2"/>
          <p:cNvSpPr/>
          <p:nvPr/>
        </p:nvSpPr>
        <p:spPr>
          <a:xfrm>
            <a:off x="457200" y="342900"/>
            <a:ext cx="8229600" cy="259184"/>
          </a:xfrm>
          <a:prstGeom prst="rect">
            <a:avLst/>
          </a:prstGeom>
          <a:noFill/>
          <a:ln/>
        </p:spPr>
        <p:txBody>
          <a:bodyPr wrap="none" lIns="0" tIns="0" rIns="0" bIns="0" rtlCol="0" anchor="t"/>
          <a:lstStyle/>
          <a:p>
            <a:pPr algn="l" indent="0" marL="0">
              <a:lnSpc>
                <a:spcPts val="1890"/>
              </a:lnSpc>
              <a:buNone/>
            </a:pPr>
            <a:r>
              <a:rPr lang="en-US" sz="1575" b="1" spc="-39" kern="0" dirty="0">
                <a:solidFill>
                  <a:srgbClr val="F0EAFF"/>
                </a:solidFill>
                <a:latin typeface="Carlito" pitchFamily="34" charset="0"/>
                <a:ea typeface="Carlito" pitchFamily="34" charset="-122"/>
                <a:cs typeface="Carlito" pitchFamily="34" charset="-120"/>
              </a:rPr>
              <a:t>Propuesta: Settings completo con 5 secciones</a:t>
            </a:r>
            <a:endParaRPr lang="en-US" sz="1575" dirty="0"/>
          </a:p>
        </p:txBody>
      </p:sp>
      <p:sp>
        <p:nvSpPr>
          <p:cNvPr id="5" name="Text 3"/>
          <p:cNvSpPr/>
          <p:nvPr/>
        </p:nvSpPr>
        <p:spPr>
          <a:xfrm>
            <a:off x="457200" y="640035"/>
            <a:ext cx="8636000" cy="164592"/>
          </a:xfrm>
          <a:prstGeom prst="rect">
            <a:avLst/>
          </a:prstGeom>
          <a:noFill/>
          <a:ln/>
        </p:spPr>
        <p:txBody>
          <a:bodyPr wrap="square" lIns="0" tIns="0" rIns="0" bIns="0" rtlCol="0" anchor="t"/>
          <a:lstStyle/>
          <a:p>
            <a:pPr algn="l" indent="0" marL="0">
              <a:lnSpc>
                <a:spcPts val="1181"/>
              </a:lnSpc>
              <a:buNone/>
            </a:pPr>
            <a:r>
              <a:rPr lang="en-US" sz="800" dirty="0">
                <a:solidFill>
                  <a:srgbClr val="B8A8E0"/>
                </a:solidFill>
                <a:latin typeface="Carlito" pitchFamily="34" charset="0"/>
                <a:ea typeface="Carlito" pitchFamily="34" charset="-122"/>
                <a:cs typeface="Carlito" pitchFamily="34" charset="-120"/>
              </a:rPr>
              <a:t>Todo lo que un usuario espera poder configurar</a:t>
            </a:r>
            <a:endParaRPr lang="en-US" sz="800" dirty="0"/>
          </a:p>
        </p:txBody>
      </p:sp>
      <p:sp>
        <p:nvSpPr>
          <p:cNvPr id="6" name="Text 4"/>
          <p:cNvSpPr/>
          <p:nvPr/>
        </p:nvSpPr>
        <p:spPr>
          <a:xfrm>
            <a:off x="460772" y="965076"/>
            <a:ext cx="2659819" cy="1650206"/>
          </a:xfrm>
          <a:prstGeom prst="roundRect">
            <a:avLst>
              <a:gd name="adj" fmla="val 9235"/>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7" name="Text 5"/>
          <p:cNvSpPr/>
          <p:nvPr/>
        </p:nvSpPr>
        <p:spPr>
          <a:xfrm>
            <a:off x="621506" y="1125810"/>
            <a:ext cx="314325" cy="314325"/>
          </a:xfrm>
          <a:prstGeom prst="roundRect">
            <a:avLst>
              <a:gd name="adj" fmla="val 36364"/>
            </a:avLst>
          </a:prstGeom>
          <a:solidFill>
            <a:srgbClr val="8363F9">
              <a:alpha val="18000"/>
            </a:srgbClr>
          </a:solidFill>
          <a:ln/>
        </p:spPr>
        <p:txBody>
          <a:bodyPr wrap="square" rtlCol="0" anchor="ctr"/>
          <a:lstStyle/>
          <a:p>
            <a:pPr indent="0" marL="0">
              <a:buNone/>
            </a:pPr>
            <a:endParaRPr lang="en-US" dirty="0"/>
          </a:p>
        </p:txBody>
      </p:sp>
      <p:sp>
        <p:nvSpPr>
          <p:cNvPr id="8" name="Text 6"/>
          <p:cNvSpPr/>
          <p:nvPr/>
        </p:nvSpPr>
        <p:spPr>
          <a:xfrm>
            <a:off x="633651" y="1137955"/>
            <a:ext cx="290036" cy="290036"/>
          </a:xfrm>
          <a:prstGeom prst="rect">
            <a:avLst/>
          </a:prstGeom>
          <a:noFill/>
          <a:ln/>
        </p:spPr>
        <p:txBody>
          <a:bodyPr wrap="none" lIns="0" tIns="0" rIns="0" bIns="0" rtlCol="0" anchor="ctr"/>
          <a:lstStyle/>
          <a:p>
            <a:pPr algn="ctr" indent="0" marL="0">
              <a:buNone/>
            </a:pPr>
            <a:r>
              <a:rPr lang="en-US" sz="1969" dirty="0">
                <a:solidFill>
                  <a:srgbClr val="8363F9"/>
                </a:solidFill>
                <a:latin typeface="Segoe UI Symbol" pitchFamily="34" charset="0"/>
                <a:ea typeface="Segoe UI Symbol" pitchFamily="34" charset="-122"/>
                <a:cs typeface="Segoe UI Symbol" pitchFamily="34" charset="-120"/>
              </a:rPr>
              <a:t>☻</a:t>
            </a:r>
            <a:endParaRPr lang="en-US" sz="1969" dirty="0"/>
          </a:p>
        </p:txBody>
      </p:sp>
      <p:sp>
        <p:nvSpPr>
          <p:cNvPr id="9" name="Text 7"/>
          <p:cNvSpPr/>
          <p:nvPr/>
        </p:nvSpPr>
        <p:spPr>
          <a:xfrm>
            <a:off x="2495977" y="1115309"/>
            <a:ext cx="481721" cy="196025"/>
          </a:xfrm>
          <a:prstGeom prst="roundRect">
            <a:avLst>
              <a:gd name="adj" fmla="val 4854215"/>
            </a:avLst>
          </a:prstGeom>
          <a:solidFill>
            <a:srgbClr val="6EE7B7">
              <a:alpha val="15000"/>
            </a:srgbClr>
          </a:solidFill>
          <a:ln/>
        </p:spPr>
        <p:txBody>
          <a:bodyPr wrap="square" rtlCol="0" anchor="ctr"/>
          <a:lstStyle/>
          <a:p>
            <a:pPr indent="0" marL="0">
              <a:buNone/>
            </a:pPr>
            <a:endParaRPr lang="en-US" dirty="0"/>
          </a:p>
        </p:txBody>
      </p:sp>
      <p:sp>
        <p:nvSpPr>
          <p:cNvPr id="10" name="Text 8"/>
          <p:cNvSpPr/>
          <p:nvPr/>
        </p:nvSpPr>
        <p:spPr>
          <a:xfrm>
            <a:off x="2496066" y="1125810"/>
            <a:ext cx="481543"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6EE7B7"/>
                </a:solidFill>
                <a:latin typeface="Carlito" pitchFamily="34" charset="0"/>
                <a:ea typeface="Carlito" pitchFamily="34" charset="-122"/>
                <a:cs typeface="Carlito" pitchFamily="34" charset="-120"/>
              </a:rPr>
              <a:t>EXISTE</a:t>
            </a:r>
            <a:endParaRPr lang="en-US" sz="800" dirty="0"/>
          </a:p>
        </p:txBody>
      </p:sp>
      <p:sp>
        <p:nvSpPr>
          <p:cNvPr id="11" name="Text 9"/>
          <p:cNvSpPr/>
          <p:nvPr/>
        </p:nvSpPr>
        <p:spPr>
          <a:xfrm>
            <a:off x="621506" y="1540148"/>
            <a:ext cx="2338350" cy="185166"/>
          </a:xfrm>
          <a:prstGeom prst="rect">
            <a:avLst/>
          </a:prstGeom>
          <a:noFill/>
          <a:ln/>
        </p:spPr>
        <p:txBody>
          <a:bodyPr wrap="none" lIns="0" tIns="0" rIns="0" bIns="0" rtlCol="0" anchor="t"/>
          <a:lstStyle/>
          <a:p>
            <a:pPr algn="l" indent="0" marL="0">
              <a:lnSpc>
                <a:spcPts val="1350"/>
              </a:lnSpc>
              <a:buNone/>
            </a:pPr>
            <a:r>
              <a:rPr lang="en-US" sz="900" b="1" dirty="0">
                <a:solidFill>
                  <a:srgbClr val="F0EAFF"/>
                </a:solidFill>
                <a:latin typeface="Carlito" pitchFamily="34" charset="0"/>
                <a:ea typeface="Carlito" pitchFamily="34" charset="-122"/>
                <a:cs typeface="Carlito" pitchFamily="34" charset="-120"/>
              </a:rPr>
              <a:t>Perfil</a:t>
            </a:r>
            <a:endParaRPr lang="en-US" sz="900" dirty="0"/>
          </a:p>
        </p:txBody>
      </p:sp>
      <p:sp>
        <p:nvSpPr>
          <p:cNvPr id="12" name="Text 10"/>
          <p:cNvSpPr/>
          <p:nvPr/>
        </p:nvSpPr>
        <p:spPr>
          <a:xfrm>
            <a:off x="621506" y="1768748"/>
            <a:ext cx="2338350" cy="463216"/>
          </a:xfrm>
          <a:prstGeom prst="rect">
            <a:avLst/>
          </a:prstGeom>
          <a:noFill/>
          <a:ln/>
        </p:spPr>
        <p:txBody>
          <a:bodyPr wrap="square" lIns="0" tIns="0" rIns="0" bIns="0" rtlCol="0" anchor="t"/>
          <a:lstStyle/>
          <a:p>
            <a:pPr algn="l" indent="0" marL="0">
              <a:lnSpc>
                <a:spcPts val="1148"/>
              </a:lnSpc>
              <a:buNone/>
            </a:pPr>
            <a:r>
              <a:rPr lang="en-US" sz="600" dirty="0">
                <a:solidFill>
                  <a:srgbClr val="C9B8FF"/>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Nombre</a:t>
            </a:r>
            <a:endParaRPr lang="en-US" sz="800" dirty="0"/>
          </a:p>
          <a:p>
            <a:pPr algn="l" indent="0" marL="0">
              <a:lnSpc>
                <a:spcPts val="1148"/>
              </a:lnSpc>
              <a:buNone/>
            </a:pPr>
            <a:r>
              <a:rPr lang="en-US" sz="600" dirty="0">
                <a:solidFill>
                  <a:srgbClr val="C9B8FF"/>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Avatar</a:t>
            </a:r>
            <a:endParaRPr lang="en-US" sz="800" dirty="0"/>
          </a:p>
          <a:p>
            <a:pPr algn="l" indent="0" marL="0">
              <a:lnSpc>
                <a:spcPts val="1148"/>
              </a:lnSpc>
              <a:buNone/>
            </a:pPr>
            <a:r>
              <a:rPr lang="en-US" sz="600" dirty="0">
                <a:solidFill>
                  <a:srgbClr val="C9B8FF"/>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Cómo te hablo (cálido/directo)</a:t>
            </a:r>
            <a:endParaRPr lang="en-US" sz="800" dirty="0"/>
          </a:p>
        </p:txBody>
      </p:sp>
      <p:sp>
        <p:nvSpPr>
          <p:cNvPr id="13" name="Text 11"/>
          <p:cNvSpPr/>
          <p:nvPr/>
        </p:nvSpPr>
        <p:spPr>
          <a:xfrm>
            <a:off x="3242035" y="965076"/>
            <a:ext cx="2659819" cy="1650206"/>
          </a:xfrm>
          <a:prstGeom prst="roundRect">
            <a:avLst>
              <a:gd name="adj" fmla="val 9235"/>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14" name="Text 12"/>
          <p:cNvSpPr/>
          <p:nvPr/>
        </p:nvSpPr>
        <p:spPr>
          <a:xfrm>
            <a:off x="3402769" y="1125810"/>
            <a:ext cx="314325" cy="314325"/>
          </a:xfrm>
          <a:prstGeom prst="roundRect">
            <a:avLst>
              <a:gd name="adj" fmla="val 36364"/>
            </a:avLst>
          </a:prstGeom>
          <a:solidFill>
            <a:srgbClr val="8363F9">
              <a:alpha val="18000"/>
            </a:srgbClr>
          </a:solidFill>
          <a:ln/>
        </p:spPr>
        <p:txBody>
          <a:bodyPr wrap="square" rtlCol="0" anchor="ctr"/>
          <a:lstStyle/>
          <a:p>
            <a:pPr indent="0" marL="0">
              <a:buNone/>
            </a:pPr>
            <a:endParaRPr lang="en-US" dirty="0"/>
          </a:p>
        </p:txBody>
      </p:sp>
      <p:sp>
        <p:nvSpPr>
          <p:cNvPr id="15" name="Text 13"/>
          <p:cNvSpPr/>
          <p:nvPr/>
        </p:nvSpPr>
        <p:spPr>
          <a:xfrm>
            <a:off x="3414913" y="1137955"/>
            <a:ext cx="290036" cy="290036"/>
          </a:xfrm>
          <a:prstGeom prst="rect">
            <a:avLst/>
          </a:prstGeom>
          <a:noFill/>
          <a:ln/>
        </p:spPr>
        <p:txBody>
          <a:bodyPr wrap="none" lIns="0" tIns="0" rIns="0" bIns="0" rtlCol="0" anchor="ctr"/>
          <a:lstStyle/>
          <a:p>
            <a:pPr algn="ctr" indent="0" marL="0">
              <a:buNone/>
            </a:pPr>
            <a:r>
              <a:rPr lang="en-US" sz="1969" dirty="0">
                <a:solidFill>
                  <a:srgbClr val="8363F9"/>
                </a:solidFill>
                <a:latin typeface="Segoe UI Symbol" pitchFamily="34" charset="0"/>
                <a:ea typeface="Segoe UI Symbol" pitchFamily="34" charset="-122"/>
                <a:cs typeface="Segoe UI Symbol" pitchFamily="34" charset="-120"/>
              </a:rPr>
              <a:t>▦</a:t>
            </a:r>
            <a:endParaRPr lang="en-US" sz="1969" dirty="0"/>
          </a:p>
        </p:txBody>
      </p:sp>
      <p:sp>
        <p:nvSpPr>
          <p:cNvPr id="16" name="Text 14"/>
          <p:cNvSpPr/>
          <p:nvPr/>
        </p:nvSpPr>
        <p:spPr>
          <a:xfrm>
            <a:off x="5277240" y="1115309"/>
            <a:ext cx="481721" cy="196025"/>
          </a:xfrm>
          <a:prstGeom prst="roundRect">
            <a:avLst>
              <a:gd name="adj" fmla="val 4854215"/>
            </a:avLst>
          </a:prstGeom>
          <a:solidFill>
            <a:srgbClr val="6EE7B7">
              <a:alpha val="15000"/>
            </a:srgbClr>
          </a:solidFill>
          <a:ln/>
        </p:spPr>
        <p:txBody>
          <a:bodyPr wrap="square" rtlCol="0" anchor="ctr"/>
          <a:lstStyle/>
          <a:p>
            <a:pPr indent="0" marL="0">
              <a:buNone/>
            </a:pPr>
            <a:endParaRPr lang="en-US" dirty="0"/>
          </a:p>
        </p:txBody>
      </p:sp>
      <p:sp>
        <p:nvSpPr>
          <p:cNvPr id="17" name="Text 15"/>
          <p:cNvSpPr/>
          <p:nvPr/>
        </p:nvSpPr>
        <p:spPr>
          <a:xfrm>
            <a:off x="5277329" y="1125810"/>
            <a:ext cx="481543"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6EE7B7"/>
                </a:solidFill>
                <a:latin typeface="Carlito" pitchFamily="34" charset="0"/>
                <a:ea typeface="Carlito" pitchFamily="34" charset="-122"/>
                <a:cs typeface="Carlito" pitchFamily="34" charset="-120"/>
              </a:rPr>
              <a:t>EXISTE</a:t>
            </a:r>
            <a:endParaRPr lang="en-US" sz="800" dirty="0"/>
          </a:p>
        </p:txBody>
      </p:sp>
      <p:sp>
        <p:nvSpPr>
          <p:cNvPr id="18" name="Text 16"/>
          <p:cNvSpPr/>
          <p:nvPr/>
        </p:nvSpPr>
        <p:spPr>
          <a:xfrm>
            <a:off x="3402769" y="1540148"/>
            <a:ext cx="2338350" cy="185166"/>
          </a:xfrm>
          <a:prstGeom prst="rect">
            <a:avLst/>
          </a:prstGeom>
          <a:noFill/>
          <a:ln/>
        </p:spPr>
        <p:txBody>
          <a:bodyPr wrap="none" lIns="0" tIns="0" rIns="0" bIns="0" rtlCol="0" anchor="t"/>
          <a:lstStyle/>
          <a:p>
            <a:pPr algn="l" indent="0" marL="0">
              <a:lnSpc>
                <a:spcPts val="1350"/>
              </a:lnSpc>
              <a:buNone/>
            </a:pPr>
            <a:r>
              <a:rPr lang="en-US" sz="900" b="1" dirty="0">
                <a:solidFill>
                  <a:srgbClr val="F0EAFF"/>
                </a:solidFill>
                <a:latin typeface="Carlito" pitchFamily="34" charset="0"/>
                <a:ea typeface="Carlito" pitchFamily="34" charset="-122"/>
                <a:cs typeface="Carlito" pitchFamily="34" charset="-120"/>
              </a:rPr>
              <a:t>Modelo de IA</a:t>
            </a:r>
            <a:endParaRPr lang="en-US" sz="900" dirty="0"/>
          </a:p>
        </p:txBody>
      </p:sp>
      <p:sp>
        <p:nvSpPr>
          <p:cNvPr id="19" name="Text 17"/>
          <p:cNvSpPr/>
          <p:nvPr/>
        </p:nvSpPr>
        <p:spPr>
          <a:xfrm>
            <a:off x="3402769" y="1768748"/>
            <a:ext cx="2338350" cy="308811"/>
          </a:xfrm>
          <a:prstGeom prst="rect">
            <a:avLst/>
          </a:prstGeom>
          <a:noFill/>
          <a:ln/>
        </p:spPr>
        <p:txBody>
          <a:bodyPr wrap="square" lIns="0" tIns="0" rIns="0" bIns="0" rtlCol="0" anchor="t"/>
          <a:lstStyle/>
          <a:p>
            <a:pPr algn="l" indent="0" marL="0">
              <a:lnSpc>
                <a:spcPts val="1148"/>
              </a:lnSpc>
              <a:buNone/>
            </a:pPr>
            <a:r>
              <a:rPr lang="en-US" sz="600" dirty="0">
                <a:solidFill>
                  <a:srgbClr val="C9B8FF"/>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Automático / NVIDIA Ultra / Flash</a:t>
            </a:r>
            <a:endParaRPr lang="en-US" sz="800" dirty="0"/>
          </a:p>
          <a:p>
            <a:pPr algn="l" indent="0" marL="0">
              <a:lnSpc>
                <a:spcPts val="1148"/>
              </a:lnSpc>
              <a:buNone/>
            </a:pPr>
            <a:r>
              <a:rPr lang="en-US" sz="600" dirty="0">
                <a:solidFill>
                  <a:srgbClr val="C9B8FF"/>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Ver latencia</a:t>
            </a:r>
            <a:endParaRPr lang="en-US" sz="800" dirty="0"/>
          </a:p>
        </p:txBody>
      </p:sp>
      <p:sp>
        <p:nvSpPr>
          <p:cNvPr id="20" name="Text 18"/>
          <p:cNvSpPr/>
          <p:nvPr/>
        </p:nvSpPr>
        <p:spPr>
          <a:xfrm>
            <a:off x="6023297" y="965076"/>
            <a:ext cx="2659931" cy="1650206"/>
          </a:xfrm>
          <a:prstGeom prst="roundRect">
            <a:avLst>
              <a:gd name="adj" fmla="val 9235"/>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1" name="Text 19"/>
          <p:cNvSpPr/>
          <p:nvPr/>
        </p:nvSpPr>
        <p:spPr>
          <a:xfrm>
            <a:off x="6184032" y="1125810"/>
            <a:ext cx="314325" cy="314325"/>
          </a:xfrm>
          <a:prstGeom prst="roundRect">
            <a:avLst>
              <a:gd name="adj" fmla="val 36364"/>
            </a:avLst>
          </a:prstGeom>
          <a:solidFill>
            <a:srgbClr val="8363F9">
              <a:alpha val="18000"/>
            </a:srgbClr>
          </a:solidFill>
          <a:ln/>
        </p:spPr>
        <p:txBody>
          <a:bodyPr wrap="square" rtlCol="0" anchor="ctr"/>
          <a:lstStyle/>
          <a:p>
            <a:pPr indent="0" marL="0">
              <a:buNone/>
            </a:pPr>
            <a:endParaRPr lang="en-US" dirty="0"/>
          </a:p>
        </p:txBody>
      </p:sp>
      <p:sp>
        <p:nvSpPr>
          <p:cNvPr id="22" name="Text 20"/>
          <p:cNvSpPr/>
          <p:nvPr/>
        </p:nvSpPr>
        <p:spPr>
          <a:xfrm>
            <a:off x="6196176" y="1137955"/>
            <a:ext cx="290036" cy="290036"/>
          </a:xfrm>
          <a:prstGeom prst="rect">
            <a:avLst/>
          </a:prstGeom>
          <a:noFill/>
          <a:ln/>
        </p:spPr>
        <p:txBody>
          <a:bodyPr wrap="none" lIns="0" tIns="0" rIns="0" bIns="0" rtlCol="0" anchor="ctr"/>
          <a:lstStyle/>
          <a:p>
            <a:pPr algn="ctr" indent="0" marL="0">
              <a:buNone/>
            </a:pPr>
            <a:r>
              <a:rPr lang="en-US" sz="1969" dirty="0">
                <a:solidFill>
                  <a:srgbClr val="8363F9"/>
                </a:solidFill>
                <a:latin typeface="Segoe UI Symbol" pitchFamily="34" charset="0"/>
                <a:ea typeface="Segoe UI Symbol" pitchFamily="34" charset="-122"/>
                <a:cs typeface="Segoe UI Symbol" pitchFamily="34" charset="-120"/>
              </a:rPr>
              <a:t>◖</a:t>
            </a:r>
            <a:endParaRPr lang="en-US" sz="1969" dirty="0"/>
          </a:p>
        </p:txBody>
      </p:sp>
      <p:sp>
        <p:nvSpPr>
          <p:cNvPr id="23" name="Text 21"/>
          <p:cNvSpPr/>
          <p:nvPr/>
        </p:nvSpPr>
        <p:spPr>
          <a:xfrm>
            <a:off x="8062793" y="1115309"/>
            <a:ext cx="477381"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24" name="Text 22"/>
          <p:cNvSpPr/>
          <p:nvPr/>
        </p:nvSpPr>
        <p:spPr>
          <a:xfrm>
            <a:off x="8080474" y="1125810"/>
            <a:ext cx="442020"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NUEVO</a:t>
            </a:r>
            <a:endParaRPr lang="en-US" sz="800" dirty="0"/>
          </a:p>
        </p:txBody>
      </p:sp>
      <p:sp>
        <p:nvSpPr>
          <p:cNvPr id="25" name="Text 23"/>
          <p:cNvSpPr/>
          <p:nvPr/>
        </p:nvSpPr>
        <p:spPr>
          <a:xfrm>
            <a:off x="6184032" y="1540148"/>
            <a:ext cx="2338462" cy="185166"/>
          </a:xfrm>
          <a:prstGeom prst="rect">
            <a:avLst/>
          </a:prstGeom>
          <a:noFill/>
          <a:ln/>
        </p:spPr>
        <p:txBody>
          <a:bodyPr wrap="none" lIns="0" tIns="0" rIns="0" bIns="0" rtlCol="0" anchor="t"/>
          <a:lstStyle/>
          <a:p>
            <a:pPr algn="l" indent="0" marL="0">
              <a:lnSpc>
                <a:spcPts val="1350"/>
              </a:lnSpc>
              <a:buNone/>
            </a:pPr>
            <a:r>
              <a:rPr lang="en-US" sz="900" b="1" dirty="0">
                <a:solidFill>
                  <a:srgbClr val="F0EAFF"/>
                </a:solidFill>
                <a:latin typeface="Carlito" pitchFamily="34" charset="0"/>
                <a:ea typeface="Carlito" pitchFamily="34" charset="-122"/>
                <a:cs typeface="Carlito" pitchFamily="34" charset="-120"/>
              </a:rPr>
              <a:t>Permisos</a:t>
            </a:r>
            <a:endParaRPr lang="en-US" sz="900" dirty="0"/>
          </a:p>
        </p:txBody>
      </p:sp>
      <p:sp>
        <p:nvSpPr>
          <p:cNvPr id="26" name="Text 24"/>
          <p:cNvSpPr/>
          <p:nvPr/>
        </p:nvSpPr>
        <p:spPr>
          <a:xfrm>
            <a:off x="6184032" y="1768748"/>
            <a:ext cx="2338462" cy="617622"/>
          </a:xfrm>
          <a:prstGeom prst="rect">
            <a:avLst/>
          </a:prstGeom>
          <a:noFill/>
          <a:ln/>
        </p:spPr>
        <p:txBody>
          <a:bodyPr wrap="square" lIns="0" tIns="0" rIns="0" bIns="0" rtlCol="0" anchor="t"/>
          <a:lstStyle/>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Micrófono</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Cámara</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Notificaciones</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Ubicación</a:t>
            </a:r>
            <a:endParaRPr lang="en-US" sz="800" dirty="0"/>
          </a:p>
        </p:txBody>
      </p:sp>
      <p:sp>
        <p:nvSpPr>
          <p:cNvPr id="27" name="Text 25"/>
          <p:cNvSpPr/>
          <p:nvPr/>
        </p:nvSpPr>
        <p:spPr>
          <a:xfrm>
            <a:off x="460772" y="2736726"/>
            <a:ext cx="2659819" cy="1650206"/>
          </a:xfrm>
          <a:prstGeom prst="roundRect">
            <a:avLst>
              <a:gd name="adj" fmla="val 9235"/>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8" name="Text 26"/>
          <p:cNvSpPr/>
          <p:nvPr/>
        </p:nvSpPr>
        <p:spPr>
          <a:xfrm>
            <a:off x="621506" y="2897460"/>
            <a:ext cx="314325" cy="314325"/>
          </a:xfrm>
          <a:prstGeom prst="roundRect">
            <a:avLst>
              <a:gd name="adj" fmla="val 36364"/>
            </a:avLst>
          </a:prstGeom>
          <a:solidFill>
            <a:srgbClr val="8363F9">
              <a:alpha val="18000"/>
            </a:srgbClr>
          </a:solidFill>
          <a:ln/>
        </p:spPr>
        <p:txBody>
          <a:bodyPr wrap="square" rtlCol="0" anchor="ctr"/>
          <a:lstStyle/>
          <a:p>
            <a:pPr indent="0" marL="0">
              <a:buNone/>
            </a:pPr>
            <a:endParaRPr lang="en-US" dirty="0"/>
          </a:p>
        </p:txBody>
      </p:sp>
      <p:sp>
        <p:nvSpPr>
          <p:cNvPr id="29" name="Text 27"/>
          <p:cNvSpPr/>
          <p:nvPr/>
        </p:nvSpPr>
        <p:spPr>
          <a:xfrm>
            <a:off x="633651" y="2909605"/>
            <a:ext cx="290036" cy="290036"/>
          </a:xfrm>
          <a:prstGeom prst="rect">
            <a:avLst/>
          </a:prstGeom>
          <a:noFill/>
          <a:ln/>
        </p:spPr>
        <p:txBody>
          <a:bodyPr wrap="none" lIns="0" tIns="0" rIns="0" bIns="0" rtlCol="0" anchor="ctr"/>
          <a:lstStyle/>
          <a:p>
            <a:pPr algn="ctr" indent="0" marL="0">
              <a:buNone/>
            </a:pPr>
            <a:r>
              <a:rPr lang="en-US" sz="1969" dirty="0">
                <a:solidFill>
                  <a:srgbClr val="8363F9"/>
                </a:solidFill>
                <a:latin typeface="Segoe UI Symbol" pitchFamily="34" charset="0"/>
                <a:ea typeface="Segoe UI Symbol" pitchFamily="34" charset="-122"/>
                <a:cs typeface="Segoe UI Symbol" pitchFamily="34" charset="-120"/>
              </a:rPr>
              <a:t>⛨</a:t>
            </a:r>
            <a:endParaRPr lang="en-US" sz="1969" dirty="0"/>
          </a:p>
        </p:txBody>
      </p:sp>
      <p:sp>
        <p:nvSpPr>
          <p:cNvPr id="30" name="Text 28"/>
          <p:cNvSpPr/>
          <p:nvPr/>
        </p:nvSpPr>
        <p:spPr>
          <a:xfrm>
            <a:off x="2500156" y="2886959"/>
            <a:ext cx="477381"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31" name="Text 29"/>
          <p:cNvSpPr/>
          <p:nvPr/>
        </p:nvSpPr>
        <p:spPr>
          <a:xfrm>
            <a:off x="2517837" y="2897460"/>
            <a:ext cx="442020"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NUEVO</a:t>
            </a:r>
            <a:endParaRPr lang="en-US" sz="800" dirty="0"/>
          </a:p>
        </p:txBody>
      </p:sp>
      <p:sp>
        <p:nvSpPr>
          <p:cNvPr id="32" name="Text 30"/>
          <p:cNvSpPr/>
          <p:nvPr/>
        </p:nvSpPr>
        <p:spPr>
          <a:xfrm>
            <a:off x="621506" y="3311798"/>
            <a:ext cx="2338350" cy="185166"/>
          </a:xfrm>
          <a:prstGeom prst="rect">
            <a:avLst/>
          </a:prstGeom>
          <a:noFill/>
          <a:ln/>
        </p:spPr>
        <p:txBody>
          <a:bodyPr wrap="none" lIns="0" tIns="0" rIns="0" bIns="0" rtlCol="0" anchor="t"/>
          <a:lstStyle/>
          <a:p>
            <a:pPr algn="l" indent="0" marL="0">
              <a:lnSpc>
                <a:spcPts val="1350"/>
              </a:lnSpc>
              <a:buNone/>
            </a:pPr>
            <a:r>
              <a:rPr lang="en-US" sz="900" b="1" dirty="0">
                <a:solidFill>
                  <a:srgbClr val="F0EAFF"/>
                </a:solidFill>
                <a:latin typeface="Carlito" pitchFamily="34" charset="0"/>
                <a:ea typeface="Carlito" pitchFamily="34" charset="-122"/>
                <a:cs typeface="Carlito" pitchFamily="34" charset="-120"/>
              </a:rPr>
              <a:t>Privacidad</a:t>
            </a:r>
            <a:endParaRPr lang="en-US" sz="900" dirty="0"/>
          </a:p>
        </p:txBody>
      </p:sp>
      <p:sp>
        <p:nvSpPr>
          <p:cNvPr id="33" name="Text 31"/>
          <p:cNvSpPr/>
          <p:nvPr/>
        </p:nvSpPr>
        <p:spPr>
          <a:xfrm>
            <a:off x="621506" y="3540398"/>
            <a:ext cx="2338350" cy="463216"/>
          </a:xfrm>
          <a:prstGeom prst="rect">
            <a:avLst/>
          </a:prstGeom>
          <a:noFill/>
          <a:ln/>
        </p:spPr>
        <p:txBody>
          <a:bodyPr wrap="square" lIns="0" tIns="0" rIns="0" bIns="0" rtlCol="0" anchor="t"/>
          <a:lstStyle/>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Exportar memoria</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Borrar todo</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Modo efímero</a:t>
            </a:r>
            <a:endParaRPr lang="en-US" sz="800" dirty="0"/>
          </a:p>
        </p:txBody>
      </p:sp>
      <p:sp>
        <p:nvSpPr>
          <p:cNvPr id="34" name="Text 32"/>
          <p:cNvSpPr/>
          <p:nvPr/>
        </p:nvSpPr>
        <p:spPr>
          <a:xfrm>
            <a:off x="3242035" y="2736726"/>
            <a:ext cx="2659819" cy="1650206"/>
          </a:xfrm>
          <a:prstGeom prst="roundRect">
            <a:avLst>
              <a:gd name="adj" fmla="val 9235"/>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35" name="Text 33"/>
          <p:cNvSpPr/>
          <p:nvPr/>
        </p:nvSpPr>
        <p:spPr>
          <a:xfrm>
            <a:off x="3402769" y="2897460"/>
            <a:ext cx="314325" cy="314325"/>
          </a:xfrm>
          <a:prstGeom prst="roundRect">
            <a:avLst>
              <a:gd name="adj" fmla="val 36364"/>
            </a:avLst>
          </a:prstGeom>
          <a:solidFill>
            <a:srgbClr val="8363F9">
              <a:alpha val="18000"/>
            </a:srgbClr>
          </a:solidFill>
          <a:ln/>
        </p:spPr>
        <p:txBody>
          <a:bodyPr wrap="square" rtlCol="0" anchor="ctr"/>
          <a:lstStyle/>
          <a:p>
            <a:pPr indent="0" marL="0">
              <a:buNone/>
            </a:pPr>
            <a:endParaRPr lang="en-US" dirty="0"/>
          </a:p>
        </p:txBody>
      </p:sp>
      <p:sp>
        <p:nvSpPr>
          <p:cNvPr id="36" name="Text 34"/>
          <p:cNvSpPr/>
          <p:nvPr/>
        </p:nvSpPr>
        <p:spPr>
          <a:xfrm>
            <a:off x="3414913" y="2909605"/>
            <a:ext cx="290036" cy="290036"/>
          </a:xfrm>
          <a:prstGeom prst="rect">
            <a:avLst/>
          </a:prstGeom>
          <a:noFill/>
          <a:ln/>
        </p:spPr>
        <p:txBody>
          <a:bodyPr wrap="none" lIns="0" tIns="0" rIns="0" bIns="0" rtlCol="0" anchor="ctr"/>
          <a:lstStyle/>
          <a:p>
            <a:pPr algn="ctr" indent="0" marL="0">
              <a:buNone/>
            </a:pPr>
            <a:r>
              <a:rPr lang="en-US" sz="1969" dirty="0">
                <a:solidFill>
                  <a:srgbClr val="8363F9"/>
                </a:solidFill>
                <a:latin typeface="Segoe UI Symbol" pitchFamily="34" charset="0"/>
                <a:ea typeface="Segoe UI Symbol" pitchFamily="34" charset="-122"/>
                <a:cs typeface="Segoe UI Symbol" pitchFamily="34" charset="-120"/>
              </a:rPr>
              <a:t>▦</a:t>
            </a:r>
            <a:endParaRPr lang="en-US" sz="1969" dirty="0"/>
          </a:p>
        </p:txBody>
      </p:sp>
      <p:sp>
        <p:nvSpPr>
          <p:cNvPr id="37" name="Text 35"/>
          <p:cNvSpPr/>
          <p:nvPr/>
        </p:nvSpPr>
        <p:spPr>
          <a:xfrm>
            <a:off x="5281419" y="2886959"/>
            <a:ext cx="477381"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38" name="Text 36"/>
          <p:cNvSpPr/>
          <p:nvPr/>
        </p:nvSpPr>
        <p:spPr>
          <a:xfrm>
            <a:off x="5299100" y="2897460"/>
            <a:ext cx="442020"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NUEVO</a:t>
            </a:r>
            <a:endParaRPr lang="en-US" sz="800" dirty="0"/>
          </a:p>
        </p:txBody>
      </p:sp>
      <p:sp>
        <p:nvSpPr>
          <p:cNvPr id="39" name="Text 37"/>
          <p:cNvSpPr/>
          <p:nvPr/>
        </p:nvSpPr>
        <p:spPr>
          <a:xfrm>
            <a:off x="3402769" y="3311798"/>
            <a:ext cx="2338350" cy="185166"/>
          </a:xfrm>
          <a:prstGeom prst="rect">
            <a:avLst/>
          </a:prstGeom>
          <a:noFill/>
          <a:ln/>
        </p:spPr>
        <p:txBody>
          <a:bodyPr wrap="none" lIns="0" tIns="0" rIns="0" bIns="0" rtlCol="0" anchor="t"/>
          <a:lstStyle/>
          <a:p>
            <a:pPr algn="l" indent="0" marL="0">
              <a:lnSpc>
                <a:spcPts val="1350"/>
              </a:lnSpc>
              <a:buNone/>
            </a:pPr>
            <a:r>
              <a:rPr lang="en-US" sz="900" b="1" dirty="0">
                <a:solidFill>
                  <a:srgbClr val="F0EAFF"/>
                </a:solidFill>
                <a:latin typeface="Carlito" pitchFamily="34" charset="0"/>
                <a:ea typeface="Carlito" pitchFamily="34" charset="-122"/>
                <a:cs typeface="Carlito" pitchFamily="34" charset="-120"/>
              </a:rPr>
              <a:t>Datos</a:t>
            </a:r>
            <a:endParaRPr lang="en-US" sz="900" dirty="0"/>
          </a:p>
        </p:txBody>
      </p:sp>
      <p:sp>
        <p:nvSpPr>
          <p:cNvPr id="40" name="Text 38"/>
          <p:cNvSpPr/>
          <p:nvPr/>
        </p:nvSpPr>
        <p:spPr>
          <a:xfrm>
            <a:off x="3402769" y="3540398"/>
            <a:ext cx="2338350" cy="463216"/>
          </a:xfrm>
          <a:prstGeom prst="rect">
            <a:avLst/>
          </a:prstGeom>
          <a:noFill/>
          <a:ln/>
        </p:spPr>
        <p:txBody>
          <a:bodyPr wrap="square" lIns="0" tIns="0" rIns="0" bIns="0" rtlCol="0" anchor="t"/>
          <a:lstStyle/>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Almacenamiento usado</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Caché</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Sincronización</a:t>
            </a:r>
            <a:endParaRPr lang="en-US" sz="800" dirty="0"/>
          </a:p>
        </p:txBody>
      </p:sp>
      <p:sp>
        <p:nvSpPr>
          <p:cNvPr id="41" name="Text 39"/>
          <p:cNvSpPr/>
          <p:nvPr/>
        </p:nvSpPr>
        <p:spPr>
          <a:xfrm>
            <a:off x="6023297" y="2736726"/>
            <a:ext cx="2659931" cy="1650206"/>
          </a:xfrm>
          <a:prstGeom prst="roundRect">
            <a:avLst>
              <a:gd name="adj" fmla="val 9235"/>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42" name="Text 40"/>
          <p:cNvSpPr/>
          <p:nvPr/>
        </p:nvSpPr>
        <p:spPr>
          <a:xfrm>
            <a:off x="6184032" y="2897460"/>
            <a:ext cx="314325" cy="314325"/>
          </a:xfrm>
          <a:prstGeom prst="roundRect">
            <a:avLst>
              <a:gd name="adj" fmla="val 36364"/>
            </a:avLst>
          </a:prstGeom>
          <a:solidFill>
            <a:srgbClr val="8363F9">
              <a:alpha val="18000"/>
            </a:srgbClr>
          </a:solidFill>
          <a:ln/>
        </p:spPr>
        <p:txBody>
          <a:bodyPr wrap="square" rtlCol="0" anchor="ctr"/>
          <a:lstStyle/>
          <a:p>
            <a:pPr indent="0" marL="0">
              <a:buNone/>
            </a:pPr>
            <a:endParaRPr lang="en-US" dirty="0"/>
          </a:p>
        </p:txBody>
      </p:sp>
      <p:sp>
        <p:nvSpPr>
          <p:cNvPr id="43" name="Text 41"/>
          <p:cNvSpPr/>
          <p:nvPr/>
        </p:nvSpPr>
        <p:spPr>
          <a:xfrm>
            <a:off x="6196176" y="2909605"/>
            <a:ext cx="290036" cy="290036"/>
          </a:xfrm>
          <a:prstGeom prst="rect">
            <a:avLst/>
          </a:prstGeom>
          <a:noFill/>
          <a:ln/>
        </p:spPr>
        <p:txBody>
          <a:bodyPr wrap="none" lIns="0" tIns="0" rIns="0" bIns="0" rtlCol="0" anchor="ctr"/>
          <a:lstStyle/>
          <a:p>
            <a:pPr algn="ctr" indent="0" marL="0">
              <a:buNone/>
            </a:pPr>
            <a:r>
              <a:rPr lang="en-US" sz="1969" dirty="0">
                <a:solidFill>
                  <a:srgbClr val="8363F9"/>
                </a:solidFill>
                <a:latin typeface="Segoe UI Symbol" pitchFamily="34" charset="0"/>
                <a:ea typeface="Segoe UI Symbol" pitchFamily="34" charset="-122"/>
                <a:cs typeface="Segoe UI Symbol" pitchFamily="34" charset="-120"/>
              </a:rPr>
              <a:t>ⓘ</a:t>
            </a:r>
            <a:endParaRPr lang="en-US" sz="1969" dirty="0"/>
          </a:p>
        </p:txBody>
      </p:sp>
      <p:sp>
        <p:nvSpPr>
          <p:cNvPr id="44" name="Text 42"/>
          <p:cNvSpPr/>
          <p:nvPr/>
        </p:nvSpPr>
        <p:spPr>
          <a:xfrm>
            <a:off x="8062793" y="2886959"/>
            <a:ext cx="477381"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45" name="Text 43"/>
          <p:cNvSpPr/>
          <p:nvPr/>
        </p:nvSpPr>
        <p:spPr>
          <a:xfrm>
            <a:off x="8080474" y="2897460"/>
            <a:ext cx="442020"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NUEVO</a:t>
            </a:r>
            <a:endParaRPr lang="en-US" sz="800" dirty="0"/>
          </a:p>
        </p:txBody>
      </p:sp>
      <p:sp>
        <p:nvSpPr>
          <p:cNvPr id="46" name="Text 44"/>
          <p:cNvSpPr/>
          <p:nvPr/>
        </p:nvSpPr>
        <p:spPr>
          <a:xfrm>
            <a:off x="6184032" y="3311798"/>
            <a:ext cx="2338462" cy="185166"/>
          </a:xfrm>
          <a:prstGeom prst="rect">
            <a:avLst/>
          </a:prstGeom>
          <a:noFill/>
          <a:ln/>
        </p:spPr>
        <p:txBody>
          <a:bodyPr wrap="none" lIns="0" tIns="0" rIns="0" bIns="0" rtlCol="0" anchor="t"/>
          <a:lstStyle/>
          <a:p>
            <a:pPr algn="l" indent="0" marL="0">
              <a:lnSpc>
                <a:spcPts val="1350"/>
              </a:lnSpc>
              <a:buNone/>
            </a:pPr>
            <a:r>
              <a:rPr lang="en-US" sz="900" b="1" dirty="0">
                <a:solidFill>
                  <a:srgbClr val="F0EAFF"/>
                </a:solidFill>
                <a:latin typeface="Carlito" pitchFamily="34" charset="0"/>
                <a:ea typeface="Carlito" pitchFamily="34" charset="-122"/>
                <a:cs typeface="Carlito" pitchFamily="34" charset="-120"/>
              </a:rPr>
              <a:t>Acerca de</a:t>
            </a:r>
            <a:endParaRPr lang="en-US" sz="900" dirty="0"/>
          </a:p>
        </p:txBody>
      </p:sp>
      <p:sp>
        <p:nvSpPr>
          <p:cNvPr id="47" name="Text 45"/>
          <p:cNvSpPr/>
          <p:nvPr/>
        </p:nvSpPr>
        <p:spPr>
          <a:xfrm>
            <a:off x="6184032" y="3540398"/>
            <a:ext cx="2338462" cy="617622"/>
          </a:xfrm>
          <a:prstGeom prst="rect">
            <a:avLst/>
          </a:prstGeom>
          <a:noFill/>
          <a:ln/>
        </p:spPr>
        <p:txBody>
          <a:bodyPr wrap="square" lIns="0" tIns="0" rIns="0" bIns="0" rtlCol="0" anchor="t"/>
          <a:lstStyle/>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Liberation Sans Narrow" pitchFamily="34" charset="0"/>
                <a:ea typeface="Liberation Sans Narrow" pitchFamily="34" charset="-122"/>
                <a:cs typeface="Liberation Sans Narrow" pitchFamily="34" charset="-120"/>
              </a:rPr>
              <a:t>Versión 0.1.0</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Términos</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Soporte</a:t>
            </a:r>
            <a:endParaRPr lang="en-US" sz="800" dirty="0"/>
          </a:p>
          <a:p>
            <a:pPr algn="l" indent="0" marL="0">
              <a:lnSpc>
                <a:spcPts val="1148"/>
              </a:lnSpc>
              <a:buNone/>
            </a:pPr>
            <a:r>
              <a:rPr lang="en-US" sz="600" dirty="0">
                <a:solidFill>
                  <a:srgbClr val="6EE7B7"/>
                </a:solidFill>
                <a:latin typeface="Carlito" pitchFamily="34" charset="0"/>
                <a:ea typeface="Carlito" pitchFamily="34" charset="-122"/>
                <a:cs typeface="Carlito" pitchFamily="34" charset="-120"/>
              </a:rPr>
              <a:t>●  </a:t>
            </a:r>
            <a:pPr algn="l" indent="0" marL="0">
              <a:lnSpc>
                <a:spcPts val="1148"/>
              </a:lnSpc>
              <a:buNone/>
            </a:pPr>
            <a:r>
              <a:rPr lang="en-US" sz="800" dirty="0">
                <a:solidFill>
                  <a:srgbClr val="B8A8E0"/>
                </a:solidFill>
                <a:latin typeface="Carlito" pitchFamily="34" charset="0"/>
                <a:ea typeface="Carlito" pitchFamily="34" charset="-122"/>
                <a:cs typeface="Carlito" pitchFamily="34" charset="-120"/>
              </a:rPr>
              <a:t>Feedback</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1000125" y="-1428750"/>
            <a:ext cx="3286125" cy="3286125"/>
          </a:xfrm>
          <a:prstGeom prst="ellipse">
            <a:avLst/>
          </a:prstGeom>
          <a:solidFill>
            <a:srgbClr val="FBBF24">
              <a:alpha val="10000"/>
            </a:srgbClr>
          </a:solidFill>
          <a:ln/>
        </p:spPr>
        <p:txBody>
          <a:bodyPr wrap="square" rtlCol="0" anchor="ctr"/>
          <a:lstStyle/>
          <a:p>
            <a:pPr indent="0" marL="0">
              <a:buNone/>
            </a:pPr>
            <a:endParaRPr lang="en-US" dirty="0"/>
          </a:p>
        </p:txBody>
      </p:sp>
      <p:sp>
        <p:nvSpPr>
          <p:cNvPr id="3" name="Text 1"/>
          <p:cNvSpPr/>
          <p:nvPr/>
        </p:nvSpPr>
        <p:spPr>
          <a:xfrm>
            <a:off x="7143750" y="3429000"/>
            <a:ext cx="2714625" cy="2714625"/>
          </a:xfrm>
          <a:prstGeom prst="ellipse">
            <a:avLst/>
          </a:prstGeom>
          <a:solidFill>
            <a:srgbClr val="6EE7B7">
              <a:alpha val="10000"/>
            </a:srgbClr>
          </a:solidFill>
          <a:ln/>
        </p:spPr>
        <p:txBody>
          <a:bodyPr wrap="square" rtlCol="0" anchor="ctr"/>
          <a:lstStyle/>
          <a:p>
            <a:pPr indent="0" marL="0">
              <a:buNone/>
            </a:pPr>
            <a:endParaRPr lang="en-US" dirty="0"/>
          </a:p>
        </p:txBody>
      </p:sp>
      <p:sp>
        <p:nvSpPr>
          <p:cNvPr id="4" name="Text 2"/>
          <p:cNvSpPr/>
          <p:nvPr/>
        </p:nvSpPr>
        <p:spPr>
          <a:xfrm>
            <a:off x="457200" y="342900"/>
            <a:ext cx="4621555" cy="259184"/>
          </a:xfrm>
          <a:prstGeom prst="rect">
            <a:avLst/>
          </a:prstGeom>
          <a:noFill/>
          <a:ln/>
        </p:spPr>
        <p:txBody>
          <a:bodyPr wrap="none" lIns="0" tIns="0" rIns="0" bIns="0" rtlCol="0" anchor="t"/>
          <a:lstStyle/>
          <a:p>
            <a:pPr algn="l" indent="0" marL="0">
              <a:lnSpc>
                <a:spcPts val="1890"/>
              </a:lnSpc>
              <a:buNone/>
            </a:pPr>
            <a:r>
              <a:rPr lang="en-US" sz="1575" b="1" dirty="0">
                <a:solidFill>
                  <a:srgbClr val="F0EAFF"/>
                </a:solidFill>
                <a:latin typeface="Carlito" pitchFamily="34" charset="0"/>
                <a:ea typeface="Carlito" pitchFamily="34" charset="-122"/>
                <a:cs typeface="Carlito" pitchFamily="34" charset="-120"/>
              </a:rPr>
              <a:t>Hallazgo 05 — Chat sin indicador de historial</a:t>
            </a:r>
            <a:endParaRPr lang="en-US" sz="1575" dirty="0"/>
          </a:p>
        </p:txBody>
      </p:sp>
      <p:sp>
        <p:nvSpPr>
          <p:cNvPr id="5" name="Text 3"/>
          <p:cNvSpPr/>
          <p:nvPr/>
        </p:nvSpPr>
        <p:spPr>
          <a:xfrm>
            <a:off x="4822143" y="364880"/>
            <a:ext cx="420142"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6" name="Text 4"/>
          <p:cNvSpPr/>
          <p:nvPr/>
        </p:nvSpPr>
        <p:spPr>
          <a:xfrm>
            <a:off x="4822143" y="375382"/>
            <a:ext cx="420142"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MEDIO</a:t>
            </a:r>
            <a:endParaRPr lang="en-US" sz="800" dirty="0"/>
          </a:p>
        </p:txBody>
      </p:sp>
      <p:sp>
        <p:nvSpPr>
          <p:cNvPr id="7" name="Text 5"/>
          <p:cNvSpPr/>
          <p:nvPr/>
        </p:nvSpPr>
        <p:spPr>
          <a:xfrm>
            <a:off x="457200" y="668610"/>
            <a:ext cx="5429250" cy="763810"/>
          </a:xfrm>
          <a:prstGeom prst="rect">
            <a:avLst/>
          </a:prstGeom>
          <a:noFill/>
          <a:ln/>
        </p:spPr>
        <p:txBody>
          <a:bodyPr wrap="square" lIns="0" tIns="0" rIns="0" bIns="0" rtlCol="0" anchor="t"/>
          <a:lstStyle/>
          <a:p>
            <a:pPr algn="l" indent="0" marL="0">
              <a:lnSpc>
                <a:spcPts val="1392"/>
              </a:lnSpc>
              <a:buNone/>
            </a:pPr>
            <a:r>
              <a:rPr lang="en-US" sz="844" dirty="0">
                <a:solidFill>
                  <a:srgbClr val="B8A8E0"/>
                </a:solidFill>
                <a:latin typeface="Carlito" pitchFamily="34" charset="0"/>
                <a:ea typeface="Carlito" pitchFamily="34" charset="-122"/>
                <a:cs typeface="Carlito" pitchFamily="34" charset="-120"/>
              </a:rPr>
              <a:t>El chat de Koru está diseñado como "interacción inmediata": cada nueva pregunta limpia la anterior. Solo vive el último intercambio en pantalla. Esto está bien para foco, pero el usuario no tiene NINGÚN indicador de que lo anterior sigue existiendo en Historial. Si pregunta algo nuevo y el informe anterior desaparece, puede pensar que se perdió.</a:t>
            </a:r>
            <a:endParaRPr lang="en-US" sz="844" dirty="0"/>
          </a:p>
        </p:txBody>
      </p:sp>
      <p:sp>
        <p:nvSpPr>
          <p:cNvPr id="8" name="Text 6"/>
          <p:cNvSpPr/>
          <p:nvPr/>
        </p:nvSpPr>
        <p:spPr>
          <a:xfrm>
            <a:off x="1965424" y="1497285"/>
            <a:ext cx="114300" cy="114300"/>
          </a:xfrm>
          <a:prstGeom prst="rect">
            <a:avLst/>
          </a:prstGeom>
          <a:noFill/>
          <a:ln/>
        </p:spPr>
        <p:txBody>
          <a:bodyPr wrap="none" lIns="0" tIns="0" rIns="0" bIns="0" rtlCol="0" anchor="ctr"/>
          <a:lstStyle/>
          <a:p>
            <a:pPr algn="ctr" indent="0" marL="0">
              <a:buNone/>
            </a:pPr>
            <a:r>
              <a:rPr lang="en-US" sz="1125" dirty="0">
                <a:solidFill>
                  <a:srgbClr val="FDA4AF"/>
                </a:solidFill>
                <a:latin typeface="Segoe UI Symbol" pitchFamily="34" charset="0"/>
                <a:ea typeface="Segoe UI Symbol" pitchFamily="34" charset="-122"/>
                <a:cs typeface="Segoe UI Symbol" pitchFamily="34" charset="-120"/>
              </a:rPr>
              <a:t>⊖</a:t>
            </a:r>
            <a:endParaRPr lang="en-US" sz="1125" dirty="0"/>
          </a:p>
        </p:txBody>
      </p:sp>
      <p:sp>
        <p:nvSpPr>
          <p:cNvPr id="9" name="Text 7"/>
          <p:cNvSpPr/>
          <p:nvPr/>
        </p:nvSpPr>
        <p:spPr>
          <a:xfrm>
            <a:off x="2136874" y="1490142"/>
            <a:ext cx="951820" cy="164592"/>
          </a:xfrm>
          <a:prstGeom prst="rect">
            <a:avLst/>
          </a:prstGeom>
          <a:noFill/>
          <a:ln/>
        </p:spPr>
        <p:txBody>
          <a:bodyPr wrap="none" lIns="0" tIns="0" rIns="0" bIns="0" rtlCol="0" anchor="t"/>
          <a:lstStyle/>
          <a:p>
            <a:pPr algn="l" indent="0" marL="0">
              <a:lnSpc>
                <a:spcPts val="1013"/>
              </a:lnSpc>
              <a:buNone/>
            </a:pPr>
            <a:r>
              <a:rPr lang="en-US" sz="800" b="1" spc="34" kern="0" dirty="0">
                <a:solidFill>
                  <a:srgbClr val="FDA4AF"/>
                </a:solidFill>
                <a:latin typeface="Carlito" pitchFamily="34" charset="0"/>
                <a:ea typeface="Carlito" pitchFamily="34" charset="-122"/>
                <a:cs typeface="Carlito" pitchFamily="34" charset="-120"/>
              </a:rPr>
              <a:t>ANTES (ACTUAL)</a:t>
            </a:r>
            <a:endParaRPr lang="en-US" sz="800" dirty="0"/>
          </a:p>
        </p:txBody>
      </p:sp>
      <p:sp>
        <p:nvSpPr>
          <p:cNvPr id="10" name="Text 8"/>
          <p:cNvSpPr/>
          <p:nvPr/>
        </p:nvSpPr>
        <p:spPr>
          <a:xfrm>
            <a:off x="1728788" y="1704454"/>
            <a:ext cx="1428750" cy="2000250"/>
          </a:xfrm>
          <a:prstGeom prst="roundRect">
            <a:avLst>
              <a:gd name="adj" fmla="val 16000"/>
            </a:avLst>
          </a:prstGeom>
          <a:solidFill>
            <a:srgbClr val="453F6A"/>
          </a:solidFill>
          <a:ln/>
          <a:effectLst>
            <a:outerShdw sx="100000" sy="100000" kx="0" ky="0" algn="bl" rotWithShape="0" blurRad="266700" dist="114300" dir="5400000">
              <a:srgbClr val="000000">
                <a:alpha val="45000"/>
              </a:srgbClr>
            </a:outerShdw>
          </a:effectLst>
        </p:spPr>
        <p:txBody>
          <a:bodyPr wrap="square" rtlCol="0" anchor="ctr"/>
          <a:lstStyle/>
          <a:p>
            <a:pPr indent="0" marL="0">
              <a:buNone/>
            </a:pPr>
            <a:endParaRPr lang="en-US" dirty="0"/>
          </a:p>
        </p:txBody>
      </p:sp>
      <p:sp>
        <p:nvSpPr>
          <p:cNvPr id="11" name="Text 9"/>
          <p:cNvSpPr/>
          <p:nvPr/>
        </p:nvSpPr>
        <p:spPr>
          <a:xfrm>
            <a:off x="1814513" y="1856259"/>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12" name="Text 10"/>
          <p:cNvSpPr/>
          <p:nvPr/>
        </p:nvSpPr>
        <p:spPr>
          <a:xfrm>
            <a:off x="1957388" y="1847329"/>
            <a:ext cx="1114425" cy="164592"/>
          </a:xfrm>
          <a:prstGeom prst="rect">
            <a:avLst/>
          </a:prstGeom>
          <a:noFill/>
          <a:ln/>
        </p:spPr>
        <p:txBody>
          <a:bodyPr wrap="none" lIns="0" tIns="0" rIns="0" bIns="0" rtlCol="0" anchor="t"/>
          <a:lstStyle/>
          <a:p>
            <a:pPr algn="l" indent="0" marL="0">
              <a:lnSpc>
                <a:spcPts val="928"/>
              </a:lnSpc>
              <a:buNone/>
            </a:pPr>
            <a:r>
              <a:rPr lang="en-US" sz="800" dirty="0">
                <a:solidFill>
                  <a:srgbClr val="FFFFFF">
                    <a:alpha val="85000"/>
                  </a:srgbClr>
                </a:solidFill>
                <a:latin typeface="Carlito" pitchFamily="34" charset="0"/>
                <a:ea typeface="Carlito" pitchFamily="34" charset="-122"/>
                <a:cs typeface="Carlito" pitchFamily="34" charset="-120"/>
              </a:rPr>
              <a:t>Koru</a:t>
            </a:r>
            <a:endParaRPr lang="en-US" sz="800" dirty="0"/>
          </a:p>
        </p:txBody>
      </p:sp>
      <p:sp>
        <p:nvSpPr>
          <p:cNvPr id="13" name="Text 11"/>
          <p:cNvSpPr/>
          <p:nvPr/>
        </p:nvSpPr>
        <p:spPr>
          <a:xfrm>
            <a:off x="2238918" y="2004492"/>
            <a:ext cx="855754" cy="200025"/>
          </a:xfrm>
          <a:prstGeom prst="roundRect">
            <a:avLst>
              <a:gd name="adj" fmla="val 57143"/>
            </a:avLst>
          </a:prstGeom>
          <a:solidFill>
            <a:srgbClr val="6E62A8"/>
          </a:solidFill>
          <a:ln/>
        </p:spPr>
        <p:txBody>
          <a:bodyPr wrap="square" rtlCol="0" anchor="ctr"/>
          <a:lstStyle/>
          <a:p>
            <a:pPr indent="0" marL="0">
              <a:buNone/>
            </a:pPr>
            <a:endParaRPr lang="en-US" dirty="0"/>
          </a:p>
        </p:txBody>
      </p:sp>
      <p:sp>
        <p:nvSpPr>
          <p:cNvPr id="14" name="Text 12"/>
          <p:cNvSpPr/>
          <p:nvPr/>
        </p:nvSpPr>
        <p:spPr>
          <a:xfrm>
            <a:off x="2261778" y="2015207"/>
            <a:ext cx="810034" cy="178594"/>
          </a:xfrm>
          <a:prstGeom prst="rect">
            <a:avLst/>
          </a:prstGeom>
          <a:noFill/>
          <a:ln/>
        </p:spPr>
        <p:txBody>
          <a:bodyPr wrap="square" lIns="0" tIns="0" rIns="0" bIns="0" rtlCol="0" anchor="ctr"/>
          <a:lstStyle/>
          <a:p>
            <a:pPr algn="ctr" indent="0" marL="0">
              <a:lnSpc>
                <a:spcPts val="731"/>
              </a:lnSpc>
              <a:buNone/>
            </a:pPr>
            <a:r>
              <a:rPr lang="en-US" sz="800" dirty="0">
                <a:solidFill>
                  <a:srgbClr val="FFFFFF"/>
                </a:solidFill>
                <a:latin typeface="Carlito" pitchFamily="34" charset="0"/>
                <a:ea typeface="Carlito" pitchFamily="34" charset="-122"/>
                <a:cs typeface="Carlito" pitchFamily="34" charset="-120"/>
              </a:rPr>
              <a:t>¿cómo está el dólar?</a:t>
            </a:r>
            <a:endParaRPr lang="en-US" sz="800" dirty="0"/>
          </a:p>
        </p:txBody>
      </p:sp>
      <p:sp>
        <p:nvSpPr>
          <p:cNvPr id="15" name="Text 13"/>
          <p:cNvSpPr/>
          <p:nvPr/>
        </p:nvSpPr>
        <p:spPr>
          <a:xfrm>
            <a:off x="1793068" y="2233092"/>
            <a:ext cx="579005" cy="200025"/>
          </a:xfrm>
          <a:prstGeom prst="roundRect">
            <a:avLst>
              <a:gd name="adj" fmla="val 57143"/>
            </a:avLst>
          </a:prstGeom>
          <a:solidFill>
            <a:srgbClr val="FFFFFF">
              <a:alpha val="94000"/>
            </a:srgbClr>
          </a:solidFill>
          <a:ln/>
        </p:spPr>
        <p:txBody>
          <a:bodyPr wrap="square" rtlCol="0" anchor="ctr"/>
          <a:lstStyle/>
          <a:p>
            <a:pPr indent="0" marL="0">
              <a:buNone/>
            </a:pPr>
            <a:endParaRPr lang="en-US" dirty="0"/>
          </a:p>
        </p:txBody>
      </p:sp>
      <p:sp>
        <p:nvSpPr>
          <p:cNvPr id="16" name="Text 14"/>
          <p:cNvSpPr/>
          <p:nvPr/>
        </p:nvSpPr>
        <p:spPr>
          <a:xfrm>
            <a:off x="1814513" y="2243807"/>
            <a:ext cx="536116" cy="178594"/>
          </a:xfrm>
          <a:prstGeom prst="rect">
            <a:avLst/>
          </a:prstGeom>
          <a:noFill/>
          <a:ln/>
        </p:spPr>
        <p:txBody>
          <a:bodyPr wrap="none" lIns="0" tIns="0" rIns="0" bIns="0" rtlCol="0" anchor="ctr"/>
          <a:lstStyle/>
          <a:p>
            <a:pPr algn="ctr" indent="0" marL="0">
              <a:lnSpc>
                <a:spcPts val="731"/>
              </a:lnSpc>
              <a:buNone/>
            </a:pPr>
            <a:r>
              <a:rPr lang="en-US" sz="800" dirty="0">
                <a:solidFill>
                  <a:srgbClr val="2A2150"/>
                </a:solidFill>
                <a:latin typeface="Carlito" pitchFamily="34" charset="0"/>
                <a:ea typeface="Carlito" pitchFamily="34" charset="-122"/>
                <a:cs typeface="Carlito" pitchFamily="34" charset="-120"/>
              </a:rPr>
              <a:t>Acá lo tenés</a:t>
            </a:r>
            <a:endParaRPr lang="en-US" sz="800" dirty="0"/>
          </a:p>
        </p:txBody>
      </p:sp>
      <p:sp>
        <p:nvSpPr>
          <p:cNvPr id="17" name="Text 15"/>
          <p:cNvSpPr/>
          <p:nvPr/>
        </p:nvSpPr>
        <p:spPr>
          <a:xfrm>
            <a:off x="1791653" y="2460834"/>
            <a:ext cx="1076652" cy="216027"/>
          </a:xfrm>
          <a:prstGeom prst="roundRect">
            <a:avLst>
              <a:gd name="adj" fmla="val 35273"/>
            </a:avLst>
          </a:prstGeom>
          <a:solidFill>
            <a:srgbClr val="8363F9">
              <a:alpha val="25000"/>
            </a:srgbClr>
          </a:solidFill>
          <a:ln w="7144">
            <a:solidFill>
              <a:srgbClr val="8363F9"/>
            </a:solidFill>
            <a:prstDash val="solid"/>
          </a:ln>
        </p:spPr>
        <p:txBody>
          <a:bodyPr wrap="square" rtlCol="0" anchor="ctr"/>
          <a:lstStyle/>
          <a:p>
            <a:pPr indent="0" marL="0">
              <a:buNone/>
            </a:pPr>
            <a:endParaRPr lang="en-US" dirty="0"/>
          </a:p>
        </p:txBody>
      </p:sp>
      <p:sp>
        <p:nvSpPr>
          <p:cNvPr id="18" name="Text 16"/>
          <p:cNvSpPr/>
          <p:nvPr/>
        </p:nvSpPr>
        <p:spPr>
          <a:xfrm>
            <a:off x="1878806" y="2522413"/>
            <a:ext cx="92869" cy="92869"/>
          </a:xfrm>
          <a:prstGeom prst="rect">
            <a:avLst/>
          </a:prstGeom>
          <a:noFill/>
          <a:ln/>
        </p:spPr>
        <p:txBody>
          <a:bodyPr wrap="none" lIns="0" tIns="0" rIns="0" bIns="0" rtlCol="0" anchor="ctr"/>
          <a:lstStyle/>
          <a:p>
            <a:pPr algn="ctr" indent="0" marL="0">
              <a:buNone/>
            </a:pPr>
            <a:r>
              <a:rPr lang="en-US" sz="914" dirty="0">
                <a:solidFill>
                  <a:srgbClr val="6EE7B7"/>
                </a:solidFill>
                <a:latin typeface="Segoe UI Symbol" pitchFamily="34" charset="0"/>
                <a:ea typeface="Segoe UI Symbol" pitchFamily="34" charset="-122"/>
                <a:cs typeface="Segoe UI Symbol" pitchFamily="34" charset="-120"/>
              </a:rPr>
              <a:t>$</a:t>
            </a:r>
            <a:endParaRPr lang="en-US" sz="914" dirty="0"/>
          </a:p>
        </p:txBody>
      </p:sp>
      <p:sp>
        <p:nvSpPr>
          <p:cNvPr id="19" name="Text 17"/>
          <p:cNvSpPr/>
          <p:nvPr/>
        </p:nvSpPr>
        <p:spPr>
          <a:xfrm>
            <a:off x="2007394" y="2527102"/>
            <a:ext cx="773757" cy="91440"/>
          </a:xfrm>
          <a:prstGeom prst="rect">
            <a:avLst/>
          </a:prstGeom>
          <a:noFill/>
          <a:ln/>
        </p:spPr>
        <p:txBody>
          <a:bodyPr wrap="square" lIns="0" tIns="0" rIns="0" bIns="0" rtlCol="0" anchor="t"/>
          <a:lstStyle/>
          <a:p>
            <a:pPr algn="l" indent="0" marL="0">
              <a:lnSpc>
                <a:spcPts val="658"/>
              </a:lnSpc>
              <a:buNone/>
            </a:pPr>
            <a:r>
              <a:rPr lang="en-US" sz="600" dirty="0">
                <a:solidFill>
                  <a:srgbClr val="F0EAFF"/>
                </a:solidFill>
                <a:latin typeface="Liberation Sans Narrow" pitchFamily="34" charset="0"/>
                <a:ea typeface="Liberation Sans Narrow" pitchFamily="34" charset="-122"/>
                <a:cs typeface="Liberation Sans Narrow" pitchFamily="34" charset="-120"/>
              </a:rPr>
              <a:t>Dólar blue: $1,045</a:t>
            </a:r>
            <a:endParaRPr lang="en-US" sz="600" dirty="0"/>
          </a:p>
        </p:txBody>
      </p:sp>
      <p:sp>
        <p:nvSpPr>
          <p:cNvPr id="20" name="Text 18"/>
          <p:cNvSpPr/>
          <p:nvPr/>
        </p:nvSpPr>
        <p:spPr>
          <a:xfrm>
            <a:off x="1505161" y="3790429"/>
            <a:ext cx="1875891" cy="164592"/>
          </a:xfrm>
          <a:prstGeom prst="rect">
            <a:avLst/>
          </a:prstGeom>
          <a:noFill/>
          <a:ln/>
        </p:spPr>
        <p:txBody>
          <a:bodyPr wrap="square" lIns="0" tIns="0" rIns="0" bIns="0" rtlCol="0" anchor="t"/>
          <a:lstStyle/>
          <a:p>
            <a:pPr algn="ctr" indent="0" marL="0">
              <a:lnSpc>
                <a:spcPts val="1013"/>
              </a:lnSpc>
              <a:buNone/>
            </a:pPr>
            <a:r>
              <a:rPr lang="en-US" sz="675" dirty="0">
                <a:solidFill>
                  <a:srgbClr val="FDA4AF"/>
                </a:solidFill>
                <a:latin typeface="Carlito" pitchFamily="34" charset="0"/>
                <a:ea typeface="Carlito" pitchFamily="34" charset="-122"/>
                <a:cs typeface="Carlito" pitchFamily="34" charset="-120"/>
              </a:rPr>
              <a:t>⚠️ El usuario no sabe si lo anterior se guardó</a:t>
            </a:r>
            <a:endParaRPr lang="en-US" sz="675" dirty="0"/>
          </a:p>
        </p:txBody>
      </p:sp>
      <p:sp>
        <p:nvSpPr>
          <p:cNvPr id="21" name="Text 19"/>
          <p:cNvSpPr/>
          <p:nvPr/>
        </p:nvSpPr>
        <p:spPr>
          <a:xfrm>
            <a:off x="6065490" y="1497285"/>
            <a:ext cx="114300" cy="114300"/>
          </a:xfrm>
          <a:prstGeom prst="rect">
            <a:avLst/>
          </a:prstGeom>
          <a:noFill/>
          <a:ln/>
        </p:spPr>
        <p:txBody>
          <a:bodyPr wrap="none" lIns="0" tIns="0" rIns="0" bIns="0" rtlCol="0" anchor="ctr"/>
          <a:lstStyle/>
          <a:p>
            <a:pPr algn="ctr" indent="0" marL="0">
              <a:buNone/>
            </a:pPr>
            <a:r>
              <a:rPr lang="en-US" sz="1125" dirty="0">
                <a:solidFill>
                  <a:srgbClr val="6EE7B7"/>
                </a:solidFill>
                <a:latin typeface="Segoe UI Symbol" pitchFamily="34" charset="0"/>
                <a:ea typeface="Segoe UI Symbol" pitchFamily="34" charset="-122"/>
                <a:cs typeface="Segoe UI Symbol" pitchFamily="34" charset="-120"/>
              </a:rPr>
              <a:t>✓</a:t>
            </a:r>
            <a:endParaRPr lang="en-US" sz="1125" dirty="0"/>
          </a:p>
        </p:txBody>
      </p:sp>
      <p:sp>
        <p:nvSpPr>
          <p:cNvPr id="22" name="Text 20"/>
          <p:cNvSpPr/>
          <p:nvPr/>
        </p:nvSpPr>
        <p:spPr>
          <a:xfrm>
            <a:off x="6236940" y="1490142"/>
            <a:ext cx="1334689" cy="164592"/>
          </a:xfrm>
          <a:prstGeom prst="rect">
            <a:avLst/>
          </a:prstGeom>
          <a:noFill/>
          <a:ln/>
        </p:spPr>
        <p:txBody>
          <a:bodyPr wrap="none" lIns="0" tIns="0" rIns="0" bIns="0" rtlCol="0" anchor="t"/>
          <a:lstStyle/>
          <a:p>
            <a:pPr algn="l" indent="0" marL="0">
              <a:lnSpc>
                <a:spcPts val="1013"/>
              </a:lnSpc>
              <a:buNone/>
            </a:pPr>
            <a:r>
              <a:rPr lang="en-US" sz="800" b="1" spc="34" kern="0" dirty="0">
                <a:solidFill>
                  <a:srgbClr val="6EE7B7"/>
                </a:solidFill>
                <a:latin typeface="Carlito" pitchFamily="34" charset="0"/>
                <a:ea typeface="Carlito" pitchFamily="34" charset="-122"/>
                <a:cs typeface="Carlito" pitchFamily="34" charset="-120"/>
              </a:rPr>
              <a:t>DESPUÉS (PROPUESTA)</a:t>
            </a:r>
            <a:endParaRPr lang="en-US" sz="800" dirty="0"/>
          </a:p>
        </p:txBody>
      </p:sp>
      <p:sp>
        <p:nvSpPr>
          <p:cNvPr id="23" name="Text 21"/>
          <p:cNvSpPr/>
          <p:nvPr/>
        </p:nvSpPr>
        <p:spPr>
          <a:xfrm>
            <a:off x="5986463" y="1704454"/>
            <a:ext cx="1428750" cy="2000250"/>
          </a:xfrm>
          <a:prstGeom prst="roundRect">
            <a:avLst>
              <a:gd name="adj" fmla="val 16000"/>
            </a:avLst>
          </a:prstGeom>
          <a:solidFill>
            <a:srgbClr val="453F6A"/>
          </a:solidFill>
          <a:ln/>
          <a:effectLst>
            <a:outerShdw sx="100000" sy="100000" kx="0" ky="0" algn="bl" rotWithShape="0" blurRad="266700" dist="114300" dir="5400000">
              <a:srgbClr val="000000">
                <a:alpha val="45000"/>
              </a:srgbClr>
            </a:outerShdw>
          </a:effectLst>
        </p:spPr>
        <p:txBody>
          <a:bodyPr wrap="square" rtlCol="0" anchor="ctr"/>
          <a:lstStyle/>
          <a:p>
            <a:pPr indent="0" marL="0">
              <a:buNone/>
            </a:pPr>
            <a:endParaRPr lang="en-US" dirty="0"/>
          </a:p>
        </p:txBody>
      </p:sp>
      <p:sp>
        <p:nvSpPr>
          <p:cNvPr id="24" name="Text 22"/>
          <p:cNvSpPr/>
          <p:nvPr/>
        </p:nvSpPr>
        <p:spPr>
          <a:xfrm>
            <a:off x="6072188" y="1856259"/>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25" name="Text 23"/>
          <p:cNvSpPr/>
          <p:nvPr/>
        </p:nvSpPr>
        <p:spPr>
          <a:xfrm>
            <a:off x="6215063" y="1847329"/>
            <a:ext cx="1114425" cy="164592"/>
          </a:xfrm>
          <a:prstGeom prst="rect">
            <a:avLst/>
          </a:prstGeom>
          <a:noFill/>
          <a:ln/>
        </p:spPr>
        <p:txBody>
          <a:bodyPr wrap="none" lIns="0" tIns="0" rIns="0" bIns="0" rtlCol="0" anchor="t"/>
          <a:lstStyle/>
          <a:p>
            <a:pPr algn="l" indent="0" marL="0">
              <a:lnSpc>
                <a:spcPts val="928"/>
              </a:lnSpc>
              <a:buNone/>
            </a:pPr>
            <a:r>
              <a:rPr lang="en-US" sz="800" dirty="0">
                <a:solidFill>
                  <a:srgbClr val="FFFFFF">
                    <a:alpha val="85000"/>
                  </a:srgbClr>
                </a:solidFill>
                <a:latin typeface="Carlito" pitchFamily="34" charset="0"/>
                <a:ea typeface="Carlito" pitchFamily="34" charset="-122"/>
                <a:cs typeface="Carlito" pitchFamily="34" charset="-120"/>
              </a:rPr>
              <a:t>Koru</a:t>
            </a:r>
            <a:endParaRPr lang="en-US" sz="800" dirty="0"/>
          </a:p>
        </p:txBody>
      </p:sp>
      <p:sp>
        <p:nvSpPr>
          <p:cNvPr id="26" name="Text 24"/>
          <p:cNvSpPr/>
          <p:nvPr/>
        </p:nvSpPr>
        <p:spPr>
          <a:xfrm>
            <a:off x="6075759" y="2018779"/>
            <a:ext cx="1250156" cy="245566"/>
          </a:xfrm>
          <a:prstGeom prst="roundRect">
            <a:avLst>
              <a:gd name="adj" fmla="val 3874916"/>
            </a:avLst>
          </a:prstGeom>
          <a:solidFill>
            <a:srgbClr val="8363F9">
              <a:alpha val="20000"/>
            </a:srgbClr>
          </a:solidFill>
          <a:ln w="7144">
            <a:solidFill>
              <a:srgbClr val="8363F9"/>
            </a:solidFill>
            <a:prstDash val="solid"/>
          </a:ln>
        </p:spPr>
        <p:txBody>
          <a:bodyPr wrap="square" rtlCol="0" anchor="ctr"/>
          <a:lstStyle/>
          <a:p>
            <a:pPr indent="0" marL="0">
              <a:buNone/>
            </a:pPr>
            <a:endParaRPr lang="en-US" dirty="0"/>
          </a:p>
        </p:txBody>
      </p:sp>
      <p:sp>
        <p:nvSpPr>
          <p:cNvPr id="27" name="Text 25"/>
          <p:cNvSpPr/>
          <p:nvPr/>
        </p:nvSpPr>
        <p:spPr>
          <a:xfrm>
            <a:off x="6072188" y="2015207"/>
            <a:ext cx="1257300" cy="275284"/>
          </a:xfrm>
          <a:prstGeom prst="rect">
            <a:avLst/>
          </a:prstGeom>
          <a:noFill/>
          <a:ln/>
        </p:spPr>
        <p:txBody>
          <a:bodyPr wrap="square" lIns="57150" tIns="35719" rIns="57150" bIns="35719" rtlCol="0" anchor="t">
            <a:normAutofit/>
          </a:bodyPr>
          <a:lstStyle/>
          <a:p>
            <a:pPr algn="ctr" indent="0" marL="0">
              <a:lnSpc>
                <a:spcPts val="658"/>
              </a:lnSpc>
              <a:buNone/>
            </a:pPr>
            <a:r>
              <a:rPr lang="en-US" sz="800" dirty="0">
                <a:solidFill>
                  <a:srgbClr val="C9B8FF"/>
                </a:solidFill>
                <a:latin typeface="Carlito" pitchFamily="34" charset="0"/>
                <a:ea typeface="Carlito" pitchFamily="34" charset="-122"/>
                <a:cs typeface="Carlito" pitchFamily="34" charset="-120"/>
              </a:rPr>
              <a:t>← Charla anterior sobre: España 2-1 Bélgica</a:t>
            </a:r>
            <a:endParaRPr lang="en-US" sz="800" dirty="0"/>
          </a:p>
        </p:txBody>
      </p:sp>
      <p:sp>
        <p:nvSpPr>
          <p:cNvPr id="28" name="Text 26"/>
          <p:cNvSpPr/>
          <p:nvPr/>
        </p:nvSpPr>
        <p:spPr>
          <a:xfrm>
            <a:off x="6496593" y="2307208"/>
            <a:ext cx="855754" cy="200025"/>
          </a:xfrm>
          <a:prstGeom prst="roundRect">
            <a:avLst>
              <a:gd name="adj" fmla="val 57143"/>
            </a:avLst>
          </a:prstGeom>
          <a:solidFill>
            <a:srgbClr val="6E62A8"/>
          </a:solidFill>
          <a:ln/>
        </p:spPr>
        <p:txBody>
          <a:bodyPr wrap="square" rtlCol="0" anchor="ctr"/>
          <a:lstStyle/>
          <a:p>
            <a:pPr indent="0" marL="0">
              <a:buNone/>
            </a:pPr>
            <a:endParaRPr lang="en-US" dirty="0"/>
          </a:p>
        </p:txBody>
      </p:sp>
      <p:sp>
        <p:nvSpPr>
          <p:cNvPr id="29" name="Text 27"/>
          <p:cNvSpPr/>
          <p:nvPr/>
        </p:nvSpPr>
        <p:spPr>
          <a:xfrm>
            <a:off x="6519453" y="2317924"/>
            <a:ext cx="810034" cy="178594"/>
          </a:xfrm>
          <a:prstGeom prst="rect">
            <a:avLst/>
          </a:prstGeom>
          <a:noFill/>
          <a:ln/>
        </p:spPr>
        <p:txBody>
          <a:bodyPr wrap="square" lIns="0" tIns="0" rIns="0" bIns="0" rtlCol="0" anchor="ctr"/>
          <a:lstStyle/>
          <a:p>
            <a:pPr algn="ctr" indent="0" marL="0">
              <a:lnSpc>
                <a:spcPts val="731"/>
              </a:lnSpc>
              <a:buNone/>
            </a:pPr>
            <a:r>
              <a:rPr lang="en-US" sz="800" dirty="0">
                <a:solidFill>
                  <a:srgbClr val="FFFFFF"/>
                </a:solidFill>
                <a:latin typeface="Carlito" pitchFamily="34" charset="0"/>
                <a:ea typeface="Carlito" pitchFamily="34" charset="-122"/>
                <a:cs typeface="Carlito" pitchFamily="34" charset="-120"/>
              </a:rPr>
              <a:t>¿cómo está el dólar?</a:t>
            </a:r>
            <a:endParaRPr lang="en-US" sz="800" dirty="0"/>
          </a:p>
        </p:txBody>
      </p:sp>
      <p:sp>
        <p:nvSpPr>
          <p:cNvPr id="30" name="Text 28"/>
          <p:cNvSpPr/>
          <p:nvPr/>
        </p:nvSpPr>
        <p:spPr>
          <a:xfrm>
            <a:off x="6050743" y="2535808"/>
            <a:ext cx="579005" cy="200025"/>
          </a:xfrm>
          <a:prstGeom prst="roundRect">
            <a:avLst>
              <a:gd name="adj" fmla="val 57143"/>
            </a:avLst>
          </a:prstGeom>
          <a:solidFill>
            <a:srgbClr val="FFFFFF">
              <a:alpha val="94000"/>
            </a:srgbClr>
          </a:solidFill>
          <a:ln/>
        </p:spPr>
        <p:txBody>
          <a:bodyPr wrap="square" rtlCol="0" anchor="ctr"/>
          <a:lstStyle/>
          <a:p>
            <a:pPr indent="0" marL="0">
              <a:buNone/>
            </a:pPr>
            <a:endParaRPr lang="en-US" dirty="0"/>
          </a:p>
        </p:txBody>
      </p:sp>
      <p:sp>
        <p:nvSpPr>
          <p:cNvPr id="31" name="Text 29"/>
          <p:cNvSpPr/>
          <p:nvPr/>
        </p:nvSpPr>
        <p:spPr>
          <a:xfrm>
            <a:off x="6072188" y="2546524"/>
            <a:ext cx="536116" cy="178594"/>
          </a:xfrm>
          <a:prstGeom prst="rect">
            <a:avLst/>
          </a:prstGeom>
          <a:noFill/>
          <a:ln/>
        </p:spPr>
        <p:txBody>
          <a:bodyPr wrap="none" lIns="0" tIns="0" rIns="0" bIns="0" rtlCol="0" anchor="ctr"/>
          <a:lstStyle/>
          <a:p>
            <a:pPr algn="ctr" indent="0" marL="0">
              <a:lnSpc>
                <a:spcPts val="731"/>
              </a:lnSpc>
              <a:buNone/>
            </a:pPr>
            <a:r>
              <a:rPr lang="en-US" sz="800" dirty="0">
                <a:solidFill>
                  <a:srgbClr val="2A2150"/>
                </a:solidFill>
                <a:latin typeface="Carlito" pitchFamily="34" charset="0"/>
                <a:ea typeface="Carlito" pitchFamily="34" charset="-122"/>
                <a:cs typeface="Carlito" pitchFamily="34" charset="-120"/>
              </a:rPr>
              <a:t>Acá lo tenés</a:t>
            </a:r>
            <a:endParaRPr lang="en-US" sz="800" dirty="0"/>
          </a:p>
        </p:txBody>
      </p:sp>
      <p:sp>
        <p:nvSpPr>
          <p:cNvPr id="32" name="Text 30"/>
          <p:cNvSpPr/>
          <p:nvPr/>
        </p:nvSpPr>
        <p:spPr>
          <a:xfrm>
            <a:off x="6049328" y="2763551"/>
            <a:ext cx="1076652" cy="216027"/>
          </a:xfrm>
          <a:prstGeom prst="roundRect">
            <a:avLst>
              <a:gd name="adj" fmla="val 35273"/>
            </a:avLst>
          </a:prstGeom>
          <a:solidFill>
            <a:srgbClr val="8363F9">
              <a:alpha val="25000"/>
            </a:srgbClr>
          </a:solidFill>
          <a:ln w="7144">
            <a:solidFill>
              <a:srgbClr val="8363F9"/>
            </a:solidFill>
            <a:prstDash val="solid"/>
          </a:ln>
        </p:spPr>
        <p:txBody>
          <a:bodyPr wrap="square" rtlCol="0" anchor="ctr"/>
          <a:lstStyle/>
          <a:p>
            <a:pPr indent="0" marL="0">
              <a:buNone/>
            </a:pPr>
            <a:endParaRPr lang="en-US" dirty="0"/>
          </a:p>
        </p:txBody>
      </p:sp>
      <p:sp>
        <p:nvSpPr>
          <p:cNvPr id="33" name="Text 31"/>
          <p:cNvSpPr/>
          <p:nvPr/>
        </p:nvSpPr>
        <p:spPr>
          <a:xfrm>
            <a:off x="6136481" y="2825130"/>
            <a:ext cx="92869" cy="92869"/>
          </a:xfrm>
          <a:prstGeom prst="rect">
            <a:avLst/>
          </a:prstGeom>
          <a:noFill/>
          <a:ln/>
        </p:spPr>
        <p:txBody>
          <a:bodyPr wrap="none" lIns="0" tIns="0" rIns="0" bIns="0" rtlCol="0" anchor="ctr"/>
          <a:lstStyle/>
          <a:p>
            <a:pPr algn="ctr" indent="0" marL="0">
              <a:buNone/>
            </a:pPr>
            <a:r>
              <a:rPr lang="en-US" sz="914" dirty="0">
                <a:solidFill>
                  <a:srgbClr val="6EE7B7"/>
                </a:solidFill>
                <a:latin typeface="Segoe UI Symbol" pitchFamily="34" charset="0"/>
                <a:ea typeface="Segoe UI Symbol" pitchFamily="34" charset="-122"/>
                <a:cs typeface="Segoe UI Symbol" pitchFamily="34" charset="-120"/>
              </a:rPr>
              <a:t>$</a:t>
            </a:r>
            <a:endParaRPr lang="en-US" sz="914" dirty="0"/>
          </a:p>
        </p:txBody>
      </p:sp>
      <p:sp>
        <p:nvSpPr>
          <p:cNvPr id="34" name="Text 32"/>
          <p:cNvSpPr/>
          <p:nvPr/>
        </p:nvSpPr>
        <p:spPr>
          <a:xfrm>
            <a:off x="6265069" y="2829818"/>
            <a:ext cx="773757" cy="91440"/>
          </a:xfrm>
          <a:prstGeom prst="rect">
            <a:avLst/>
          </a:prstGeom>
          <a:noFill/>
          <a:ln/>
        </p:spPr>
        <p:txBody>
          <a:bodyPr wrap="square" lIns="0" tIns="0" rIns="0" bIns="0" rtlCol="0" anchor="t"/>
          <a:lstStyle/>
          <a:p>
            <a:pPr algn="l" indent="0" marL="0">
              <a:lnSpc>
                <a:spcPts val="658"/>
              </a:lnSpc>
              <a:buNone/>
            </a:pPr>
            <a:r>
              <a:rPr lang="en-US" sz="600" dirty="0">
                <a:solidFill>
                  <a:srgbClr val="F0EAFF"/>
                </a:solidFill>
                <a:latin typeface="Liberation Sans Narrow" pitchFamily="34" charset="0"/>
                <a:ea typeface="Liberation Sans Narrow" pitchFamily="34" charset="-122"/>
                <a:cs typeface="Liberation Sans Narrow" pitchFamily="34" charset="-120"/>
              </a:rPr>
              <a:t>Dólar blue: $1,045</a:t>
            </a:r>
            <a:endParaRPr lang="en-US" sz="600" dirty="0"/>
          </a:p>
        </p:txBody>
      </p:sp>
      <p:sp>
        <p:nvSpPr>
          <p:cNvPr id="35" name="Text 33"/>
          <p:cNvSpPr/>
          <p:nvPr/>
        </p:nvSpPr>
        <p:spPr>
          <a:xfrm>
            <a:off x="5792608" y="3790429"/>
            <a:ext cx="1816459" cy="164592"/>
          </a:xfrm>
          <a:prstGeom prst="rect">
            <a:avLst/>
          </a:prstGeom>
          <a:noFill/>
          <a:ln/>
        </p:spPr>
        <p:txBody>
          <a:bodyPr wrap="square" lIns="0" tIns="0" rIns="0" bIns="0" rtlCol="0" anchor="t"/>
          <a:lstStyle/>
          <a:p>
            <a:pPr algn="ctr" indent="0" marL="0">
              <a:lnSpc>
                <a:spcPts val="1013"/>
              </a:lnSpc>
              <a:buNone/>
            </a:pPr>
            <a:r>
              <a:rPr lang="en-US" sz="675" dirty="0">
                <a:solidFill>
                  <a:srgbClr val="6EE7B7"/>
                </a:solidFill>
                <a:latin typeface="Carlito" pitchFamily="34" charset="0"/>
                <a:ea typeface="Carlito" pitchFamily="34" charset="-122"/>
                <a:cs typeface="Carlito" pitchFamily="34" charset="-120"/>
              </a:rPr>
              <a:t>✓ Indicador sutil: lo anterior vive en Historial</a:t>
            </a:r>
            <a:endParaRPr lang="en-US" sz="675" dirty="0"/>
          </a:p>
        </p:txBody>
      </p:sp>
      <p:sp>
        <p:nvSpPr>
          <p:cNvPr id="36" name="Text 34"/>
          <p:cNvSpPr/>
          <p:nvPr/>
        </p:nvSpPr>
        <p:spPr>
          <a:xfrm>
            <a:off x="460772" y="4036888"/>
            <a:ext cx="8222456" cy="321469"/>
          </a:xfrm>
          <a:prstGeom prst="roundRect">
            <a:avLst>
              <a:gd name="adj" fmla="val 35556"/>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37" name="Text 35"/>
          <p:cNvSpPr/>
          <p:nvPr/>
        </p:nvSpPr>
        <p:spPr>
          <a:xfrm>
            <a:off x="607219" y="4126185"/>
            <a:ext cx="142875" cy="142875"/>
          </a:xfrm>
          <a:prstGeom prst="rect">
            <a:avLst/>
          </a:prstGeom>
          <a:noFill/>
          <a:ln/>
        </p:spPr>
        <p:txBody>
          <a:bodyPr wrap="none" lIns="0" tIns="0" rIns="0" bIns="0" rtlCol="0" anchor="ctr"/>
          <a:lstStyle/>
          <a:p>
            <a:pPr algn="ctr" indent="0" marL="0">
              <a:buNone/>
            </a:pPr>
            <a:r>
              <a:rPr lang="en-US" sz="1406" dirty="0">
                <a:solidFill>
                  <a:srgbClr val="8363F9"/>
                </a:solidFill>
                <a:latin typeface="Segoe UI Symbol" pitchFamily="34" charset="0"/>
                <a:ea typeface="Segoe UI Symbol" pitchFamily="34" charset="-122"/>
                <a:cs typeface="Segoe UI Symbol" pitchFamily="34" charset="-120"/>
              </a:rPr>
              <a:t>◆</a:t>
            </a:r>
            <a:endParaRPr lang="en-US" sz="1406" dirty="0"/>
          </a:p>
        </p:txBody>
      </p:sp>
      <p:sp>
        <p:nvSpPr>
          <p:cNvPr id="38" name="Text 36"/>
          <p:cNvSpPr/>
          <p:nvPr/>
        </p:nvSpPr>
        <p:spPr>
          <a:xfrm>
            <a:off x="835819" y="4126185"/>
            <a:ext cx="7700963" cy="142875"/>
          </a:xfrm>
          <a:prstGeom prst="rect">
            <a:avLst/>
          </a:prstGeom>
          <a:noFill/>
          <a:ln/>
        </p:spPr>
        <p:txBody>
          <a:bodyPr wrap="square" lIns="0" tIns="0" rIns="0" bIns="0" rtlCol="0" anchor="t"/>
          <a:lstStyle/>
          <a:p>
            <a:pPr algn="l" indent="0" marL="0">
              <a:lnSpc>
                <a:spcPts val="1046"/>
              </a:lnSpc>
              <a:buNone/>
            </a:pPr>
            <a:r>
              <a:rPr lang="en-US" sz="800" dirty="0">
                <a:solidFill>
                  <a:srgbClr val="B8A8E0"/>
                </a:solidFill>
                <a:latin typeface="Carlito" pitchFamily="34" charset="0"/>
                <a:ea typeface="Carlito" pitchFamily="34" charset="-122"/>
                <a:cs typeface="Carlito" pitchFamily="34" charset="-120"/>
              </a:rPr>
              <a:t>El indicador es no-intrusivo: un pill arriba que dice de qué hablaron antes. Tap = abre Historial.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6572250" y="-1428750"/>
            <a:ext cx="3429000" cy="3429000"/>
          </a:xfrm>
          <a:prstGeom prst="ellipse">
            <a:avLst/>
          </a:prstGeom>
          <a:solidFill>
            <a:srgbClr val="6EE7B7">
              <a:alpha val="10000"/>
            </a:srgbClr>
          </a:solidFill>
          <a:ln/>
        </p:spPr>
        <p:txBody>
          <a:bodyPr wrap="square" rtlCol="0" anchor="ctr"/>
          <a:lstStyle/>
          <a:p>
            <a:pPr indent="0" marL="0">
              <a:buNone/>
            </a:pPr>
            <a:endParaRPr lang="en-US" dirty="0"/>
          </a:p>
        </p:txBody>
      </p:sp>
      <p:sp>
        <p:nvSpPr>
          <p:cNvPr id="3" name="Text 1"/>
          <p:cNvSpPr/>
          <p:nvPr/>
        </p:nvSpPr>
        <p:spPr>
          <a:xfrm>
            <a:off x="-714375" y="3714750"/>
            <a:ext cx="2571750" cy="2571750"/>
          </a:xfrm>
          <a:prstGeom prst="ellipse">
            <a:avLst/>
          </a:prstGeom>
          <a:solidFill>
            <a:srgbClr val="FBBF24">
              <a:alpha val="8000"/>
            </a:srgbClr>
          </a:solidFill>
          <a:ln/>
        </p:spPr>
        <p:txBody>
          <a:bodyPr wrap="square" rtlCol="0" anchor="ctr"/>
          <a:lstStyle/>
          <a:p>
            <a:pPr indent="0" marL="0">
              <a:buNone/>
            </a:pPr>
            <a:endParaRPr lang="en-US" dirty="0"/>
          </a:p>
        </p:txBody>
      </p:sp>
      <p:sp>
        <p:nvSpPr>
          <p:cNvPr id="4" name="Text 2"/>
          <p:cNvSpPr/>
          <p:nvPr/>
        </p:nvSpPr>
        <p:spPr>
          <a:xfrm>
            <a:off x="457200" y="342900"/>
            <a:ext cx="8636000" cy="296193"/>
          </a:xfrm>
          <a:prstGeom prst="rect">
            <a:avLst/>
          </a:prstGeom>
          <a:noFill/>
          <a:ln/>
        </p:spPr>
        <p:txBody>
          <a:bodyPr wrap="none" lIns="0" tIns="0" rIns="0" bIns="0" rtlCol="0" anchor="t"/>
          <a:lstStyle/>
          <a:p>
            <a:pPr algn="l" indent="0" marL="0">
              <a:lnSpc>
                <a:spcPts val="2160"/>
              </a:lnSpc>
              <a:buNone/>
            </a:pPr>
            <a:r>
              <a:rPr lang="en-US" sz="1800" b="1" spc="-45" kern="0" dirty="0">
                <a:solidFill>
                  <a:srgbClr val="F0EAFF"/>
                </a:solidFill>
                <a:latin typeface="Carlito" pitchFamily="34" charset="0"/>
                <a:ea typeface="Carlito" pitchFamily="34" charset="-122"/>
                <a:cs typeface="Carlito" pitchFamily="34" charset="-120"/>
              </a:rPr>
              <a:t>Roadmap priorizado</a:t>
            </a:r>
            <a:endParaRPr lang="en-US" sz="1800" dirty="0"/>
          </a:p>
        </p:txBody>
      </p:sp>
      <p:sp>
        <p:nvSpPr>
          <p:cNvPr id="5" name="Text 3"/>
          <p:cNvSpPr/>
          <p:nvPr/>
        </p:nvSpPr>
        <p:spPr>
          <a:xfrm>
            <a:off x="457200" y="674303"/>
            <a:ext cx="8636000" cy="173593"/>
          </a:xfrm>
          <a:prstGeom prst="rect">
            <a:avLst/>
          </a:prstGeom>
          <a:noFill/>
          <a:ln/>
        </p:spPr>
        <p:txBody>
          <a:bodyPr wrap="square" lIns="0" tIns="0" rIns="0" bIns="0" rtlCol="0" anchor="t"/>
          <a:lstStyle/>
          <a:p>
            <a:pPr algn="l" indent="0" marL="0">
              <a:lnSpc>
                <a:spcPts val="1266"/>
              </a:lnSpc>
              <a:buNone/>
            </a:pPr>
            <a:r>
              <a:rPr lang="en-US" sz="844" dirty="0">
                <a:solidFill>
                  <a:srgbClr val="B8A8E0"/>
                </a:solidFill>
                <a:latin typeface="Carlito" pitchFamily="34" charset="0"/>
                <a:ea typeface="Carlito" pitchFamily="34" charset="-122"/>
                <a:cs typeface="Carlito" pitchFamily="34" charset="-120"/>
              </a:rPr>
              <a:t>Ordenado por impacto × esfuerzo</a:t>
            </a:r>
            <a:endParaRPr lang="en-US" sz="844" dirty="0"/>
          </a:p>
        </p:txBody>
      </p:sp>
      <p:sp>
        <p:nvSpPr>
          <p:cNvPr id="6" name="Text 4"/>
          <p:cNvSpPr/>
          <p:nvPr/>
        </p:nvSpPr>
        <p:spPr>
          <a:xfrm>
            <a:off x="460772" y="1010059"/>
            <a:ext cx="2640732" cy="3278981"/>
          </a:xfrm>
          <a:prstGeom prst="roundRect">
            <a:avLst>
              <a:gd name="adj" fmla="val 7214"/>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7" name="Text 5"/>
          <p:cNvSpPr/>
          <p:nvPr/>
        </p:nvSpPr>
        <p:spPr>
          <a:xfrm>
            <a:off x="598646" y="1160292"/>
            <a:ext cx="708191" cy="196025"/>
          </a:xfrm>
          <a:prstGeom prst="roundRect">
            <a:avLst>
              <a:gd name="adj" fmla="val 4854215"/>
            </a:avLst>
          </a:prstGeom>
          <a:solidFill>
            <a:srgbClr val="6EE7B7">
              <a:alpha val="15000"/>
            </a:srgbClr>
          </a:solidFill>
          <a:ln/>
        </p:spPr>
        <p:txBody>
          <a:bodyPr wrap="square" rtlCol="0" anchor="ctr"/>
          <a:lstStyle/>
          <a:p>
            <a:pPr indent="0" marL="0">
              <a:buNone/>
            </a:pPr>
            <a:endParaRPr lang="en-US" dirty="0"/>
          </a:p>
        </p:txBody>
      </p:sp>
      <p:sp>
        <p:nvSpPr>
          <p:cNvPr id="8" name="Text 6"/>
          <p:cNvSpPr/>
          <p:nvPr/>
        </p:nvSpPr>
        <p:spPr>
          <a:xfrm>
            <a:off x="583690" y="1170794"/>
            <a:ext cx="738104"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6EE7B7"/>
                </a:solidFill>
                <a:latin typeface="Carlito" pitchFamily="34" charset="0"/>
                <a:ea typeface="Carlito" pitchFamily="34" charset="-122"/>
                <a:cs typeface="Carlito" pitchFamily="34" charset="-120"/>
              </a:rPr>
              <a:t>QUICK WINS</a:t>
            </a:r>
            <a:endParaRPr lang="en-US" sz="800" dirty="0"/>
          </a:p>
        </p:txBody>
      </p:sp>
      <p:sp>
        <p:nvSpPr>
          <p:cNvPr id="9" name="Text 7"/>
          <p:cNvSpPr/>
          <p:nvPr/>
        </p:nvSpPr>
        <p:spPr>
          <a:xfrm>
            <a:off x="2783607" y="1179723"/>
            <a:ext cx="157163" cy="157163"/>
          </a:xfrm>
          <a:prstGeom prst="rect">
            <a:avLst/>
          </a:prstGeom>
          <a:noFill/>
          <a:ln/>
        </p:spPr>
        <p:txBody>
          <a:bodyPr wrap="none" lIns="0" tIns="0" rIns="0" bIns="0" rtlCol="0" anchor="ctr"/>
          <a:lstStyle/>
          <a:p>
            <a:pPr algn="ctr" indent="0" marL="0">
              <a:buNone/>
            </a:pPr>
            <a:r>
              <a:rPr lang="en-US" sz="1547" dirty="0">
                <a:solidFill>
                  <a:srgbClr val="6EE7B7"/>
                </a:solidFill>
                <a:latin typeface="Segoe UI Symbol" pitchFamily="34" charset="0"/>
                <a:ea typeface="Segoe UI Symbol" pitchFamily="34" charset="-122"/>
                <a:cs typeface="Segoe UI Symbol" pitchFamily="34" charset="-120"/>
              </a:rPr>
              <a:t>⚡</a:t>
            </a:r>
            <a:endParaRPr lang="en-US" sz="1547" dirty="0"/>
          </a:p>
        </p:txBody>
      </p:sp>
      <p:sp>
        <p:nvSpPr>
          <p:cNvPr id="10" name="Text 8"/>
          <p:cNvSpPr/>
          <p:nvPr/>
        </p:nvSpPr>
        <p:spPr>
          <a:xfrm>
            <a:off x="621506" y="1445828"/>
            <a:ext cx="2319263" cy="164592"/>
          </a:xfrm>
          <a:prstGeom prst="rect">
            <a:avLst/>
          </a:prstGeom>
          <a:noFill/>
          <a:ln/>
        </p:spPr>
        <p:txBody>
          <a:bodyPr wrap="none" lIns="0" tIns="0" rIns="0" bIns="0" rtlCol="0" anchor="t"/>
          <a:lstStyle/>
          <a:p>
            <a:pPr algn="l" indent="0" marL="0">
              <a:lnSpc>
                <a:spcPts val="1181"/>
              </a:lnSpc>
              <a:buNone/>
            </a:pPr>
            <a:r>
              <a:rPr lang="en-US" sz="800" b="1" spc="39" kern="0" dirty="0">
                <a:solidFill>
                  <a:srgbClr val="6EE7B7"/>
                </a:solidFill>
                <a:latin typeface="Liberation Sans Narrow" pitchFamily="34" charset="0"/>
                <a:ea typeface="Liberation Sans Narrow" pitchFamily="34" charset="-122"/>
                <a:cs typeface="Liberation Sans Narrow" pitchFamily="34" charset="-120"/>
              </a:rPr>
              <a:t>QUICK WINS · 1-2 DÍAS</a:t>
            </a:r>
            <a:endParaRPr lang="en-US" sz="800" dirty="0"/>
          </a:p>
        </p:txBody>
      </p:sp>
      <p:pic>
        <p:nvPicPr>
          <p:cNvPr id="11" name="Image 0" descr="preencoded.png">    </p:cNvPr>
          <p:cNvPicPr>
            <a:picLocks noChangeAspect="1"/>
          </p:cNvPicPr>
          <p:nvPr/>
        </p:nvPicPr>
        <p:blipFill>
          <a:blip r:embed="rId1"/>
          <a:stretch>
            <a:fillRect/>
          </a:stretch>
        </p:blipFill>
        <p:spPr>
          <a:xfrm>
            <a:off x="621506" y="1695859"/>
            <a:ext cx="2319263" cy="7144"/>
          </a:xfrm>
          <a:prstGeom prst="rect">
            <a:avLst/>
          </a:prstGeom>
        </p:spPr>
      </p:pic>
      <p:sp>
        <p:nvSpPr>
          <p:cNvPr id="12" name="Text 9"/>
          <p:cNvSpPr/>
          <p:nvPr/>
        </p:nvSpPr>
        <p:spPr>
          <a:xfrm>
            <a:off x="621506" y="1803016"/>
            <a:ext cx="228600" cy="228600"/>
          </a:xfrm>
          <a:prstGeom prst="roundRect">
            <a:avLst>
              <a:gd name="adj" fmla="val 33333"/>
            </a:avLst>
          </a:prstGeom>
          <a:solidFill>
            <a:srgbClr val="6EE7B7">
              <a:alpha val="18000"/>
            </a:srgbClr>
          </a:solidFill>
          <a:ln/>
        </p:spPr>
        <p:txBody>
          <a:bodyPr wrap="square" rtlCol="0" anchor="ctr"/>
          <a:lstStyle/>
          <a:p>
            <a:pPr indent="0" marL="0">
              <a:buNone/>
            </a:pPr>
            <a:endParaRPr lang="en-US" dirty="0"/>
          </a:p>
        </p:txBody>
      </p:sp>
      <p:sp>
        <p:nvSpPr>
          <p:cNvPr id="13" name="Text 10"/>
          <p:cNvSpPr/>
          <p:nvPr/>
        </p:nvSpPr>
        <p:spPr>
          <a:xfrm>
            <a:off x="642580" y="1824090"/>
            <a:ext cx="186452" cy="186452"/>
          </a:xfrm>
          <a:prstGeom prst="rect">
            <a:avLst/>
          </a:prstGeom>
          <a:noFill/>
          <a:ln/>
        </p:spPr>
        <p:txBody>
          <a:bodyPr wrap="none" lIns="0" tIns="0" rIns="0" bIns="0" rtlCol="0" anchor="ctr"/>
          <a:lstStyle/>
          <a:p>
            <a:pPr algn="ctr" indent="0" marL="0">
              <a:buNone/>
            </a:pPr>
            <a:r>
              <a:rPr lang="en-US" sz="1266" dirty="0">
                <a:solidFill>
                  <a:srgbClr val="6EE7B7"/>
                </a:solidFill>
                <a:latin typeface="Segoe UI Symbol" pitchFamily="34" charset="0"/>
                <a:ea typeface="Segoe UI Symbol" pitchFamily="34" charset="-122"/>
                <a:cs typeface="Segoe UI Symbol" pitchFamily="34" charset="-120"/>
              </a:rPr>
              <a:t>⚡</a:t>
            </a:r>
            <a:endParaRPr lang="en-US" sz="1266" dirty="0"/>
          </a:p>
        </p:txBody>
      </p:sp>
      <p:sp>
        <p:nvSpPr>
          <p:cNvPr id="14" name="Text 11"/>
          <p:cNvSpPr/>
          <p:nvPr/>
        </p:nvSpPr>
        <p:spPr>
          <a:xfrm>
            <a:off x="935831" y="1803016"/>
            <a:ext cx="2004938" cy="123926"/>
          </a:xfrm>
          <a:prstGeom prst="rect">
            <a:avLst/>
          </a:prstGeom>
          <a:noFill/>
          <a:ln/>
        </p:spPr>
        <p:txBody>
          <a:bodyPr wrap="none" lIns="0" tIns="0" rIns="0" bIns="0" rtlCol="0" anchor="t">
            <a:normAutofit/>
          </a:bodyPr>
          <a:lstStyle/>
          <a:p>
            <a:pPr algn="l" indent="0" marL="0">
              <a:lnSpc>
                <a:spcPts val="1024"/>
              </a:lnSpc>
              <a:buNone/>
            </a:pPr>
            <a:r>
              <a:rPr lang="en-US" sz="800" dirty="0">
                <a:solidFill>
                  <a:srgbClr val="F0EAFF"/>
                </a:solidFill>
                <a:latin typeface="Carlito" pitchFamily="34" charset="0"/>
                <a:ea typeface="Carlito" pitchFamily="34" charset="-122"/>
                <a:cs typeface="Carlito" pitchFamily="34" charset="-120"/>
              </a:rPr>
              <a:t>Bottom nav en chat</a:t>
            </a:r>
            <a:endParaRPr lang="en-US" sz="800" dirty="0"/>
          </a:p>
        </p:txBody>
      </p:sp>
      <p:sp>
        <p:nvSpPr>
          <p:cNvPr id="15" name="Text 12"/>
          <p:cNvSpPr/>
          <p:nvPr/>
        </p:nvSpPr>
        <p:spPr>
          <a:xfrm>
            <a:off x="935831" y="1954374"/>
            <a:ext cx="2004938" cy="329184"/>
          </a:xfrm>
          <a:prstGeom prst="rect">
            <a:avLst/>
          </a:prstGeom>
          <a:noFill/>
          <a:ln/>
        </p:spPr>
        <p:txBody>
          <a:bodyPr wrap="square" lIns="0" tIns="0" rIns="0" bIns="0" rtlCol="0" anchor="t"/>
          <a:lstStyle/>
          <a:p>
            <a:pPr algn="l" indent="0" marL="0">
              <a:lnSpc>
                <a:spcPts val="1013"/>
              </a:lnSpc>
              <a:buNone/>
            </a:pPr>
            <a:r>
              <a:rPr lang="en-US" sz="800" dirty="0">
                <a:solidFill>
                  <a:srgbClr val="B8A8E0"/>
                </a:solidFill>
                <a:latin typeface="Carlito" pitchFamily="34" charset="0"/>
                <a:ea typeface="Carlito" pitchFamily="34" charset="-122"/>
                <a:cs typeface="Carlito" pitchFamily="34" charset="-120"/>
              </a:rPr>
              <a:t>Reutilizar BottomNav existente dentro de TalkOverlay</a:t>
            </a:r>
            <a:endParaRPr lang="en-US" sz="800" dirty="0"/>
          </a:p>
        </p:txBody>
      </p:sp>
      <p:sp>
        <p:nvSpPr>
          <p:cNvPr id="16" name="Text 13"/>
          <p:cNvSpPr/>
          <p:nvPr/>
        </p:nvSpPr>
        <p:spPr>
          <a:xfrm>
            <a:off x="621506" y="2325849"/>
            <a:ext cx="228600" cy="228600"/>
          </a:xfrm>
          <a:prstGeom prst="roundRect">
            <a:avLst>
              <a:gd name="adj" fmla="val 33333"/>
            </a:avLst>
          </a:prstGeom>
          <a:solidFill>
            <a:srgbClr val="6EE7B7">
              <a:alpha val="18000"/>
            </a:srgbClr>
          </a:solidFill>
          <a:ln/>
        </p:spPr>
        <p:txBody>
          <a:bodyPr wrap="square" rtlCol="0" anchor="ctr"/>
          <a:lstStyle/>
          <a:p>
            <a:pPr indent="0" marL="0">
              <a:buNone/>
            </a:pPr>
            <a:endParaRPr lang="en-US" dirty="0"/>
          </a:p>
        </p:txBody>
      </p:sp>
      <p:sp>
        <p:nvSpPr>
          <p:cNvPr id="17" name="Text 14"/>
          <p:cNvSpPr/>
          <p:nvPr/>
        </p:nvSpPr>
        <p:spPr>
          <a:xfrm>
            <a:off x="642580" y="2346923"/>
            <a:ext cx="186452" cy="186452"/>
          </a:xfrm>
          <a:prstGeom prst="rect">
            <a:avLst/>
          </a:prstGeom>
          <a:noFill/>
          <a:ln/>
        </p:spPr>
        <p:txBody>
          <a:bodyPr wrap="none" lIns="0" tIns="0" rIns="0" bIns="0" rtlCol="0" anchor="ctr"/>
          <a:lstStyle/>
          <a:p>
            <a:pPr algn="ctr" indent="0" marL="0">
              <a:buNone/>
            </a:pPr>
            <a:r>
              <a:rPr lang="en-US" sz="1266" dirty="0">
                <a:solidFill>
                  <a:srgbClr val="6EE7B7"/>
                </a:solidFill>
                <a:latin typeface="Segoe UI Symbol" pitchFamily="34" charset="0"/>
                <a:ea typeface="Segoe UI Symbol" pitchFamily="34" charset="-122"/>
                <a:cs typeface="Segoe UI Symbol" pitchFamily="34" charset="-120"/>
              </a:rPr>
              <a:t>⚡</a:t>
            </a:r>
            <a:endParaRPr lang="en-US" sz="1266" dirty="0"/>
          </a:p>
        </p:txBody>
      </p:sp>
      <p:sp>
        <p:nvSpPr>
          <p:cNvPr id="18" name="Text 15"/>
          <p:cNvSpPr/>
          <p:nvPr/>
        </p:nvSpPr>
        <p:spPr>
          <a:xfrm>
            <a:off x="935831" y="2325849"/>
            <a:ext cx="1153057" cy="123926"/>
          </a:xfrm>
          <a:prstGeom prst="rect">
            <a:avLst/>
          </a:prstGeom>
          <a:noFill/>
          <a:ln/>
        </p:spPr>
        <p:txBody>
          <a:bodyPr wrap="none" lIns="0" tIns="0" rIns="0" bIns="0" rtlCol="0" anchor="t">
            <a:normAutofit/>
          </a:bodyPr>
          <a:lstStyle/>
          <a:p>
            <a:pPr algn="l" indent="0" marL="0">
              <a:lnSpc>
                <a:spcPts val="1024"/>
              </a:lnSpc>
              <a:buNone/>
            </a:pPr>
            <a:r>
              <a:rPr lang="en-US" sz="788" dirty="0">
                <a:solidFill>
                  <a:srgbClr val="F0EAFF"/>
                </a:solidFill>
                <a:latin typeface="Carlito" pitchFamily="34" charset="0"/>
                <a:ea typeface="Carlito" pitchFamily="34" charset="-122"/>
                <a:cs typeface="Carlito" pitchFamily="34" charset="-120"/>
              </a:rPr>
              <a:t>Indicador de historial</a:t>
            </a:r>
            <a:endParaRPr lang="en-US" sz="788" dirty="0"/>
          </a:p>
        </p:txBody>
      </p:sp>
      <p:sp>
        <p:nvSpPr>
          <p:cNvPr id="19" name="Text 16"/>
          <p:cNvSpPr/>
          <p:nvPr/>
        </p:nvSpPr>
        <p:spPr>
          <a:xfrm>
            <a:off x="935831" y="2477207"/>
            <a:ext cx="1132092"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Carlito" pitchFamily="34" charset="0"/>
                <a:ea typeface="Carlito" pitchFamily="34" charset="-122"/>
                <a:cs typeface="Carlito" pitchFamily="34" charset="-120"/>
              </a:rPr>
              <a:t>Pill arriba con tema anterior</a:t>
            </a:r>
            <a:endParaRPr lang="en-US" sz="675" dirty="0"/>
          </a:p>
        </p:txBody>
      </p:sp>
      <p:sp>
        <p:nvSpPr>
          <p:cNvPr id="20" name="Text 17"/>
          <p:cNvSpPr/>
          <p:nvPr/>
        </p:nvSpPr>
        <p:spPr>
          <a:xfrm>
            <a:off x="621506" y="2720094"/>
            <a:ext cx="228600" cy="228600"/>
          </a:xfrm>
          <a:prstGeom prst="roundRect">
            <a:avLst>
              <a:gd name="adj" fmla="val 33333"/>
            </a:avLst>
          </a:prstGeom>
          <a:solidFill>
            <a:srgbClr val="6EE7B7">
              <a:alpha val="18000"/>
            </a:srgbClr>
          </a:solidFill>
          <a:ln/>
        </p:spPr>
        <p:txBody>
          <a:bodyPr wrap="square" rtlCol="0" anchor="ctr"/>
          <a:lstStyle/>
          <a:p>
            <a:pPr indent="0" marL="0">
              <a:buNone/>
            </a:pPr>
            <a:endParaRPr lang="en-US" dirty="0"/>
          </a:p>
        </p:txBody>
      </p:sp>
      <p:sp>
        <p:nvSpPr>
          <p:cNvPr id="21" name="Text 18"/>
          <p:cNvSpPr/>
          <p:nvPr/>
        </p:nvSpPr>
        <p:spPr>
          <a:xfrm>
            <a:off x="642580" y="2741168"/>
            <a:ext cx="186452" cy="186452"/>
          </a:xfrm>
          <a:prstGeom prst="rect">
            <a:avLst/>
          </a:prstGeom>
          <a:noFill/>
          <a:ln/>
        </p:spPr>
        <p:txBody>
          <a:bodyPr wrap="none" lIns="0" tIns="0" rIns="0" bIns="0" rtlCol="0" anchor="ctr"/>
          <a:lstStyle/>
          <a:p>
            <a:pPr algn="ctr" indent="0" marL="0">
              <a:buNone/>
            </a:pPr>
            <a:r>
              <a:rPr lang="en-US" sz="1266" dirty="0">
                <a:solidFill>
                  <a:srgbClr val="6EE7B7"/>
                </a:solidFill>
                <a:latin typeface="Segoe UI Symbol" pitchFamily="34" charset="0"/>
                <a:ea typeface="Segoe UI Symbol" pitchFamily="34" charset="-122"/>
                <a:cs typeface="Segoe UI Symbol" pitchFamily="34" charset="-120"/>
              </a:rPr>
              <a:t>⚡</a:t>
            </a:r>
            <a:endParaRPr lang="en-US" sz="1266" dirty="0"/>
          </a:p>
        </p:txBody>
      </p:sp>
      <p:sp>
        <p:nvSpPr>
          <p:cNvPr id="22" name="Text 19"/>
          <p:cNvSpPr/>
          <p:nvPr/>
        </p:nvSpPr>
        <p:spPr>
          <a:xfrm>
            <a:off x="935831" y="2720094"/>
            <a:ext cx="1439542" cy="123926"/>
          </a:xfrm>
          <a:prstGeom prst="rect">
            <a:avLst/>
          </a:prstGeom>
          <a:noFill/>
          <a:ln/>
        </p:spPr>
        <p:txBody>
          <a:bodyPr wrap="none" lIns="0" tIns="0" rIns="0" bIns="0" rtlCol="0" anchor="t">
            <a:normAutofit/>
          </a:bodyPr>
          <a:lstStyle/>
          <a:p>
            <a:pPr algn="l" indent="0" marL="0">
              <a:lnSpc>
                <a:spcPts val="1024"/>
              </a:lnSpc>
              <a:buNone/>
            </a:pPr>
            <a:r>
              <a:rPr lang="en-US" sz="800" dirty="0">
                <a:solidFill>
                  <a:srgbClr val="F0EAFF"/>
                </a:solidFill>
                <a:latin typeface="Carlito" pitchFamily="34" charset="0"/>
                <a:ea typeface="Carlito" pitchFamily="34" charset="-122"/>
                <a:cs typeface="Carlito" pitchFamily="34" charset="-120"/>
              </a:rPr>
              <a:t>Unificar CTA home</a:t>
            </a:r>
            <a:endParaRPr lang="en-US" sz="800" dirty="0"/>
          </a:p>
        </p:txBody>
      </p:sp>
      <p:sp>
        <p:nvSpPr>
          <p:cNvPr id="23" name="Text 20"/>
          <p:cNvSpPr/>
          <p:nvPr/>
        </p:nvSpPr>
        <p:spPr>
          <a:xfrm>
            <a:off x="935831" y="2871453"/>
            <a:ext cx="1326541"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Carlito" pitchFamily="34" charset="0"/>
                <a:ea typeface="Carlito" pitchFamily="34" charset="-122"/>
                <a:cs typeface="Carlito" pitchFamily="34" charset="-120"/>
              </a:rPr>
              <a:t>Quitar "o escribir", un solo botón</a:t>
            </a:r>
            <a:endParaRPr lang="en-US" sz="675" dirty="0"/>
          </a:p>
        </p:txBody>
      </p:sp>
      <p:sp>
        <p:nvSpPr>
          <p:cNvPr id="24" name="Text 21"/>
          <p:cNvSpPr/>
          <p:nvPr/>
        </p:nvSpPr>
        <p:spPr>
          <a:xfrm>
            <a:off x="3251522" y="1010059"/>
            <a:ext cx="2640843" cy="3278981"/>
          </a:xfrm>
          <a:prstGeom prst="roundRect">
            <a:avLst>
              <a:gd name="adj" fmla="val 7214"/>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25" name="Text 22"/>
          <p:cNvSpPr/>
          <p:nvPr/>
        </p:nvSpPr>
        <p:spPr>
          <a:xfrm>
            <a:off x="3392848" y="1160292"/>
            <a:ext cx="524034" cy="196025"/>
          </a:xfrm>
          <a:prstGeom prst="roundRect">
            <a:avLst>
              <a:gd name="adj" fmla="val 4854215"/>
            </a:avLst>
          </a:prstGeom>
          <a:solidFill>
            <a:srgbClr val="FBBF24">
              <a:alpha val="15000"/>
            </a:srgbClr>
          </a:solidFill>
          <a:ln/>
        </p:spPr>
        <p:txBody>
          <a:bodyPr wrap="square" rtlCol="0" anchor="ctr"/>
          <a:lstStyle/>
          <a:p>
            <a:pPr indent="0" marL="0">
              <a:buNone/>
            </a:pPr>
            <a:endParaRPr lang="en-US" dirty="0"/>
          </a:p>
        </p:txBody>
      </p:sp>
      <p:sp>
        <p:nvSpPr>
          <p:cNvPr id="26" name="Text 23"/>
          <p:cNvSpPr/>
          <p:nvPr/>
        </p:nvSpPr>
        <p:spPr>
          <a:xfrm>
            <a:off x="3412257" y="1170794"/>
            <a:ext cx="485217"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BBF24"/>
                </a:solidFill>
                <a:latin typeface="Carlito" pitchFamily="34" charset="0"/>
                <a:ea typeface="Carlito" pitchFamily="34" charset="-122"/>
                <a:cs typeface="Carlito" pitchFamily="34" charset="-120"/>
              </a:rPr>
              <a:t>MEDIUM</a:t>
            </a:r>
            <a:endParaRPr lang="en-US" sz="800" dirty="0"/>
          </a:p>
        </p:txBody>
      </p:sp>
      <p:sp>
        <p:nvSpPr>
          <p:cNvPr id="27" name="Text 24"/>
          <p:cNvSpPr/>
          <p:nvPr/>
        </p:nvSpPr>
        <p:spPr>
          <a:xfrm>
            <a:off x="5574469" y="1179723"/>
            <a:ext cx="157163" cy="157163"/>
          </a:xfrm>
          <a:prstGeom prst="rect">
            <a:avLst/>
          </a:prstGeom>
          <a:noFill/>
          <a:ln/>
        </p:spPr>
        <p:txBody>
          <a:bodyPr wrap="none" lIns="0" tIns="0" rIns="0" bIns="0" rtlCol="0" anchor="ctr"/>
          <a:lstStyle/>
          <a:p>
            <a:pPr algn="ctr" indent="0" marL="0">
              <a:buNone/>
            </a:pPr>
            <a:r>
              <a:rPr lang="en-US" sz="1547" dirty="0">
                <a:solidFill>
                  <a:srgbClr val="FBBF24"/>
                </a:solidFill>
                <a:latin typeface="Segoe UI Symbol" pitchFamily="34" charset="0"/>
                <a:ea typeface="Segoe UI Symbol" pitchFamily="34" charset="-122"/>
                <a:cs typeface="Segoe UI Symbol" pitchFamily="34" charset="-120"/>
              </a:rPr>
              <a:t>⚒</a:t>
            </a:r>
            <a:endParaRPr lang="en-US" sz="1547" dirty="0"/>
          </a:p>
        </p:txBody>
      </p:sp>
      <p:sp>
        <p:nvSpPr>
          <p:cNvPr id="28" name="Text 25"/>
          <p:cNvSpPr/>
          <p:nvPr/>
        </p:nvSpPr>
        <p:spPr>
          <a:xfrm>
            <a:off x="3412257" y="1445828"/>
            <a:ext cx="2319375" cy="164592"/>
          </a:xfrm>
          <a:prstGeom prst="rect">
            <a:avLst/>
          </a:prstGeom>
          <a:noFill/>
          <a:ln/>
        </p:spPr>
        <p:txBody>
          <a:bodyPr wrap="none" lIns="0" tIns="0" rIns="0" bIns="0" rtlCol="0" anchor="t"/>
          <a:lstStyle/>
          <a:p>
            <a:pPr algn="l" indent="0" marL="0">
              <a:lnSpc>
                <a:spcPts val="1181"/>
              </a:lnSpc>
              <a:buNone/>
            </a:pPr>
            <a:r>
              <a:rPr lang="en-US" sz="800" b="1" spc="39" kern="0" dirty="0">
                <a:solidFill>
                  <a:srgbClr val="FBBF24"/>
                </a:solidFill>
                <a:latin typeface="Liberation Sans Narrow" pitchFamily="34" charset="0"/>
                <a:ea typeface="Liberation Sans Narrow" pitchFamily="34" charset="-122"/>
                <a:cs typeface="Liberation Sans Narrow" pitchFamily="34" charset="-120"/>
              </a:rPr>
              <a:t>MEDIUM · 3-5 DÍAS</a:t>
            </a:r>
            <a:endParaRPr lang="en-US" sz="800" dirty="0"/>
          </a:p>
        </p:txBody>
      </p:sp>
      <p:pic>
        <p:nvPicPr>
          <p:cNvPr id="29" name="Image 1" descr="preencoded.png">    </p:cNvPr>
          <p:cNvPicPr>
            <a:picLocks noChangeAspect="1"/>
          </p:cNvPicPr>
          <p:nvPr/>
        </p:nvPicPr>
        <p:blipFill>
          <a:blip r:embed="rId2"/>
          <a:stretch>
            <a:fillRect/>
          </a:stretch>
        </p:blipFill>
        <p:spPr>
          <a:xfrm>
            <a:off x="3412257" y="1695859"/>
            <a:ext cx="2319375" cy="7144"/>
          </a:xfrm>
          <a:prstGeom prst="rect">
            <a:avLst/>
          </a:prstGeom>
        </p:spPr>
      </p:pic>
      <p:sp>
        <p:nvSpPr>
          <p:cNvPr id="30" name="Text 26"/>
          <p:cNvSpPr/>
          <p:nvPr/>
        </p:nvSpPr>
        <p:spPr>
          <a:xfrm>
            <a:off x="3412257" y="1803016"/>
            <a:ext cx="228600" cy="228600"/>
          </a:xfrm>
          <a:prstGeom prst="roundRect">
            <a:avLst>
              <a:gd name="adj" fmla="val 33333"/>
            </a:avLst>
          </a:prstGeom>
          <a:solidFill>
            <a:srgbClr val="FBBF24">
              <a:alpha val="18000"/>
            </a:srgbClr>
          </a:solidFill>
          <a:ln/>
        </p:spPr>
        <p:txBody>
          <a:bodyPr wrap="square" rtlCol="0" anchor="ctr"/>
          <a:lstStyle/>
          <a:p>
            <a:pPr indent="0" marL="0">
              <a:buNone/>
            </a:pPr>
            <a:endParaRPr lang="en-US" dirty="0"/>
          </a:p>
        </p:txBody>
      </p:sp>
      <p:sp>
        <p:nvSpPr>
          <p:cNvPr id="31" name="Text 27"/>
          <p:cNvSpPr/>
          <p:nvPr/>
        </p:nvSpPr>
        <p:spPr>
          <a:xfrm>
            <a:off x="3433331" y="1824090"/>
            <a:ext cx="186452" cy="186452"/>
          </a:xfrm>
          <a:prstGeom prst="rect">
            <a:avLst/>
          </a:prstGeom>
          <a:noFill/>
          <a:ln/>
        </p:spPr>
        <p:txBody>
          <a:bodyPr wrap="none" lIns="0" tIns="0" rIns="0" bIns="0" rtlCol="0" anchor="ctr"/>
          <a:lstStyle/>
          <a:p>
            <a:pPr algn="ctr" indent="0" marL="0">
              <a:buNone/>
            </a:pPr>
            <a:r>
              <a:rPr lang="en-US" sz="1266" dirty="0">
                <a:solidFill>
                  <a:srgbClr val="FBBF24"/>
                </a:solidFill>
                <a:latin typeface="Segoe UI Symbol" pitchFamily="34" charset="0"/>
                <a:ea typeface="Segoe UI Symbol" pitchFamily="34" charset="-122"/>
                <a:cs typeface="Segoe UI Symbol" pitchFamily="34" charset="-120"/>
              </a:rPr>
              <a:t>⚒</a:t>
            </a:r>
            <a:endParaRPr lang="en-US" sz="1266" dirty="0"/>
          </a:p>
        </p:txBody>
      </p:sp>
      <p:sp>
        <p:nvSpPr>
          <p:cNvPr id="32" name="Text 28"/>
          <p:cNvSpPr/>
          <p:nvPr/>
        </p:nvSpPr>
        <p:spPr>
          <a:xfrm>
            <a:off x="3726582" y="1803016"/>
            <a:ext cx="1284652" cy="123926"/>
          </a:xfrm>
          <a:prstGeom prst="rect">
            <a:avLst/>
          </a:prstGeom>
          <a:noFill/>
          <a:ln/>
        </p:spPr>
        <p:txBody>
          <a:bodyPr wrap="none" lIns="0" tIns="0" rIns="0" bIns="0" rtlCol="0" anchor="t">
            <a:normAutofit/>
          </a:bodyPr>
          <a:lstStyle/>
          <a:p>
            <a:pPr algn="l" indent="0" marL="0">
              <a:lnSpc>
                <a:spcPts val="1024"/>
              </a:lnSpc>
              <a:buNone/>
            </a:pPr>
            <a:r>
              <a:rPr lang="en-US" sz="800" dirty="0">
                <a:solidFill>
                  <a:srgbClr val="F0EAFF"/>
                </a:solidFill>
                <a:latin typeface="Liberation Sans Narrow" pitchFamily="34" charset="0"/>
                <a:ea typeface="Liberation Sans Narrow" pitchFamily="34" charset="-122"/>
                <a:cs typeface="Liberation Sans Narrow" pitchFamily="34" charset="-120"/>
              </a:rPr>
              <a:t>Onboarding 3 pasos</a:t>
            </a:r>
            <a:endParaRPr lang="en-US" sz="800" dirty="0"/>
          </a:p>
        </p:txBody>
      </p:sp>
      <p:sp>
        <p:nvSpPr>
          <p:cNvPr id="33" name="Text 29"/>
          <p:cNvSpPr/>
          <p:nvPr/>
        </p:nvSpPr>
        <p:spPr>
          <a:xfrm>
            <a:off x="3726582" y="1954374"/>
            <a:ext cx="1183809"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Carlito" pitchFamily="34" charset="0"/>
                <a:ea typeface="Carlito" pitchFamily="34" charset="-122"/>
                <a:cs typeface="Carlito" pitchFamily="34" charset="-120"/>
              </a:rPr>
              <a:t>Bienvenida + valor + nombre</a:t>
            </a:r>
            <a:endParaRPr lang="en-US" sz="675" dirty="0"/>
          </a:p>
        </p:txBody>
      </p:sp>
      <p:sp>
        <p:nvSpPr>
          <p:cNvPr id="34" name="Text 30"/>
          <p:cNvSpPr/>
          <p:nvPr/>
        </p:nvSpPr>
        <p:spPr>
          <a:xfrm>
            <a:off x="3412257" y="2197261"/>
            <a:ext cx="228600" cy="228600"/>
          </a:xfrm>
          <a:prstGeom prst="roundRect">
            <a:avLst>
              <a:gd name="adj" fmla="val 33333"/>
            </a:avLst>
          </a:prstGeom>
          <a:solidFill>
            <a:srgbClr val="FBBF24">
              <a:alpha val="18000"/>
            </a:srgbClr>
          </a:solidFill>
          <a:ln/>
        </p:spPr>
        <p:txBody>
          <a:bodyPr wrap="square" rtlCol="0" anchor="ctr"/>
          <a:lstStyle/>
          <a:p>
            <a:pPr indent="0" marL="0">
              <a:buNone/>
            </a:pPr>
            <a:endParaRPr lang="en-US" dirty="0"/>
          </a:p>
        </p:txBody>
      </p:sp>
      <p:sp>
        <p:nvSpPr>
          <p:cNvPr id="35" name="Text 31"/>
          <p:cNvSpPr/>
          <p:nvPr/>
        </p:nvSpPr>
        <p:spPr>
          <a:xfrm>
            <a:off x="3433331" y="2218335"/>
            <a:ext cx="186452" cy="186452"/>
          </a:xfrm>
          <a:prstGeom prst="rect">
            <a:avLst/>
          </a:prstGeom>
          <a:noFill/>
          <a:ln/>
        </p:spPr>
        <p:txBody>
          <a:bodyPr wrap="none" lIns="0" tIns="0" rIns="0" bIns="0" rtlCol="0" anchor="ctr"/>
          <a:lstStyle/>
          <a:p>
            <a:pPr algn="ctr" indent="0" marL="0">
              <a:buNone/>
            </a:pPr>
            <a:r>
              <a:rPr lang="en-US" sz="1266" dirty="0">
                <a:solidFill>
                  <a:srgbClr val="FBBF24"/>
                </a:solidFill>
                <a:latin typeface="Segoe UI Symbol" pitchFamily="34" charset="0"/>
                <a:ea typeface="Segoe UI Symbol" pitchFamily="34" charset="-122"/>
                <a:cs typeface="Segoe UI Symbol" pitchFamily="34" charset="-120"/>
              </a:rPr>
              <a:t>⚒</a:t>
            </a:r>
            <a:endParaRPr lang="en-US" sz="1266" dirty="0"/>
          </a:p>
        </p:txBody>
      </p:sp>
      <p:sp>
        <p:nvSpPr>
          <p:cNvPr id="36" name="Text 32"/>
          <p:cNvSpPr/>
          <p:nvPr/>
        </p:nvSpPr>
        <p:spPr>
          <a:xfrm>
            <a:off x="3726582" y="2197261"/>
            <a:ext cx="1081096" cy="123926"/>
          </a:xfrm>
          <a:prstGeom prst="rect">
            <a:avLst/>
          </a:prstGeom>
          <a:noFill/>
          <a:ln/>
        </p:spPr>
        <p:txBody>
          <a:bodyPr wrap="none" lIns="0" tIns="0" rIns="0" bIns="0" rtlCol="0" anchor="t">
            <a:normAutofit/>
          </a:bodyPr>
          <a:lstStyle/>
          <a:p>
            <a:pPr algn="l" indent="0" marL="0">
              <a:lnSpc>
                <a:spcPts val="1024"/>
              </a:lnSpc>
              <a:buNone/>
            </a:pPr>
            <a:r>
              <a:rPr lang="en-US" sz="800" dirty="0">
                <a:solidFill>
                  <a:srgbClr val="F0EAFF"/>
                </a:solidFill>
                <a:latin typeface="Carlito" pitchFamily="34" charset="0"/>
                <a:ea typeface="Carlito" pitchFamily="34" charset="-122"/>
                <a:cs typeface="Carlito" pitchFamily="34" charset="-120"/>
              </a:rPr>
              <a:t>Settings expandido</a:t>
            </a:r>
            <a:endParaRPr lang="en-US" sz="800" dirty="0"/>
          </a:p>
        </p:txBody>
      </p:sp>
      <p:sp>
        <p:nvSpPr>
          <p:cNvPr id="37" name="Text 33"/>
          <p:cNvSpPr/>
          <p:nvPr/>
        </p:nvSpPr>
        <p:spPr>
          <a:xfrm>
            <a:off x="3726582" y="2348619"/>
            <a:ext cx="1081096" cy="164592"/>
          </a:xfrm>
          <a:prstGeom prst="rect">
            <a:avLst/>
          </a:prstGeom>
          <a:noFill/>
          <a:ln/>
        </p:spPr>
        <p:txBody>
          <a:bodyPr wrap="none" lIns="0" tIns="0" rIns="0" bIns="0" rtlCol="0" anchor="t"/>
          <a:lstStyle/>
          <a:p>
            <a:pPr algn="l" indent="0" marL="0">
              <a:lnSpc>
                <a:spcPts val="1013"/>
              </a:lnSpc>
              <a:buNone/>
            </a:pPr>
            <a:r>
              <a:rPr lang="en-US" sz="800" dirty="0">
                <a:solidFill>
                  <a:srgbClr val="B8A8E0"/>
                </a:solidFill>
                <a:latin typeface="Liberation Sans Narrow" pitchFamily="34" charset="0"/>
                <a:ea typeface="Liberation Sans Narrow" pitchFamily="34" charset="-122"/>
                <a:cs typeface="Liberation Sans Narrow" pitchFamily="34" charset="-120"/>
              </a:rPr>
              <a:t>5 secciones nuevas</a:t>
            </a:r>
            <a:endParaRPr lang="en-US" sz="800" dirty="0"/>
          </a:p>
        </p:txBody>
      </p:sp>
      <p:sp>
        <p:nvSpPr>
          <p:cNvPr id="38" name="Text 34"/>
          <p:cNvSpPr/>
          <p:nvPr/>
        </p:nvSpPr>
        <p:spPr>
          <a:xfrm>
            <a:off x="3412257" y="2591507"/>
            <a:ext cx="228600" cy="228600"/>
          </a:xfrm>
          <a:prstGeom prst="roundRect">
            <a:avLst>
              <a:gd name="adj" fmla="val 33333"/>
            </a:avLst>
          </a:prstGeom>
          <a:solidFill>
            <a:srgbClr val="FBBF24">
              <a:alpha val="18000"/>
            </a:srgbClr>
          </a:solidFill>
          <a:ln/>
        </p:spPr>
        <p:txBody>
          <a:bodyPr wrap="square" rtlCol="0" anchor="ctr"/>
          <a:lstStyle/>
          <a:p>
            <a:pPr indent="0" marL="0">
              <a:buNone/>
            </a:pPr>
            <a:endParaRPr lang="en-US" dirty="0"/>
          </a:p>
        </p:txBody>
      </p:sp>
      <p:sp>
        <p:nvSpPr>
          <p:cNvPr id="39" name="Text 35"/>
          <p:cNvSpPr/>
          <p:nvPr/>
        </p:nvSpPr>
        <p:spPr>
          <a:xfrm>
            <a:off x="3433331" y="2612581"/>
            <a:ext cx="186452" cy="186452"/>
          </a:xfrm>
          <a:prstGeom prst="rect">
            <a:avLst/>
          </a:prstGeom>
          <a:noFill/>
          <a:ln/>
        </p:spPr>
        <p:txBody>
          <a:bodyPr wrap="none" lIns="0" tIns="0" rIns="0" bIns="0" rtlCol="0" anchor="ctr"/>
          <a:lstStyle/>
          <a:p>
            <a:pPr algn="ctr" indent="0" marL="0">
              <a:buNone/>
            </a:pPr>
            <a:r>
              <a:rPr lang="en-US" sz="1266" dirty="0">
                <a:solidFill>
                  <a:srgbClr val="FBBF24"/>
                </a:solidFill>
                <a:latin typeface="Segoe UI Symbol" pitchFamily="34" charset="0"/>
                <a:ea typeface="Segoe UI Symbol" pitchFamily="34" charset="-122"/>
                <a:cs typeface="Segoe UI Symbol" pitchFamily="34" charset="-120"/>
              </a:rPr>
              <a:t>⚒</a:t>
            </a:r>
            <a:endParaRPr lang="en-US" sz="1266" dirty="0"/>
          </a:p>
        </p:txBody>
      </p:sp>
      <p:sp>
        <p:nvSpPr>
          <p:cNvPr id="40" name="Text 36"/>
          <p:cNvSpPr/>
          <p:nvPr/>
        </p:nvSpPr>
        <p:spPr>
          <a:xfrm>
            <a:off x="3726582" y="2591507"/>
            <a:ext cx="1334756" cy="123926"/>
          </a:xfrm>
          <a:prstGeom prst="rect">
            <a:avLst/>
          </a:prstGeom>
          <a:noFill/>
          <a:ln/>
        </p:spPr>
        <p:txBody>
          <a:bodyPr wrap="none" lIns="0" tIns="0" rIns="0" bIns="0" rtlCol="0" anchor="t">
            <a:normAutofit/>
          </a:bodyPr>
          <a:lstStyle/>
          <a:p>
            <a:pPr algn="l" indent="0" marL="0">
              <a:lnSpc>
                <a:spcPts val="1024"/>
              </a:lnSpc>
              <a:buNone/>
            </a:pPr>
            <a:r>
              <a:rPr lang="en-US" sz="800" dirty="0">
                <a:solidFill>
                  <a:srgbClr val="F0EAFF"/>
                </a:solidFill>
                <a:latin typeface="Carlito" pitchFamily="34" charset="0"/>
                <a:ea typeface="Carlito" pitchFamily="34" charset="-122"/>
                <a:cs typeface="Carlito" pitchFamily="34" charset="-120"/>
              </a:rPr>
              <a:t>Home con atajos</a:t>
            </a:r>
            <a:endParaRPr lang="en-US" sz="800" dirty="0"/>
          </a:p>
        </p:txBody>
      </p:sp>
      <p:sp>
        <p:nvSpPr>
          <p:cNvPr id="41" name="Text 37"/>
          <p:cNvSpPr/>
          <p:nvPr/>
        </p:nvSpPr>
        <p:spPr>
          <a:xfrm>
            <a:off x="3726582" y="2742865"/>
            <a:ext cx="1229980"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Carlito" pitchFamily="34" charset="0"/>
                <a:ea typeface="Carlito" pitchFamily="34" charset="-122"/>
                <a:cs typeface="Carlito" pitchFamily="34" charset="-120"/>
              </a:rPr>
              <a:t>Cards de gastos/notas/buscar</a:t>
            </a:r>
            <a:endParaRPr lang="en-US" sz="675" dirty="0"/>
          </a:p>
        </p:txBody>
      </p:sp>
      <p:sp>
        <p:nvSpPr>
          <p:cNvPr id="42" name="Text 38"/>
          <p:cNvSpPr/>
          <p:nvPr/>
        </p:nvSpPr>
        <p:spPr>
          <a:xfrm>
            <a:off x="6042385" y="1010059"/>
            <a:ext cx="2640732" cy="3278981"/>
          </a:xfrm>
          <a:prstGeom prst="roundRect">
            <a:avLst>
              <a:gd name="adj" fmla="val 7214"/>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43" name="Text 39"/>
          <p:cNvSpPr/>
          <p:nvPr/>
        </p:nvSpPr>
        <p:spPr>
          <a:xfrm>
            <a:off x="6180259" y="1160292"/>
            <a:ext cx="734422" cy="196025"/>
          </a:xfrm>
          <a:prstGeom prst="roundRect">
            <a:avLst>
              <a:gd name="adj" fmla="val 4854215"/>
            </a:avLst>
          </a:prstGeom>
          <a:solidFill>
            <a:srgbClr val="FDA4AF">
              <a:alpha val="15000"/>
            </a:srgbClr>
          </a:solidFill>
          <a:ln/>
        </p:spPr>
        <p:txBody>
          <a:bodyPr wrap="square" rtlCol="0" anchor="ctr"/>
          <a:lstStyle/>
          <a:p>
            <a:pPr indent="0" marL="0">
              <a:buNone/>
            </a:pPr>
            <a:endParaRPr lang="en-US" dirty="0"/>
          </a:p>
        </p:txBody>
      </p:sp>
      <p:sp>
        <p:nvSpPr>
          <p:cNvPr id="44" name="Text 40"/>
          <p:cNvSpPr/>
          <p:nvPr/>
        </p:nvSpPr>
        <p:spPr>
          <a:xfrm>
            <a:off x="6178418" y="1170794"/>
            <a:ext cx="738104" cy="175022"/>
          </a:xfrm>
          <a:prstGeom prst="rect">
            <a:avLst/>
          </a:prstGeom>
          <a:noFill/>
          <a:ln/>
        </p:spPr>
        <p:txBody>
          <a:bodyPr wrap="none" lIns="0" tIns="0" rIns="0" bIns="0" rtlCol="0" anchor="ctr"/>
          <a:lstStyle/>
          <a:p>
            <a:pPr algn="ctr" indent="0" marL="0">
              <a:lnSpc>
                <a:spcPts val="928"/>
              </a:lnSpc>
              <a:buNone/>
            </a:pPr>
            <a:r>
              <a:rPr lang="en-US" sz="800" b="1" spc="31" kern="0" dirty="0">
                <a:solidFill>
                  <a:srgbClr val="FDA4AF"/>
                </a:solidFill>
                <a:latin typeface="Carlito" pitchFamily="34" charset="0"/>
                <a:ea typeface="Carlito" pitchFamily="34" charset="-122"/>
                <a:cs typeface="Carlito" pitchFamily="34" charset="-120"/>
              </a:rPr>
              <a:t>LARGE BETS</a:t>
            </a:r>
            <a:endParaRPr lang="en-US" sz="800" dirty="0"/>
          </a:p>
        </p:txBody>
      </p:sp>
      <p:sp>
        <p:nvSpPr>
          <p:cNvPr id="45" name="Text 41"/>
          <p:cNvSpPr/>
          <p:nvPr/>
        </p:nvSpPr>
        <p:spPr>
          <a:xfrm>
            <a:off x="8365220" y="1179723"/>
            <a:ext cx="157163" cy="157163"/>
          </a:xfrm>
          <a:prstGeom prst="rect">
            <a:avLst/>
          </a:prstGeom>
          <a:noFill/>
          <a:ln/>
        </p:spPr>
        <p:txBody>
          <a:bodyPr wrap="none" lIns="0" tIns="0" rIns="0" bIns="0" rtlCol="0" anchor="ctr"/>
          <a:lstStyle/>
          <a:p>
            <a:pPr algn="ctr" indent="0" marL="0">
              <a:buNone/>
            </a:pPr>
            <a:r>
              <a:rPr lang="en-US" sz="1547" dirty="0">
                <a:solidFill>
                  <a:srgbClr val="FDA4AF"/>
                </a:solidFill>
                <a:latin typeface="Segoe UI Symbol" pitchFamily="34" charset="0"/>
                <a:ea typeface="Segoe UI Symbol" pitchFamily="34" charset="-122"/>
                <a:cs typeface="Segoe UI Symbol" pitchFamily="34" charset="-120"/>
              </a:rPr>
              <a:t>➤</a:t>
            </a:r>
            <a:endParaRPr lang="en-US" sz="1547" dirty="0"/>
          </a:p>
        </p:txBody>
      </p:sp>
      <p:sp>
        <p:nvSpPr>
          <p:cNvPr id="46" name="Text 42"/>
          <p:cNvSpPr/>
          <p:nvPr/>
        </p:nvSpPr>
        <p:spPr>
          <a:xfrm>
            <a:off x="6203119" y="1445828"/>
            <a:ext cx="2319263" cy="164592"/>
          </a:xfrm>
          <a:prstGeom prst="rect">
            <a:avLst/>
          </a:prstGeom>
          <a:noFill/>
          <a:ln/>
        </p:spPr>
        <p:txBody>
          <a:bodyPr wrap="none" lIns="0" tIns="0" rIns="0" bIns="0" rtlCol="0" anchor="t"/>
          <a:lstStyle/>
          <a:p>
            <a:pPr algn="l" indent="0" marL="0">
              <a:lnSpc>
                <a:spcPts val="1181"/>
              </a:lnSpc>
              <a:buNone/>
            </a:pPr>
            <a:r>
              <a:rPr lang="en-US" sz="800" b="1" spc="39" kern="0" dirty="0">
                <a:solidFill>
                  <a:srgbClr val="FDA4AF"/>
                </a:solidFill>
                <a:latin typeface="Liberation Sans Narrow" pitchFamily="34" charset="0"/>
                <a:ea typeface="Liberation Sans Narrow" pitchFamily="34" charset="-122"/>
                <a:cs typeface="Liberation Sans Narrow" pitchFamily="34" charset="-120"/>
              </a:rPr>
              <a:t>LARGE BETS · 1-2 SEMANAS</a:t>
            </a:r>
            <a:endParaRPr lang="en-US" sz="800" dirty="0"/>
          </a:p>
        </p:txBody>
      </p:sp>
      <p:pic>
        <p:nvPicPr>
          <p:cNvPr id="47" name="Image 2" descr="preencoded.png">    </p:cNvPr>
          <p:cNvPicPr>
            <a:picLocks noChangeAspect="1"/>
          </p:cNvPicPr>
          <p:nvPr/>
        </p:nvPicPr>
        <p:blipFill>
          <a:blip r:embed="rId3"/>
          <a:stretch>
            <a:fillRect/>
          </a:stretch>
        </p:blipFill>
        <p:spPr>
          <a:xfrm>
            <a:off x="6203119" y="1695859"/>
            <a:ext cx="2319263" cy="7144"/>
          </a:xfrm>
          <a:prstGeom prst="rect">
            <a:avLst/>
          </a:prstGeom>
        </p:spPr>
      </p:pic>
      <p:sp>
        <p:nvSpPr>
          <p:cNvPr id="48" name="Text 43"/>
          <p:cNvSpPr/>
          <p:nvPr/>
        </p:nvSpPr>
        <p:spPr>
          <a:xfrm>
            <a:off x="6203119" y="1803016"/>
            <a:ext cx="228600" cy="228600"/>
          </a:xfrm>
          <a:prstGeom prst="roundRect">
            <a:avLst>
              <a:gd name="adj" fmla="val 33333"/>
            </a:avLst>
          </a:prstGeom>
          <a:solidFill>
            <a:srgbClr val="FDA4AF">
              <a:alpha val="18000"/>
            </a:srgbClr>
          </a:solidFill>
          <a:ln/>
        </p:spPr>
        <p:txBody>
          <a:bodyPr wrap="square" rtlCol="0" anchor="ctr"/>
          <a:lstStyle/>
          <a:p>
            <a:pPr indent="0" marL="0">
              <a:buNone/>
            </a:pPr>
            <a:endParaRPr lang="en-US" dirty="0"/>
          </a:p>
        </p:txBody>
      </p:sp>
      <p:sp>
        <p:nvSpPr>
          <p:cNvPr id="49" name="Text 44"/>
          <p:cNvSpPr/>
          <p:nvPr/>
        </p:nvSpPr>
        <p:spPr>
          <a:xfrm>
            <a:off x="6224193" y="1824090"/>
            <a:ext cx="186452" cy="186452"/>
          </a:xfrm>
          <a:prstGeom prst="rect">
            <a:avLst/>
          </a:prstGeom>
          <a:noFill/>
          <a:ln/>
        </p:spPr>
        <p:txBody>
          <a:bodyPr wrap="none" lIns="0" tIns="0" rIns="0" bIns="0" rtlCol="0" anchor="ctr"/>
          <a:lstStyle/>
          <a:p>
            <a:pPr algn="ctr" indent="0" marL="0">
              <a:buNone/>
            </a:pPr>
            <a:r>
              <a:rPr lang="en-US" sz="1266" dirty="0">
                <a:solidFill>
                  <a:srgbClr val="FDA4AF"/>
                </a:solidFill>
                <a:latin typeface="Segoe UI Symbol" pitchFamily="34" charset="0"/>
                <a:ea typeface="Segoe UI Symbol" pitchFamily="34" charset="-122"/>
                <a:cs typeface="Segoe UI Symbol" pitchFamily="34" charset="-120"/>
              </a:rPr>
              <a:t>➤</a:t>
            </a:r>
            <a:endParaRPr lang="en-US" sz="1266" dirty="0"/>
          </a:p>
        </p:txBody>
      </p:sp>
      <p:sp>
        <p:nvSpPr>
          <p:cNvPr id="50" name="Text 45"/>
          <p:cNvSpPr/>
          <p:nvPr/>
        </p:nvSpPr>
        <p:spPr>
          <a:xfrm>
            <a:off x="6517444" y="1803016"/>
            <a:ext cx="2114666" cy="123926"/>
          </a:xfrm>
          <a:prstGeom prst="rect">
            <a:avLst/>
          </a:prstGeom>
          <a:noFill/>
          <a:ln/>
        </p:spPr>
        <p:txBody>
          <a:bodyPr wrap="square" lIns="0" tIns="0" rIns="0" bIns="0" rtlCol="0" anchor="t">
            <a:normAutofit/>
          </a:bodyPr>
          <a:lstStyle/>
          <a:p>
            <a:pPr algn="l" indent="0" marL="0">
              <a:lnSpc>
                <a:spcPts val="1024"/>
              </a:lnSpc>
              <a:buNone/>
            </a:pPr>
            <a:r>
              <a:rPr lang="en-US" sz="800" dirty="0">
                <a:solidFill>
                  <a:srgbClr val="F0EAFF"/>
                </a:solidFill>
                <a:latin typeface="Carlito" pitchFamily="34" charset="0"/>
                <a:ea typeface="Carlito" pitchFamily="34" charset="-122"/>
                <a:cs typeface="Carlito" pitchFamily="34" charset="-120"/>
              </a:rPr>
              <a:t>Onboarding conversacional</a:t>
            </a:r>
            <a:endParaRPr lang="en-US" sz="800" dirty="0"/>
          </a:p>
        </p:txBody>
      </p:sp>
      <p:sp>
        <p:nvSpPr>
          <p:cNvPr id="51" name="Text 46"/>
          <p:cNvSpPr/>
          <p:nvPr/>
        </p:nvSpPr>
        <p:spPr>
          <a:xfrm>
            <a:off x="6517444" y="1954374"/>
            <a:ext cx="2094690"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Carlito" pitchFamily="34" charset="0"/>
                <a:ea typeface="Carlito" pitchFamily="34" charset="-122"/>
                <a:cs typeface="Carlito" pitchFamily="34" charset="-120"/>
              </a:rPr>
              <a:t>Koru te pregunta cosas en el chat, no form estático</a:t>
            </a:r>
            <a:endParaRPr lang="en-US" sz="675" dirty="0"/>
          </a:p>
        </p:txBody>
      </p:sp>
      <p:sp>
        <p:nvSpPr>
          <p:cNvPr id="52" name="Text 47"/>
          <p:cNvSpPr/>
          <p:nvPr/>
        </p:nvSpPr>
        <p:spPr>
          <a:xfrm>
            <a:off x="6203119" y="2197261"/>
            <a:ext cx="228600" cy="228600"/>
          </a:xfrm>
          <a:prstGeom prst="roundRect">
            <a:avLst>
              <a:gd name="adj" fmla="val 33333"/>
            </a:avLst>
          </a:prstGeom>
          <a:solidFill>
            <a:srgbClr val="FDA4AF">
              <a:alpha val="18000"/>
            </a:srgbClr>
          </a:solidFill>
          <a:ln/>
        </p:spPr>
        <p:txBody>
          <a:bodyPr wrap="square" rtlCol="0" anchor="ctr"/>
          <a:lstStyle/>
          <a:p>
            <a:pPr indent="0" marL="0">
              <a:buNone/>
            </a:pPr>
            <a:endParaRPr lang="en-US" dirty="0"/>
          </a:p>
        </p:txBody>
      </p:sp>
      <p:sp>
        <p:nvSpPr>
          <p:cNvPr id="53" name="Text 48"/>
          <p:cNvSpPr/>
          <p:nvPr/>
        </p:nvSpPr>
        <p:spPr>
          <a:xfrm>
            <a:off x="6224193" y="2218335"/>
            <a:ext cx="186452" cy="186452"/>
          </a:xfrm>
          <a:prstGeom prst="rect">
            <a:avLst/>
          </a:prstGeom>
          <a:noFill/>
          <a:ln/>
        </p:spPr>
        <p:txBody>
          <a:bodyPr wrap="none" lIns="0" tIns="0" rIns="0" bIns="0" rtlCol="0" anchor="ctr"/>
          <a:lstStyle/>
          <a:p>
            <a:pPr algn="ctr" indent="0" marL="0">
              <a:buNone/>
            </a:pPr>
            <a:r>
              <a:rPr lang="en-US" sz="1266" dirty="0">
                <a:solidFill>
                  <a:srgbClr val="FDA4AF"/>
                </a:solidFill>
                <a:latin typeface="Segoe UI Symbol" pitchFamily="34" charset="0"/>
                <a:ea typeface="Segoe UI Symbol" pitchFamily="34" charset="-122"/>
                <a:cs typeface="Segoe UI Symbol" pitchFamily="34" charset="-120"/>
              </a:rPr>
              <a:t>➤</a:t>
            </a:r>
            <a:endParaRPr lang="en-US" sz="1266" dirty="0"/>
          </a:p>
        </p:txBody>
      </p:sp>
      <p:sp>
        <p:nvSpPr>
          <p:cNvPr id="54" name="Text 49"/>
          <p:cNvSpPr/>
          <p:nvPr/>
        </p:nvSpPr>
        <p:spPr>
          <a:xfrm>
            <a:off x="6517444" y="2197261"/>
            <a:ext cx="1823079" cy="123926"/>
          </a:xfrm>
          <a:prstGeom prst="rect">
            <a:avLst/>
          </a:prstGeom>
          <a:noFill/>
          <a:ln/>
        </p:spPr>
        <p:txBody>
          <a:bodyPr wrap="none" lIns="0" tIns="0" rIns="0" bIns="0" rtlCol="0" anchor="t">
            <a:normAutofit/>
          </a:bodyPr>
          <a:lstStyle/>
          <a:p>
            <a:pPr algn="l" indent="0" marL="0">
              <a:lnSpc>
                <a:spcPts val="1024"/>
              </a:lnSpc>
              <a:buNone/>
            </a:pPr>
            <a:r>
              <a:rPr lang="en-US" sz="800" dirty="0">
                <a:solidFill>
                  <a:srgbClr val="F0EAFF"/>
                </a:solidFill>
                <a:latin typeface="Carlito" pitchFamily="34" charset="0"/>
                <a:ea typeface="Carlito" pitchFamily="34" charset="-122"/>
                <a:cs typeface="Carlito" pitchFamily="34" charset="-120"/>
              </a:rPr>
              <a:t>Memoria visual</a:t>
            </a:r>
            <a:endParaRPr lang="en-US" sz="800" dirty="0"/>
          </a:p>
        </p:txBody>
      </p:sp>
      <p:sp>
        <p:nvSpPr>
          <p:cNvPr id="55" name="Text 50"/>
          <p:cNvSpPr/>
          <p:nvPr/>
        </p:nvSpPr>
        <p:spPr>
          <a:xfrm>
            <a:off x="6517444" y="2348619"/>
            <a:ext cx="1875167" cy="164592"/>
          </a:xfrm>
          <a:prstGeom prst="rect">
            <a:avLst/>
          </a:prstGeom>
          <a:noFill/>
          <a:ln/>
        </p:spPr>
        <p:txBody>
          <a:bodyPr wrap="square" lIns="0" tIns="0" rIns="0" bIns="0" rtlCol="0" anchor="t"/>
          <a:lstStyle/>
          <a:p>
            <a:pPr algn="l" indent="0" marL="0">
              <a:lnSpc>
                <a:spcPts val="1013"/>
              </a:lnSpc>
              <a:buNone/>
            </a:pPr>
            <a:r>
              <a:rPr lang="en-US" sz="675" dirty="0">
                <a:solidFill>
                  <a:srgbClr val="B8A8E0"/>
                </a:solidFill>
                <a:latin typeface="Carlito" pitchFamily="34" charset="0"/>
                <a:ea typeface="Carlito" pitchFamily="34" charset="-122"/>
                <a:cs typeface="Carlito" pitchFamily="34" charset="-120"/>
              </a:rPr>
              <a:t>Timeline de lo que Koru sabe de vos, editable</a:t>
            </a:r>
            <a:endParaRPr lang="en-US" sz="675" dirty="0"/>
          </a:p>
        </p:txBody>
      </p:sp>
      <p:sp>
        <p:nvSpPr>
          <p:cNvPr id="56" name="Text 51"/>
          <p:cNvSpPr/>
          <p:nvPr/>
        </p:nvSpPr>
        <p:spPr>
          <a:xfrm>
            <a:off x="457200" y="4435487"/>
            <a:ext cx="8229600" cy="164592"/>
          </a:xfrm>
          <a:prstGeom prst="rect">
            <a:avLst/>
          </a:prstGeom>
          <a:noFill/>
          <a:ln/>
        </p:spPr>
        <p:txBody>
          <a:bodyPr wrap="square" lIns="0" tIns="0" rIns="0" bIns="0" rtlCol="0" anchor="t"/>
          <a:lstStyle/>
          <a:p>
            <a:pPr algn="ctr" indent="0" marL="0">
              <a:lnSpc>
                <a:spcPts val="1013"/>
              </a:lnSpc>
              <a:buNone/>
            </a:pPr>
            <a:r>
              <a:rPr lang="en-US" sz="800" dirty="0">
                <a:solidFill>
                  <a:srgbClr val="7A6BA8"/>
                </a:solidFill>
                <a:latin typeface="Carlito" pitchFamily="34" charset="0"/>
                <a:ea typeface="Carlito" pitchFamily="34" charset="-122"/>
                <a:cs typeface="Carlito" pitchFamily="34" charset="-120"/>
              </a:rPr>
              <a:t>Total: 8 mejoras · 6 quick+medium (1 semana) · 2 large bets (2 semanas más)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02A"/>
        </a:solidFill>
      </p:bgPr>
    </p:bg>
    <p:spTree>
      <p:nvGrpSpPr>
        <p:cNvPr id="1" name=""/>
        <p:cNvGrpSpPr/>
        <p:nvPr/>
      </p:nvGrpSpPr>
      <p:grpSpPr>
        <a:xfrm>
          <a:off x="0" y="0"/>
          <a:ext cx="0" cy="0"/>
          <a:chOff x="0" y="0"/>
          <a:chExt cx="0" cy="0"/>
        </a:xfrm>
      </p:grpSpPr>
      <p:sp>
        <p:nvSpPr>
          <p:cNvPr id="2" name="Text 0"/>
          <p:cNvSpPr/>
          <p:nvPr/>
        </p:nvSpPr>
        <p:spPr>
          <a:xfrm>
            <a:off x="6000750" y="285750"/>
            <a:ext cx="4572000" cy="4572000"/>
          </a:xfrm>
          <a:prstGeom prst="ellipse">
            <a:avLst/>
          </a:prstGeom>
          <a:solidFill>
            <a:srgbClr val="8363F9">
              <a:alpha val="20000"/>
            </a:srgbClr>
          </a:solidFill>
          <a:ln/>
        </p:spPr>
        <p:txBody>
          <a:bodyPr wrap="square" rtlCol="0" anchor="ctr"/>
          <a:lstStyle/>
          <a:p>
            <a:pPr indent="0" marL="0">
              <a:buNone/>
            </a:pPr>
            <a:endParaRPr lang="en-US" dirty="0"/>
          </a:p>
        </p:txBody>
      </p:sp>
      <p:sp>
        <p:nvSpPr>
          <p:cNvPr id="3" name="Text 1"/>
          <p:cNvSpPr/>
          <p:nvPr/>
        </p:nvSpPr>
        <p:spPr>
          <a:xfrm>
            <a:off x="-571500" y="3714750"/>
            <a:ext cx="2286000" cy="2286000"/>
          </a:xfrm>
          <a:prstGeom prst="ellipse">
            <a:avLst/>
          </a:prstGeom>
          <a:solidFill>
            <a:srgbClr val="6EE7B7">
              <a:alpha val="10000"/>
            </a:srgbClr>
          </a:solidFill>
          <a:ln/>
        </p:spPr>
        <p:txBody>
          <a:bodyPr wrap="square" rtlCol="0" anchor="ctr"/>
          <a:lstStyle/>
          <a:p>
            <a:pPr indent="0" marL="0">
              <a:buNone/>
            </a:pPr>
            <a:endParaRPr lang="en-US" dirty="0"/>
          </a:p>
        </p:txBody>
      </p:sp>
      <p:sp>
        <p:nvSpPr>
          <p:cNvPr id="4" name="Text 2"/>
          <p:cNvSpPr/>
          <p:nvPr/>
        </p:nvSpPr>
        <p:spPr>
          <a:xfrm>
            <a:off x="4062115" y="1288442"/>
            <a:ext cx="1367107" cy="164592"/>
          </a:xfrm>
          <a:prstGeom prst="rect">
            <a:avLst/>
          </a:prstGeom>
          <a:noFill/>
          <a:ln/>
        </p:spPr>
        <p:txBody>
          <a:bodyPr wrap="none" lIns="0" tIns="0" rIns="0" bIns="0" rtlCol="0" anchor="t"/>
          <a:lstStyle/>
          <a:p>
            <a:pPr algn="l" indent="0" marL="0">
              <a:lnSpc>
                <a:spcPts val="1013"/>
              </a:lnSpc>
              <a:buNone/>
            </a:pPr>
            <a:r>
              <a:rPr lang="en-US" sz="800" b="1" spc="135" kern="0" dirty="0">
                <a:solidFill>
                  <a:srgbClr val="8363F9"/>
                </a:solidFill>
                <a:latin typeface="Carlito" pitchFamily="34" charset="0"/>
                <a:ea typeface="Carlito" pitchFamily="34" charset="-122"/>
                <a:cs typeface="Carlito" pitchFamily="34" charset="-120"/>
              </a:rPr>
              <a:t>PRÓXIMOS PASOS</a:t>
            </a:r>
            <a:endParaRPr lang="en-US" sz="800" dirty="0"/>
          </a:p>
        </p:txBody>
      </p:sp>
      <p:sp>
        <p:nvSpPr>
          <p:cNvPr id="5" name="Text 3"/>
          <p:cNvSpPr/>
          <p:nvPr/>
        </p:nvSpPr>
        <p:spPr>
          <a:xfrm>
            <a:off x="274320" y="1559905"/>
            <a:ext cx="8595248" cy="390343"/>
          </a:xfrm>
          <a:prstGeom prst="rect">
            <a:avLst/>
          </a:prstGeom>
          <a:noFill/>
          <a:ln/>
        </p:spPr>
        <p:txBody>
          <a:bodyPr wrap="square" lIns="0" tIns="0" rIns="0" bIns="0" rtlCol="0" anchor="t"/>
          <a:lstStyle/>
          <a:p>
            <a:pPr algn="ctr" indent="0" marL="0">
              <a:lnSpc>
                <a:spcPts val="2846"/>
              </a:lnSpc>
              <a:buNone/>
            </a:pPr>
            <a:r>
              <a:rPr lang="en-US" sz="2475" b="1" spc="-25" kern="0" dirty="0">
                <a:solidFill>
                  <a:srgbClr val="F0EAFF"/>
                </a:solidFill>
                <a:latin typeface="Carlito" pitchFamily="34" charset="0"/>
                <a:ea typeface="Carlito" pitchFamily="34" charset="-122"/>
                <a:cs typeface="Carlito" pitchFamily="34" charset="-120"/>
              </a:rPr>
              <a:t>Empecemos por los quick wins</a:t>
            </a:r>
            <a:endParaRPr lang="en-US" sz="2475" dirty="0"/>
          </a:p>
        </p:txBody>
      </p:sp>
      <p:sp>
        <p:nvSpPr>
          <p:cNvPr id="6" name="Text 4"/>
          <p:cNvSpPr/>
          <p:nvPr/>
        </p:nvSpPr>
        <p:spPr>
          <a:xfrm>
            <a:off x="2428875" y="2035634"/>
            <a:ext cx="4286250" cy="416624"/>
          </a:xfrm>
          <a:prstGeom prst="rect">
            <a:avLst/>
          </a:prstGeom>
          <a:noFill/>
          <a:ln/>
        </p:spPr>
        <p:txBody>
          <a:bodyPr wrap="square" lIns="0" tIns="0" rIns="0" bIns="0" rtlCol="0" anchor="t"/>
          <a:lstStyle/>
          <a:p>
            <a:pPr algn="ctr" indent="0" marL="0">
              <a:lnSpc>
                <a:spcPts val="1519"/>
              </a:lnSpc>
              <a:buNone/>
            </a:pPr>
            <a:r>
              <a:rPr lang="en-US" sz="1013" dirty="0">
                <a:solidFill>
                  <a:srgbClr val="B8A8E0"/>
                </a:solidFill>
                <a:latin typeface="Carlito" pitchFamily="34" charset="0"/>
                <a:ea typeface="Carlito" pitchFamily="34" charset="-122"/>
                <a:cs typeface="Carlito" pitchFamily="34" charset="-120"/>
              </a:rPr>
              <a:t>Bottom nav + unificar CTA + indicador de historial. 3 días para un Koru que no atrapa al usuario.</a:t>
            </a:r>
            <a:endParaRPr lang="en-US" sz="1013" dirty="0"/>
          </a:p>
        </p:txBody>
      </p:sp>
      <p:sp>
        <p:nvSpPr>
          <p:cNvPr id="7" name="Text 5"/>
          <p:cNvSpPr/>
          <p:nvPr/>
        </p:nvSpPr>
        <p:spPr>
          <a:xfrm>
            <a:off x="2075259" y="2710718"/>
            <a:ext cx="1564481" cy="1140768"/>
          </a:xfrm>
          <a:prstGeom prst="roundRect">
            <a:avLst>
              <a:gd name="adj" fmla="val 13359"/>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8" name="Text 6"/>
          <p:cNvSpPr/>
          <p:nvPr/>
        </p:nvSpPr>
        <p:spPr>
          <a:xfrm>
            <a:off x="2671763" y="2885740"/>
            <a:ext cx="371475" cy="371475"/>
          </a:xfrm>
          <a:prstGeom prst="ellipse">
            <a:avLst/>
          </a:prstGeom>
          <a:solidFill>
            <a:srgbClr val="6EE7B7">
              <a:alpha val="15000"/>
            </a:srgbClr>
          </a:solidFill>
          <a:ln/>
        </p:spPr>
        <p:txBody>
          <a:bodyPr wrap="square" rtlCol="0" anchor="ctr"/>
          <a:lstStyle/>
          <a:p>
            <a:pPr indent="0" marL="0">
              <a:buNone/>
            </a:pPr>
            <a:endParaRPr lang="en-US" dirty="0"/>
          </a:p>
        </p:txBody>
      </p:sp>
      <p:sp>
        <p:nvSpPr>
          <p:cNvPr id="9" name="Text 7"/>
          <p:cNvSpPr/>
          <p:nvPr/>
        </p:nvSpPr>
        <p:spPr>
          <a:xfrm>
            <a:off x="2712482" y="2926460"/>
            <a:ext cx="290036" cy="290036"/>
          </a:xfrm>
          <a:prstGeom prst="rect">
            <a:avLst/>
          </a:prstGeom>
          <a:noFill/>
          <a:ln/>
        </p:spPr>
        <p:txBody>
          <a:bodyPr wrap="none" lIns="0" tIns="0" rIns="0" bIns="0" rtlCol="0" anchor="ctr"/>
          <a:lstStyle/>
          <a:p>
            <a:pPr algn="ctr" indent="0" marL="0">
              <a:buNone/>
            </a:pPr>
            <a:r>
              <a:rPr lang="en-US" sz="1969" dirty="0">
                <a:solidFill>
                  <a:srgbClr val="6EE7B7"/>
                </a:solidFill>
                <a:latin typeface="Segoe UI Symbol" pitchFamily="34" charset="0"/>
                <a:ea typeface="Segoe UI Symbol" pitchFamily="34" charset="-122"/>
                <a:cs typeface="Segoe UI Symbol" pitchFamily="34" charset="-120"/>
              </a:rPr>
              <a:t>➤</a:t>
            </a:r>
            <a:endParaRPr lang="en-US" sz="1969" dirty="0"/>
          </a:p>
        </p:txBody>
      </p:sp>
      <p:sp>
        <p:nvSpPr>
          <p:cNvPr id="10" name="Text 8"/>
          <p:cNvSpPr/>
          <p:nvPr/>
        </p:nvSpPr>
        <p:spPr>
          <a:xfrm>
            <a:off x="2673906" y="3357228"/>
            <a:ext cx="367189" cy="161877"/>
          </a:xfrm>
          <a:prstGeom prst="rect">
            <a:avLst/>
          </a:prstGeom>
          <a:noFill/>
          <a:ln/>
        </p:spPr>
        <p:txBody>
          <a:bodyPr wrap="none" lIns="0" tIns="0" rIns="0" bIns="0" rtlCol="0" anchor="t">
            <a:normAutofit/>
          </a:bodyPr>
          <a:lstStyle/>
          <a:p>
            <a:pPr algn="ctr" indent="0" marL="0">
              <a:lnSpc>
                <a:spcPts val="928"/>
              </a:lnSpc>
              <a:buNone/>
            </a:pPr>
            <a:r>
              <a:rPr lang="en-US" sz="800" spc="50" kern="0" dirty="0">
                <a:solidFill>
                  <a:srgbClr val="7A6BA8"/>
                </a:solidFill>
                <a:latin typeface="Liberation Sans Narrow" pitchFamily="34" charset="0"/>
                <a:ea typeface="Liberation Sans Narrow" pitchFamily="34" charset="-122"/>
                <a:cs typeface="Liberation Sans Narrow" pitchFamily="34" charset="-120"/>
              </a:rPr>
              <a:t>DÍA 1</a:t>
            </a:r>
            <a:endParaRPr lang="en-US" sz="800" dirty="0"/>
          </a:p>
        </p:txBody>
      </p:sp>
      <p:sp>
        <p:nvSpPr>
          <p:cNvPr id="11" name="Text 9"/>
          <p:cNvSpPr/>
          <p:nvPr/>
        </p:nvSpPr>
        <p:spPr>
          <a:xfrm>
            <a:off x="2313682" y="3546537"/>
            <a:ext cx="1087637" cy="129927"/>
          </a:xfrm>
          <a:prstGeom prst="rect">
            <a:avLst/>
          </a:prstGeom>
          <a:noFill/>
          <a:ln/>
        </p:spPr>
        <p:txBody>
          <a:bodyPr wrap="none" lIns="0" tIns="0" rIns="0" bIns="0" rtlCol="0" anchor="t"/>
          <a:lstStyle/>
          <a:p>
            <a:pPr algn="ctr" indent="0" marL="0">
              <a:lnSpc>
                <a:spcPts val="1024"/>
              </a:lnSpc>
              <a:buNone/>
            </a:pPr>
            <a:r>
              <a:rPr lang="en-US" sz="800" dirty="0">
                <a:solidFill>
                  <a:srgbClr val="F0EAFF"/>
                </a:solidFill>
                <a:latin typeface="Carlito" pitchFamily="34" charset="0"/>
                <a:ea typeface="Carlito" pitchFamily="34" charset="-122"/>
                <a:cs typeface="Carlito" pitchFamily="34" charset="-120"/>
              </a:rPr>
              <a:t>Bottom nav en chat</a:t>
            </a:r>
            <a:endParaRPr lang="en-US" sz="800" dirty="0"/>
          </a:p>
        </p:txBody>
      </p:sp>
      <p:sp>
        <p:nvSpPr>
          <p:cNvPr id="12" name="Text 10"/>
          <p:cNvSpPr/>
          <p:nvPr/>
        </p:nvSpPr>
        <p:spPr>
          <a:xfrm>
            <a:off x="3789759" y="2710718"/>
            <a:ext cx="1564481" cy="1140768"/>
          </a:xfrm>
          <a:prstGeom prst="roundRect">
            <a:avLst>
              <a:gd name="adj" fmla="val 13359"/>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13" name="Text 11"/>
          <p:cNvSpPr/>
          <p:nvPr/>
        </p:nvSpPr>
        <p:spPr>
          <a:xfrm>
            <a:off x="4386263" y="2885740"/>
            <a:ext cx="371475" cy="371475"/>
          </a:xfrm>
          <a:prstGeom prst="ellipse">
            <a:avLst/>
          </a:prstGeom>
          <a:solidFill>
            <a:srgbClr val="6EE7B7">
              <a:alpha val="15000"/>
            </a:srgbClr>
          </a:solidFill>
          <a:ln/>
        </p:spPr>
        <p:txBody>
          <a:bodyPr wrap="square" rtlCol="0" anchor="ctr"/>
          <a:lstStyle/>
          <a:p>
            <a:pPr indent="0" marL="0">
              <a:buNone/>
            </a:pPr>
            <a:endParaRPr lang="en-US" dirty="0"/>
          </a:p>
        </p:txBody>
      </p:sp>
      <p:sp>
        <p:nvSpPr>
          <p:cNvPr id="14" name="Text 12"/>
          <p:cNvSpPr/>
          <p:nvPr/>
        </p:nvSpPr>
        <p:spPr>
          <a:xfrm>
            <a:off x="4426982" y="2926460"/>
            <a:ext cx="290036" cy="290036"/>
          </a:xfrm>
          <a:prstGeom prst="rect">
            <a:avLst/>
          </a:prstGeom>
          <a:noFill/>
          <a:ln/>
        </p:spPr>
        <p:txBody>
          <a:bodyPr wrap="none" lIns="0" tIns="0" rIns="0" bIns="0" rtlCol="0" anchor="ctr"/>
          <a:lstStyle/>
          <a:p>
            <a:pPr algn="ctr" indent="0" marL="0">
              <a:buNone/>
            </a:pPr>
            <a:r>
              <a:rPr lang="en-US" sz="1969" dirty="0">
                <a:solidFill>
                  <a:srgbClr val="6EE7B7"/>
                </a:solidFill>
                <a:latin typeface="Segoe UI Symbol" pitchFamily="34" charset="0"/>
                <a:ea typeface="Segoe UI Symbol" pitchFamily="34" charset="-122"/>
                <a:cs typeface="Segoe UI Symbol" pitchFamily="34" charset="-120"/>
              </a:rPr>
              <a:t>⌂</a:t>
            </a:r>
            <a:endParaRPr lang="en-US" sz="1969" dirty="0"/>
          </a:p>
        </p:txBody>
      </p:sp>
      <p:sp>
        <p:nvSpPr>
          <p:cNvPr id="15" name="Text 13"/>
          <p:cNvSpPr/>
          <p:nvPr/>
        </p:nvSpPr>
        <p:spPr>
          <a:xfrm>
            <a:off x="4388406" y="3357228"/>
            <a:ext cx="367189" cy="161877"/>
          </a:xfrm>
          <a:prstGeom prst="rect">
            <a:avLst/>
          </a:prstGeom>
          <a:noFill/>
          <a:ln/>
        </p:spPr>
        <p:txBody>
          <a:bodyPr wrap="none" lIns="0" tIns="0" rIns="0" bIns="0" rtlCol="0" anchor="t">
            <a:normAutofit/>
          </a:bodyPr>
          <a:lstStyle/>
          <a:p>
            <a:pPr algn="ctr" indent="0" marL="0">
              <a:lnSpc>
                <a:spcPts val="928"/>
              </a:lnSpc>
              <a:buNone/>
            </a:pPr>
            <a:r>
              <a:rPr lang="en-US" sz="800" spc="50" kern="0" dirty="0">
                <a:solidFill>
                  <a:srgbClr val="7A6BA8"/>
                </a:solidFill>
                <a:latin typeface="Liberation Sans Narrow" pitchFamily="34" charset="0"/>
                <a:ea typeface="Liberation Sans Narrow" pitchFamily="34" charset="-122"/>
                <a:cs typeface="Liberation Sans Narrow" pitchFamily="34" charset="-120"/>
              </a:rPr>
              <a:t>DÍA 2</a:t>
            </a:r>
            <a:endParaRPr lang="en-US" sz="800" dirty="0"/>
          </a:p>
        </p:txBody>
      </p:sp>
      <p:sp>
        <p:nvSpPr>
          <p:cNvPr id="16" name="Text 14"/>
          <p:cNvSpPr/>
          <p:nvPr/>
        </p:nvSpPr>
        <p:spPr>
          <a:xfrm>
            <a:off x="4050944" y="3546537"/>
            <a:ext cx="1042111" cy="129927"/>
          </a:xfrm>
          <a:prstGeom prst="rect">
            <a:avLst/>
          </a:prstGeom>
          <a:noFill/>
          <a:ln/>
        </p:spPr>
        <p:txBody>
          <a:bodyPr wrap="none" lIns="0" tIns="0" rIns="0" bIns="0" rtlCol="0" anchor="t"/>
          <a:lstStyle/>
          <a:p>
            <a:pPr algn="ctr" indent="0" marL="0">
              <a:lnSpc>
                <a:spcPts val="1024"/>
              </a:lnSpc>
              <a:buNone/>
            </a:pPr>
            <a:r>
              <a:rPr lang="en-US" sz="800" dirty="0">
                <a:solidFill>
                  <a:srgbClr val="F0EAFF"/>
                </a:solidFill>
                <a:latin typeface="Carlito" pitchFamily="34" charset="0"/>
                <a:ea typeface="Carlito" pitchFamily="34" charset="-122"/>
                <a:cs typeface="Carlito" pitchFamily="34" charset="-120"/>
              </a:rPr>
              <a:t>Unificar CTA home</a:t>
            </a:r>
            <a:endParaRPr lang="en-US" sz="800" dirty="0"/>
          </a:p>
        </p:txBody>
      </p:sp>
      <p:sp>
        <p:nvSpPr>
          <p:cNvPr id="17" name="Text 15"/>
          <p:cNvSpPr/>
          <p:nvPr/>
        </p:nvSpPr>
        <p:spPr>
          <a:xfrm>
            <a:off x="5504259" y="2710718"/>
            <a:ext cx="1564481" cy="1140768"/>
          </a:xfrm>
          <a:prstGeom prst="roundRect">
            <a:avLst>
              <a:gd name="adj" fmla="val 13359"/>
            </a:avLst>
          </a:prstGeom>
          <a:solidFill>
            <a:srgbClr val="221C4A"/>
          </a:solidFill>
          <a:ln w="7144">
            <a:solidFill>
              <a:srgbClr val="8363F9"/>
            </a:solidFill>
            <a:prstDash val="solid"/>
          </a:ln>
        </p:spPr>
        <p:txBody>
          <a:bodyPr wrap="square" rtlCol="0" anchor="ctr"/>
          <a:lstStyle/>
          <a:p>
            <a:pPr indent="0" marL="0">
              <a:buNone/>
            </a:pPr>
            <a:endParaRPr lang="en-US" dirty="0"/>
          </a:p>
        </p:txBody>
      </p:sp>
      <p:sp>
        <p:nvSpPr>
          <p:cNvPr id="18" name="Text 16"/>
          <p:cNvSpPr/>
          <p:nvPr/>
        </p:nvSpPr>
        <p:spPr>
          <a:xfrm>
            <a:off x="6100763" y="2885740"/>
            <a:ext cx="371475" cy="371475"/>
          </a:xfrm>
          <a:prstGeom prst="ellipse">
            <a:avLst/>
          </a:prstGeom>
          <a:solidFill>
            <a:srgbClr val="6EE7B7">
              <a:alpha val="15000"/>
            </a:srgbClr>
          </a:solidFill>
          <a:ln/>
        </p:spPr>
        <p:txBody>
          <a:bodyPr wrap="square" rtlCol="0" anchor="ctr"/>
          <a:lstStyle/>
          <a:p>
            <a:pPr indent="0" marL="0">
              <a:buNone/>
            </a:pPr>
            <a:endParaRPr lang="en-US" dirty="0"/>
          </a:p>
        </p:txBody>
      </p:sp>
      <p:sp>
        <p:nvSpPr>
          <p:cNvPr id="19" name="Text 17"/>
          <p:cNvSpPr/>
          <p:nvPr/>
        </p:nvSpPr>
        <p:spPr>
          <a:xfrm>
            <a:off x="6141482" y="2926460"/>
            <a:ext cx="290036" cy="290036"/>
          </a:xfrm>
          <a:prstGeom prst="rect">
            <a:avLst/>
          </a:prstGeom>
          <a:noFill/>
          <a:ln/>
        </p:spPr>
        <p:txBody>
          <a:bodyPr wrap="none" lIns="0" tIns="0" rIns="0" bIns="0" rtlCol="0" anchor="ctr"/>
          <a:lstStyle/>
          <a:p>
            <a:pPr algn="ctr" indent="0" marL="0">
              <a:buNone/>
            </a:pPr>
            <a:r>
              <a:rPr lang="en-US" sz="1969" dirty="0">
                <a:solidFill>
                  <a:srgbClr val="6EE7B7"/>
                </a:solidFill>
                <a:latin typeface="Segoe UI Symbol" pitchFamily="34" charset="0"/>
                <a:ea typeface="Segoe UI Symbol" pitchFamily="34" charset="-122"/>
                <a:cs typeface="Segoe UI Symbol" pitchFamily="34" charset="-120"/>
              </a:rPr>
              <a:t>✦</a:t>
            </a:r>
            <a:endParaRPr lang="en-US" sz="1969" dirty="0"/>
          </a:p>
        </p:txBody>
      </p:sp>
      <p:sp>
        <p:nvSpPr>
          <p:cNvPr id="20" name="Text 18"/>
          <p:cNvSpPr/>
          <p:nvPr/>
        </p:nvSpPr>
        <p:spPr>
          <a:xfrm>
            <a:off x="6102906" y="3357228"/>
            <a:ext cx="367189" cy="161877"/>
          </a:xfrm>
          <a:prstGeom prst="rect">
            <a:avLst/>
          </a:prstGeom>
          <a:noFill/>
          <a:ln/>
        </p:spPr>
        <p:txBody>
          <a:bodyPr wrap="none" lIns="0" tIns="0" rIns="0" bIns="0" rtlCol="0" anchor="t">
            <a:normAutofit/>
          </a:bodyPr>
          <a:lstStyle/>
          <a:p>
            <a:pPr algn="ctr" indent="0" marL="0">
              <a:lnSpc>
                <a:spcPts val="928"/>
              </a:lnSpc>
              <a:buNone/>
            </a:pPr>
            <a:r>
              <a:rPr lang="en-US" sz="800" spc="50" kern="0" dirty="0">
                <a:solidFill>
                  <a:srgbClr val="7A6BA8"/>
                </a:solidFill>
                <a:latin typeface="Liberation Sans Narrow" pitchFamily="34" charset="0"/>
                <a:ea typeface="Liberation Sans Narrow" pitchFamily="34" charset="-122"/>
                <a:cs typeface="Liberation Sans Narrow" pitchFamily="34" charset="-120"/>
              </a:rPr>
              <a:t>DÍA 3</a:t>
            </a:r>
            <a:endParaRPr lang="en-US" sz="800" dirty="0"/>
          </a:p>
        </p:txBody>
      </p:sp>
      <p:sp>
        <p:nvSpPr>
          <p:cNvPr id="21" name="Text 19"/>
          <p:cNvSpPr/>
          <p:nvPr/>
        </p:nvSpPr>
        <p:spPr>
          <a:xfrm>
            <a:off x="5778405" y="3546537"/>
            <a:ext cx="1016078" cy="129927"/>
          </a:xfrm>
          <a:prstGeom prst="rect">
            <a:avLst/>
          </a:prstGeom>
          <a:noFill/>
          <a:ln/>
        </p:spPr>
        <p:txBody>
          <a:bodyPr wrap="none" lIns="0" tIns="0" rIns="0" bIns="0" rtlCol="0" anchor="t"/>
          <a:lstStyle/>
          <a:p>
            <a:pPr algn="ctr" indent="0" marL="0">
              <a:lnSpc>
                <a:spcPts val="1024"/>
              </a:lnSpc>
              <a:buNone/>
            </a:pPr>
            <a:r>
              <a:rPr lang="en-US" sz="788" dirty="0">
                <a:solidFill>
                  <a:srgbClr val="F0EAFF"/>
                </a:solidFill>
                <a:latin typeface="Carlito" pitchFamily="34" charset="0"/>
                <a:ea typeface="Carlito" pitchFamily="34" charset="-122"/>
                <a:cs typeface="Carlito" pitchFamily="34" charset="-120"/>
              </a:rPr>
              <a:t>Indicador historial</a:t>
            </a:r>
            <a:endParaRPr lang="en-US" sz="788" dirty="0"/>
          </a:p>
        </p:txBody>
      </p:sp>
      <p:sp>
        <p:nvSpPr>
          <p:cNvPr id="22" name="Text 20"/>
          <p:cNvSpPr/>
          <p:nvPr/>
        </p:nvSpPr>
        <p:spPr>
          <a:xfrm>
            <a:off x="8686800" y="4729163"/>
            <a:ext cx="200025" cy="200025"/>
          </a:xfrm>
          <a:prstGeom prst="rect">
            <a:avLst/>
          </a:prstGeom>
          <a:noFill/>
          <a:ln/>
        </p:spPr>
        <p:txBody>
          <a:bodyPr wrap="none" lIns="0" tIns="0" rIns="0" bIns="0" rtlCol="0" anchor="ctr"/>
          <a:lstStyle/>
          <a:p>
            <a:pPr algn="ctr" indent="0" marL="0">
              <a:buNone/>
            </a:pPr>
            <a:r>
              <a:rPr lang="en-US" sz="1969" dirty="0">
                <a:solidFill>
                  <a:srgbClr val="6EE7B7"/>
                </a:solidFill>
                <a:latin typeface="Segoe UI Symbol" pitchFamily="34" charset="0"/>
                <a:ea typeface="Segoe UI Symbol" pitchFamily="34" charset="-122"/>
                <a:cs typeface="Segoe UI Symbol" pitchFamily="34" charset="-120"/>
              </a:rPr>
              <a:t>✿</a:t>
            </a:r>
            <a:endParaRPr lang="en-US" sz="1969"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2026-07-12T03:06:13Z</dcterms:created>
  <dcterms:modified xsi:type="dcterms:W3CDTF">2026-07-12T03:06:13Z</dcterms:modified>
</cp:coreProperties>
</file>